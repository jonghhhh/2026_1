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4" r:id="rId17"/>
    <p:sldId id="270" r:id="rId18"/>
    <p:sldId id="271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193" autoAdjust="0"/>
  </p:normalViewPr>
  <p:slideViewPr>
    <p:cSldViewPr snapToGrid="0" snapToObjects="1">
      <p:cViewPr varScale="1">
        <p:scale>
          <a:sx n="142" d="100"/>
          <a:sy n="142" d="100"/>
        </p:scale>
        <p:origin x="12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442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1943 — McCulloch &amp; Pitts </a:t>
            </a:r>
            <a:r>
              <a:rPr lang="ko-KR" altLang="en-US" b="1" dirty="0"/>
              <a:t>인공 뉴런</a:t>
            </a:r>
            <a:endParaRPr lang="ko-KR" altLang="en-US" dirty="0"/>
          </a:p>
          <a:p>
            <a:r>
              <a:rPr lang="ko-KR" altLang="en-US" dirty="0"/>
              <a:t>수학자 </a:t>
            </a:r>
            <a:r>
              <a:rPr lang="en-US" altLang="ko-KR" dirty="0"/>
              <a:t>McCulloch</a:t>
            </a:r>
            <a:r>
              <a:rPr lang="ko-KR" altLang="en-US" dirty="0"/>
              <a:t>과 논리학자 </a:t>
            </a:r>
            <a:r>
              <a:rPr lang="en-US" altLang="ko-KR" dirty="0"/>
              <a:t>Pitts</a:t>
            </a:r>
            <a:r>
              <a:rPr lang="ko-KR" altLang="en-US" dirty="0"/>
              <a:t>가 뉴런의 작동 방식을 수학적으로 모델링했습니다</a:t>
            </a:r>
            <a:r>
              <a:rPr lang="en-US" altLang="ko-KR" dirty="0"/>
              <a:t>. </a:t>
            </a:r>
            <a:r>
              <a:rPr lang="ko-KR" altLang="en-US" dirty="0"/>
              <a:t>입력 신호에 가중치를 곱하고 합산한 뒤</a:t>
            </a:r>
            <a:r>
              <a:rPr lang="en-US" altLang="ko-KR" dirty="0"/>
              <a:t>, </a:t>
            </a:r>
            <a:r>
              <a:rPr lang="ko-KR" altLang="en-US" dirty="0"/>
              <a:t>임계치를 넘으면 </a:t>
            </a:r>
            <a:r>
              <a:rPr lang="en-US" altLang="ko-KR" dirty="0"/>
              <a:t>1</a:t>
            </a:r>
            <a:r>
              <a:rPr lang="ko-KR" altLang="en-US" dirty="0"/>
              <a:t>을 출력하고 아니면 </a:t>
            </a:r>
            <a:r>
              <a:rPr lang="en-US" altLang="ko-KR" dirty="0"/>
              <a:t>0</a:t>
            </a:r>
            <a:r>
              <a:rPr lang="ko-KR" altLang="en-US" dirty="0"/>
              <a:t>을 출력하는 구조입니다</a:t>
            </a:r>
            <a:r>
              <a:rPr lang="en-US" altLang="ko-KR" dirty="0"/>
              <a:t>. </a:t>
            </a:r>
            <a:r>
              <a:rPr lang="ko-KR" altLang="en-US" dirty="0"/>
              <a:t>실제로 학습 기능은 없었지만</a:t>
            </a:r>
            <a:r>
              <a:rPr lang="en-US" altLang="ko-KR" dirty="0"/>
              <a:t>, "</a:t>
            </a:r>
            <a:r>
              <a:rPr lang="ko-KR" altLang="en-US" dirty="0"/>
              <a:t>뇌의 기능을 수학으로 표현할 수 있다</a:t>
            </a:r>
            <a:r>
              <a:rPr lang="en-US" altLang="ko-KR" dirty="0"/>
              <a:t>"</a:t>
            </a:r>
            <a:r>
              <a:rPr lang="ko-KR" altLang="en-US" dirty="0"/>
              <a:t>는 것을 보여준 최초의 시도였습니다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1957 — Rosenblatt </a:t>
            </a:r>
            <a:r>
              <a:rPr lang="ko-KR" altLang="en-US" b="1" dirty="0" err="1"/>
              <a:t>퍼셉트론</a:t>
            </a:r>
            <a:endParaRPr lang="ko-KR" altLang="en-US" dirty="0"/>
          </a:p>
          <a:p>
            <a:r>
              <a:rPr lang="en-US" altLang="ko-KR" dirty="0"/>
              <a:t>Frank Rosenblatt</a:t>
            </a:r>
            <a:r>
              <a:rPr lang="ko-KR" altLang="en-US" dirty="0"/>
              <a:t>가 </a:t>
            </a:r>
            <a:r>
              <a:rPr lang="en-US" altLang="ko-KR" dirty="0"/>
              <a:t>McCulloch-Pitts </a:t>
            </a:r>
            <a:r>
              <a:rPr lang="ko-KR" altLang="en-US" dirty="0"/>
              <a:t>모델에 학습 기능을 추가했습니다</a:t>
            </a:r>
            <a:r>
              <a:rPr lang="en-US" altLang="ko-KR" dirty="0"/>
              <a:t>. </a:t>
            </a:r>
            <a:r>
              <a:rPr lang="ko-KR" altLang="en-US" dirty="0"/>
              <a:t>입력과 정답을 주면 가중치를 자동으로 조정하여 </a:t>
            </a:r>
            <a:r>
              <a:rPr lang="en-US" altLang="ko-KR" dirty="0"/>
              <a:t>AND, OR </a:t>
            </a:r>
            <a:r>
              <a:rPr lang="ko-KR" altLang="en-US" dirty="0"/>
              <a:t>같은 논리 연산을 학습할 수 있었습니다</a:t>
            </a:r>
            <a:r>
              <a:rPr lang="en-US" altLang="ko-KR" dirty="0"/>
              <a:t>. "</a:t>
            </a:r>
            <a:r>
              <a:rPr lang="ko-KR" altLang="en-US" dirty="0"/>
              <a:t>기계가 스스로 배울 수 있다</a:t>
            </a:r>
            <a:r>
              <a:rPr lang="en-US" altLang="ko-KR" dirty="0"/>
              <a:t>"</a:t>
            </a:r>
            <a:r>
              <a:rPr lang="ko-KR" altLang="en-US" dirty="0"/>
              <a:t>는 것을 처음 보여준 모델입니다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1969 — Minsky XOR </a:t>
            </a:r>
            <a:r>
              <a:rPr lang="ko-KR" altLang="en-US" b="1" dirty="0"/>
              <a:t>문제 지적</a:t>
            </a:r>
            <a:endParaRPr lang="ko-KR" altLang="en-US" dirty="0"/>
          </a:p>
          <a:p>
            <a:r>
              <a:rPr lang="en-US" altLang="ko-KR" dirty="0"/>
              <a:t>MIT</a:t>
            </a:r>
            <a:r>
              <a:rPr lang="ko-KR" altLang="en-US" dirty="0"/>
              <a:t>의 </a:t>
            </a:r>
            <a:r>
              <a:rPr lang="en-US" altLang="ko-KR" dirty="0"/>
              <a:t>Minsky</a:t>
            </a:r>
            <a:r>
              <a:rPr lang="ko-KR" altLang="en-US" dirty="0"/>
              <a:t>와 </a:t>
            </a:r>
            <a:r>
              <a:rPr lang="en-US" altLang="ko-KR" dirty="0" err="1"/>
              <a:t>Papert</a:t>
            </a:r>
            <a:r>
              <a:rPr lang="ko-KR" altLang="en-US" dirty="0"/>
              <a:t>가 </a:t>
            </a:r>
            <a:r>
              <a:rPr lang="ko-KR" altLang="en-US" dirty="0" err="1"/>
              <a:t>퍼셉트론의</a:t>
            </a:r>
            <a:r>
              <a:rPr lang="ko-KR" altLang="en-US" dirty="0"/>
              <a:t> 한계를 수학적으로 증명했습니다</a:t>
            </a:r>
            <a:r>
              <a:rPr lang="en-US" altLang="ko-KR" dirty="0"/>
              <a:t>. </a:t>
            </a:r>
            <a:r>
              <a:rPr lang="ko-KR" altLang="en-US" dirty="0"/>
              <a:t>단층 </a:t>
            </a:r>
            <a:r>
              <a:rPr lang="ko-KR" altLang="en-US" dirty="0" err="1"/>
              <a:t>퍼셉트론은</a:t>
            </a:r>
            <a:r>
              <a:rPr lang="ko-KR" altLang="en-US" dirty="0"/>
              <a:t> 직선 하나로 분류하는 것만 가능한데</a:t>
            </a:r>
            <a:r>
              <a:rPr lang="en-US" altLang="ko-KR" dirty="0"/>
              <a:t>, XOR</a:t>
            </a:r>
            <a:r>
              <a:rPr lang="ko-KR" altLang="en-US" dirty="0"/>
              <a:t>처럼 직선 하나로 구분할 수 없는 문제는 풀 수 없다는 것입니다</a:t>
            </a:r>
            <a:r>
              <a:rPr lang="en-US" altLang="ko-KR" dirty="0"/>
              <a:t>. </a:t>
            </a:r>
            <a:r>
              <a:rPr lang="ko-KR" altLang="en-US" dirty="0"/>
              <a:t>이 논문의 영향으로 신경망 연구에 대한 투자가 중단되고 약 </a:t>
            </a:r>
            <a:r>
              <a:rPr lang="en-US" altLang="ko-KR" dirty="0"/>
              <a:t>15</a:t>
            </a:r>
            <a:r>
              <a:rPr lang="ko-KR" altLang="en-US" dirty="0"/>
              <a:t>년간 </a:t>
            </a:r>
            <a:r>
              <a:rPr lang="en-US" altLang="ko-KR" dirty="0"/>
              <a:t>AI </a:t>
            </a:r>
            <a:r>
              <a:rPr lang="ko-KR" altLang="en-US" dirty="0"/>
              <a:t>겨울이 시작되었습니다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1986 — Hinton </a:t>
            </a:r>
            <a:r>
              <a:rPr lang="ko-KR" altLang="en-US" b="1" dirty="0" err="1"/>
              <a:t>역전파</a:t>
            </a:r>
            <a:r>
              <a:rPr lang="ko-KR" altLang="en-US" b="1" dirty="0"/>
              <a:t> 알고리즘</a:t>
            </a:r>
            <a:endParaRPr lang="ko-KR" altLang="en-US" dirty="0"/>
          </a:p>
          <a:p>
            <a:r>
              <a:rPr lang="en-US" altLang="ko-KR" dirty="0"/>
              <a:t>Geoffrey Hinton</a:t>
            </a:r>
            <a:r>
              <a:rPr lang="ko-KR" altLang="en-US" dirty="0"/>
              <a:t>이 </a:t>
            </a:r>
            <a:r>
              <a:rPr lang="en-US" altLang="ko-KR" dirty="0" err="1"/>
              <a:t>Rumelhart</a:t>
            </a:r>
            <a:r>
              <a:rPr lang="en-US" altLang="ko-KR" dirty="0"/>
              <a:t>, Williams</a:t>
            </a:r>
            <a:r>
              <a:rPr lang="ko-KR" altLang="en-US" dirty="0"/>
              <a:t>와 함께 </a:t>
            </a:r>
            <a:r>
              <a:rPr lang="ko-KR" altLang="en-US" dirty="0" err="1"/>
              <a:t>역전파</a:t>
            </a:r>
            <a:r>
              <a:rPr lang="en-US" altLang="ko-KR" dirty="0"/>
              <a:t>(Backpropagation) </a:t>
            </a:r>
            <a:r>
              <a:rPr lang="ko-KR" altLang="en-US" dirty="0"/>
              <a:t>알고리즘을 체계화했습니다</a:t>
            </a:r>
            <a:r>
              <a:rPr lang="en-US" altLang="ko-KR" dirty="0"/>
              <a:t>. </a:t>
            </a:r>
            <a:r>
              <a:rPr lang="ko-KR" altLang="en-US" dirty="0"/>
              <a:t>출력의 오차를 거꾸로 전파하며 각 층의 가중치를 조정하는 방법입니다</a:t>
            </a:r>
            <a:r>
              <a:rPr lang="en-US" altLang="ko-KR" dirty="0"/>
              <a:t>. </a:t>
            </a:r>
            <a:r>
              <a:rPr lang="ko-KR" altLang="en-US" dirty="0"/>
              <a:t>이를 통해 은닉층이 있는 다층 신경망</a:t>
            </a:r>
            <a:r>
              <a:rPr lang="en-US" altLang="ko-KR" dirty="0"/>
              <a:t>(MLP)</a:t>
            </a:r>
            <a:r>
              <a:rPr lang="ko-KR" altLang="en-US" dirty="0"/>
              <a:t>도 학습이 </a:t>
            </a:r>
            <a:r>
              <a:rPr lang="ko-KR" altLang="en-US" dirty="0" err="1"/>
              <a:t>가능해졌고</a:t>
            </a:r>
            <a:r>
              <a:rPr lang="en-US" altLang="ko-KR" dirty="0"/>
              <a:t>, XOR </a:t>
            </a:r>
            <a:r>
              <a:rPr lang="ko-KR" altLang="en-US" dirty="0"/>
              <a:t>문제도 해결되었습니다</a:t>
            </a:r>
            <a:r>
              <a:rPr lang="en-US" altLang="ko-KR" dirty="0"/>
              <a:t>. </a:t>
            </a:r>
            <a:r>
              <a:rPr lang="ko-KR" altLang="en-US" dirty="0"/>
              <a:t>신경망 연구가 부활한 결정적 계기입니다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1989 — </a:t>
            </a:r>
            <a:r>
              <a:rPr lang="en-US" altLang="ko-KR" b="1" dirty="0" err="1"/>
              <a:t>LeCun</a:t>
            </a:r>
            <a:r>
              <a:rPr lang="en-US" altLang="ko-KR" b="1" dirty="0"/>
              <a:t> CNN(</a:t>
            </a:r>
            <a:r>
              <a:rPr lang="en-US" altLang="ko-KR" b="1" dirty="0" err="1"/>
              <a:t>LeNet</a:t>
            </a:r>
            <a:r>
              <a:rPr lang="en-US" altLang="ko-KR" b="1" dirty="0"/>
              <a:t>) </a:t>
            </a:r>
            <a:r>
              <a:rPr lang="ko-KR" altLang="en-US" b="1" dirty="0"/>
              <a:t>제안</a:t>
            </a:r>
            <a:endParaRPr lang="ko-KR" altLang="en-US" dirty="0"/>
          </a:p>
          <a:p>
            <a:r>
              <a:rPr lang="en-US" altLang="ko-KR" dirty="0"/>
              <a:t>Yann </a:t>
            </a:r>
            <a:r>
              <a:rPr lang="en-US" altLang="ko-KR" dirty="0" err="1"/>
              <a:t>LeCun</a:t>
            </a:r>
            <a:r>
              <a:rPr lang="ko-KR" altLang="en-US" dirty="0"/>
              <a:t>이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  <a:r>
              <a:rPr lang="en-US" altLang="ko-KR" dirty="0"/>
              <a:t>(CNN)</a:t>
            </a:r>
            <a:r>
              <a:rPr lang="ko-KR" altLang="en-US" dirty="0"/>
              <a:t>을 개발하여 </a:t>
            </a:r>
            <a:r>
              <a:rPr lang="ko-KR" altLang="en-US" dirty="0" err="1"/>
              <a:t>손글씨</a:t>
            </a:r>
            <a:r>
              <a:rPr lang="ko-KR" altLang="en-US" dirty="0"/>
              <a:t> 우편번호 인식에 성공했습니다</a:t>
            </a:r>
            <a:r>
              <a:rPr lang="en-US" altLang="ko-KR" dirty="0"/>
              <a:t>. </a:t>
            </a:r>
            <a:r>
              <a:rPr lang="ko-KR" altLang="en-US" dirty="0"/>
              <a:t>이미지 전체를 한꺼번에 보는 대신</a:t>
            </a:r>
            <a:r>
              <a:rPr lang="en-US" altLang="ko-KR" dirty="0"/>
              <a:t>, </a:t>
            </a:r>
            <a:r>
              <a:rPr lang="ko-KR" altLang="en-US" dirty="0"/>
              <a:t>작은 필터</a:t>
            </a:r>
            <a:r>
              <a:rPr lang="en-US" altLang="ko-KR" dirty="0"/>
              <a:t>(</a:t>
            </a:r>
            <a:r>
              <a:rPr lang="ko-KR" altLang="en-US" dirty="0"/>
              <a:t>커널</a:t>
            </a:r>
            <a:r>
              <a:rPr lang="en-US" altLang="ko-KR" dirty="0"/>
              <a:t>)</a:t>
            </a:r>
            <a:r>
              <a:rPr lang="ko-KR" altLang="en-US" dirty="0"/>
              <a:t>로 이미지를 훑으며 에지</a:t>
            </a:r>
            <a:r>
              <a:rPr lang="en-US" altLang="ko-KR" dirty="0"/>
              <a:t>, </a:t>
            </a:r>
            <a:r>
              <a:rPr lang="ko-KR" altLang="en-US" dirty="0"/>
              <a:t>패턴 같은 특징을 추출하는 방식입니다</a:t>
            </a:r>
            <a:r>
              <a:rPr lang="en-US" altLang="ko-KR" dirty="0"/>
              <a:t>. </a:t>
            </a:r>
            <a:r>
              <a:rPr lang="ko-KR" altLang="en-US" dirty="0"/>
              <a:t>미국 우체국에서 실제 수표의 필기 숫자 인식에 사용되었으며</a:t>
            </a:r>
            <a:r>
              <a:rPr lang="en-US" altLang="ko-KR" dirty="0"/>
              <a:t>, </a:t>
            </a:r>
            <a:r>
              <a:rPr lang="ko-KR" altLang="en-US" dirty="0"/>
              <a:t>이후 모든 이미지 </a:t>
            </a:r>
            <a:r>
              <a:rPr lang="ko-KR" altLang="en-US" dirty="0" err="1"/>
              <a:t>딥러닝의</a:t>
            </a:r>
            <a:r>
              <a:rPr lang="ko-KR" altLang="en-US" dirty="0"/>
              <a:t> 기초가 되었습니다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1997 — </a:t>
            </a:r>
            <a:r>
              <a:rPr lang="en-US" altLang="ko-KR" b="1" dirty="0" err="1"/>
              <a:t>Hochreiter</a:t>
            </a:r>
            <a:r>
              <a:rPr lang="en-US" altLang="ko-KR" b="1" dirty="0"/>
              <a:t> LSTM</a:t>
            </a:r>
            <a:endParaRPr lang="ko-KR" altLang="en-US" dirty="0"/>
          </a:p>
          <a:p>
            <a:r>
              <a:rPr lang="en-US" altLang="ko-KR" dirty="0" err="1"/>
              <a:t>Hochreiter</a:t>
            </a:r>
            <a:r>
              <a:rPr lang="ko-KR" altLang="en-US" dirty="0"/>
              <a:t>와 </a:t>
            </a:r>
            <a:r>
              <a:rPr lang="en-US" altLang="ko-KR" dirty="0" err="1"/>
              <a:t>Schmidhuber</a:t>
            </a:r>
            <a:r>
              <a:rPr lang="ko-KR" altLang="en-US" dirty="0"/>
              <a:t>가 </a:t>
            </a:r>
            <a:r>
              <a:rPr lang="en-US" altLang="ko-KR" dirty="0"/>
              <a:t>LSTM(Long Short-Term Memory)</a:t>
            </a:r>
            <a:r>
              <a:rPr lang="ko-KR" altLang="en-US" dirty="0"/>
              <a:t>을 발표했습니다</a:t>
            </a:r>
            <a:r>
              <a:rPr lang="en-US" altLang="ko-KR" dirty="0"/>
              <a:t>. </a:t>
            </a:r>
            <a:r>
              <a:rPr lang="ko-KR" altLang="en-US" dirty="0"/>
              <a:t>기본 </a:t>
            </a:r>
            <a:r>
              <a:rPr lang="en-US" altLang="ko-KR" dirty="0"/>
              <a:t>RNN</a:t>
            </a:r>
            <a:r>
              <a:rPr lang="ko-KR" altLang="en-US" dirty="0"/>
              <a:t>은 문장이 길어지면 앞부분 정보를 잊어버리는 장기 의존성 문제가 있었는데</a:t>
            </a:r>
            <a:r>
              <a:rPr lang="en-US" altLang="ko-KR" dirty="0"/>
              <a:t>, LSTM</a:t>
            </a:r>
            <a:r>
              <a:rPr lang="ko-KR" altLang="en-US" dirty="0"/>
              <a:t>은 셀 상태</a:t>
            </a:r>
            <a:r>
              <a:rPr lang="en-US" altLang="ko-KR" dirty="0"/>
              <a:t>(cell state)</a:t>
            </a:r>
            <a:r>
              <a:rPr lang="ko-KR" altLang="en-US" dirty="0"/>
              <a:t>라는 장기 기억 통로와 </a:t>
            </a:r>
            <a:r>
              <a:rPr lang="en-US" altLang="ko-KR" dirty="0"/>
              <a:t>3</a:t>
            </a:r>
            <a:r>
              <a:rPr lang="ko-KR" altLang="en-US" dirty="0"/>
              <a:t>개의 게이트</a:t>
            </a:r>
            <a:r>
              <a:rPr lang="en-US" altLang="ko-KR" dirty="0"/>
              <a:t>(</a:t>
            </a:r>
            <a:r>
              <a:rPr lang="ko-KR" altLang="en-US" dirty="0"/>
              <a:t>망각</a:t>
            </a:r>
            <a:r>
              <a:rPr lang="en-US" altLang="ko-KR" dirty="0"/>
              <a:t>/</a:t>
            </a:r>
            <a:r>
              <a:rPr lang="ko-KR" altLang="en-US" dirty="0"/>
              <a:t>입력</a:t>
            </a:r>
            <a:r>
              <a:rPr lang="en-US" altLang="ko-KR" dirty="0"/>
              <a:t>/</a:t>
            </a:r>
            <a:r>
              <a:rPr lang="ko-KR" altLang="en-US" dirty="0"/>
              <a:t>출력</a:t>
            </a:r>
            <a:r>
              <a:rPr lang="en-US" altLang="ko-KR" dirty="0"/>
              <a:t>)</a:t>
            </a:r>
            <a:r>
              <a:rPr lang="ko-KR" altLang="en-US" dirty="0"/>
              <a:t>를 도입하여 이 문제를 해결했습니다</a:t>
            </a:r>
            <a:r>
              <a:rPr lang="en-US" altLang="ko-KR" dirty="0"/>
              <a:t>. </a:t>
            </a:r>
            <a:r>
              <a:rPr lang="ko-KR" altLang="en-US" dirty="0"/>
              <a:t>이후 </a:t>
            </a:r>
            <a:r>
              <a:rPr lang="en-US" altLang="ko-KR" dirty="0"/>
              <a:t>20</a:t>
            </a:r>
            <a:r>
              <a:rPr lang="ko-KR" altLang="en-US" dirty="0"/>
              <a:t>년간 시퀀스 데이터 처리의 표준이 되었습니다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2006 — Hinton Deep Belief Network</a:t>
            </a:r>
            <a:endParaRPr lang="ko-KR" altLang="en-US" dirty="0"/>
          </a:p>
          <a:p>
            <a:r>
              <a:rPr lang="en-US" altLang="ko-KR" dirty="0"/>
              <a:t>Hinton</a:t>
            </a:r>
            <a:r>
              <a:rPr lang="ko-KR" altLang="en-US" dirty="0"/>
              <a:t>이 </a:t>
            </a:r>
            <a:r>
              <a:rPr lang="en-US" altLang="ko-KR" dirty="0"/>
              <a:t>Deep Belief Network(DBN)</a:t>
            </a:r>
            <a:r>
              <a:rPr lang="ko-KR" altLang="en-US" dirty="0"/>
              <a:t>의 사전학습 방법을 제안했습니다</a:t>
            </a:r>
            <a:r>
              <a:rPr lang="en-US" altLang="ko-KR" dirty="0"/>
              <a:t>. </a:t>
            </a:r>
            <a:r>
              <a:rPr lang="ko-KR" altLang="en-US" dirty="0"/>
              <a:t>당시 신경망은 층을 깊게 쌓으면 기울기 소실로 학습이 안 되는 문제가 있었는데</a:t>
            </a:r>
            <a:r>
              <a:rPr lang="en-US" altLang="ko-KR" dirty="0"/>
              <a:t>, </a:t>
            </a:r>
            <a:r>
              <a:rPr lang="ko-KR" altLang="en-US" dirty="0"/>
              <a:t>각 층을 비지도학습으로 먼저 사전학습한 뒤 전체를 파인 튜닝하는 방식으로 이를 해결했습니다</a:t>
            </a:r>
            <a:r>
              <a:rPr lang="en-US" altLang="ko-KR" dirty="0"/>
              <a:t>. </a:t>
            </a:r>
            <a:r>
              <a:rPr lang="ko-KR" altLang="en-US" dirty="0" err="1"/>
              <a:t>딥러닝이라는</a:t>
            </a:r>
            <a:r>
              <a:rPr lang="ko-KR" altLang="en-US" dirty="0"/>
              <a:t> 용어가 본격적으로 사용되기 시작한 전환점이었습니다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2012 — </a:t>
            </a:r>
            <a:r>
              <a:rPr lang="en-US" altLang="ko-KR" b="1" dirty="0" err="1"/>
              <a:t>AlexNet</a:t>
            </a:r>
            <a:r>
              <a:rPr lang="en-US" altLang="ko-KR" b="1" dirty="0"/>
              <a:t> ImageNet </a:t>
            </a:r>
            <a:r>
              <a:rPr lang="ko-KR" altLang="en-US" b="1" dirty="0"/>
              <a:t>우승</a:t>
            </a:r>
            <a:endParaRPr lang="ko-KR" altLang="en-US" dirty="0"/>
          </a:p>
          <a:p>
            <a:r>
              <a:rPr lang="en-US" altLang="ko-KR" dirty="0"/>
              <a:t>Alex </a:t>
            </a:r>
            <a:r>
              <a:rPr lang="en-US" altLang="ko-KR" dirty="0" err="1"/>
              <a:t>Krizhevsky</a:t>
            </a:r>
            <a:r>
              <a:rPr lang="ko-KR" altLang="en-US" dirty="0"/>
              <a:t>가 </a:t>
            </a:r>
            <a:r>
              <a:rPr lang="en-US" altLang="ko-KR" dirty="0" err="1"/>
              <a:t>AlexNet</a:t>
            </a:r>
            <a:r>
              <a:rPr lang="ko-KR" altLang="en-US" dirty="0"/>
              <a:t>으로 </a:t>
            </a:r>
            <a:r>
              <a:rPr lang="en-US" altLang="ko-KR" dirty="0"/>
              <a:t>ImageNet </a:t>
            </a:r>
            <a:r>
              <a:rPr lang="ko-KR" altLang="en-US" dirty="0"/>
              <a:t>이미지 분류 대회에서 기존 방법 대비 오차율을 </a:t>
            </a:r>
            <a:r>
              <a:rPr lang="en-US" altLang="ko-KR" dirty="0"/>
              <a:t>10% </a:t>
            </a:r>
            <a:r>
              <a:rPr lang="ko-KR" altLang="en-US" dirty="0"/>
              <a:t>이상 낮추며 압도적으로 우승했습니다</a:t>
            </a:r>
            <a:r>
              <a:rPr lang="en-US" altLang="ko-KR" dirty="0"/>
              <a:t>. </a:t>
            </a:r>
            <a:r>
              <a:rPr lang="ko-KR" altLang="en-US" dirty="0"/>
              <a:t>핵심은 </a:t>
            </a:r>
            <a:r>
              <a:rPr lang="en-US" altLang="ko-KR" dirty="0"/>
              <a:t>GPU</a:t>
            </a:r>
            <a:r>
              <a:rPr lang="ko-KR" altLang="en-US" dirty="0"/>
              <a:t>를 활용한 대규모 </a:t>
            </a:r>
            <a:r>
              <a:rPr lang="en-US" altLang="ko-KR" dirty="0"/>
              <a:t>CNN </a:t>
            </a:r>
            <a:r>
              <a:rPr lang="ko-KR" altLang="en-US" dirty="0"/>
              <a:t>학습</a:t>
            </a:r>
            <a:r>
              <a:rPr lang="en-US" altLang="ko-KR" dirty="0"/>
              <a:t>, </a:t>
            </a:r>
            <a:r>
              <a:rPr lang="en-US" altLang="ko-KR" dirty="0" err="1"/>
              <a:t>ReLU</a:t>
            </a:r>
            <a:r>
              <a:rPr lang="en-US" altLang="ko-KR" dirty="0"/>
              <a:t> </a:t>
            </a:r>
            <a:r>
              <a:rPr lang="ko-KR" altLang="en-US" dirty="0"/>
              <a:t>활성화 함수</a:t>
            </a:r>
            <a:r>
              <a:rPr lang="en-US" altLang="ko-KR" dirty="0"/>
              <a:t>, Dropout </a:t>
            </a:r>
            <a:r>
              <a:rPr lang="ko-KR" altLang="en-US" dirty="0"/>
              <a:t>등이었습니다</a:t>
            </a:r>
            <a:r>
              <a:rPr lang="en-US" altLang="ko-KR" dirty="0"/>
              <a:t>. </a:t>
            </a:r>
            <a:r>
              <a:rPr lang="ko-KR" altLang="en-US" dirty="0"/>
              <a:t>이 사건으로 학계와 산업계가 </a:t>
            </a:r>
            <a:r>
              <a:rPr lang="ko-KR" altLang="en-US" dirty="0" err="1"/>
              <a:t>딥러닝에</a:t>
            </a:r>
            <a:r>
              <a:rPr lang="ko-KR" altLang="en-US" dirty="0"/>
              <a:t> 주목하게 되었고</a:t>
            </a:r>
            <a:r>
              <a:rPr lang="en-US" altLang="ko-KR" dirty="0"/>
              <a:t>, </a:t>
            </a:r>
            <a:r>
              <a:rPr lang="ko-KR" altLang="en-US" dirty="0"/>
              <a:t>현재까지 이어지는 딥러닝 붐의 기폭제가 되었습니다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2014 — GAN (Goodfellow)</a:t>
            </a:r>
            <a:endParaRPr lang="ko-KR" altLang="en-US" dirty="0"/>
          </a:p>
          <a:p>
            <a:r>
              <a:rPr lang="en-US" altLang="ko-KR" dirty="0"/>
              <a:t>Ian Goodfellow</a:t>
            </a:r>
            <a:r>
              <a:rPr lang="ko-KR" altLang="en-US" dirty="0"/>
              <a:t>가 </a:t>
            </a:r>
            <a:r>
              <a:rPr lang="en-US" altLang="ko-KR" dirty="0"/>
              <a:t>GAN(Generative Adversarial Network)</a:t>
            </a:r>
            <a:r>
              <a:rPr lang="ko-KR" altLang="en-US" dirty="0"/>
              <a:t>을 제안했습니다</a:t>
            </a:r>
            <a:r>
              <a:rPr lang="en-US" altLang="ko-KR" dirty="0"/>
              <a:t>. </a:t>
            </a:r>
            <a:r>
              <a:rPr lang="ko-KR" altLang="en-US" dirty="0"/>
              <a:t>생성자</a:t>
            </a:r>
            <a:r>
              <a:rPr lang="en-US" altLang="ko-KR" dirty="0"/>
              <a:t>(Generator)</a:t>
            </a:r>
            <a:r>
              <a:rPr lang="ko-KR" altLang="en-US" dirty="0"/>
              <a:t>는 진짜 같은 데이터를 만들고</a:t>
            </a:r>
            <a:r>
              <a:rPr lang="en-US" altLang="ko-KR" dirty="0"/>
              <a:t>, </a:t>
            </a:r>
            <a:r>
              <a:rPr lang="ko-KR" altLang="en-US" dirty="0" err="1"/>
              <a:t>판별자</a:t>
            </a:r>
            <a:r>
              <a:rPr lang="en-US" altLang="ko-KR" dirty="0"/>
              <a:t>(Discriminator)</a:t>
            </a:r>
            <a:r>
              <a:rPr lang="ko-KR" altLang="en-US" dirty="0"/>
              <a:t>는 진짜와 가짜를 구분하려 하는 두 네트워크가 서로 경쟁하며 발전하는 구조입니다</a:t>
            </a:r>
            <a:r>
              <a:rPr lang="en-US" altLang="ko-KR" dirty="0"/>
              <a:t>. </a:t>
            </a:r>
            <a:r>
              <a:rPr lang="ko-KR" altLang="en-US" dirty="0"/>
              <a:t>이를 통해 사실적인 이미지 생성이 </a:t>
            </a:r>
            <a:r>
              <a:rPr lang="ko-KR" altLang="en-US" dirty="0" err="1"/>
              <a:t>가능해졌고</a:t>
            </a:r>
            <a:r>
              <a:rPr lang="en-US" altLang="ko-KR" dirty="0"/>
              <a:t>, </a:t>
            </a:r>
            <a:r>
              <a:rPr lang="ko-KR" altLang="en-US" dirty="0"/>
              <a:t>이후 </a:t>
            </a:r>
            <a:r>
              <a:rPr lang="en-US" altLang="ko-KR" dirty="0"/>
              <a:t>Stable Diffusion, DALL-E </a:t>
            </a:r>
            <a:r>
              <a:rPr lang="ko-KR" altLang="en-US" dirty="0"/>
              <a:t>등 이미지 생성 </a:t>
            </a:r>
            <a:r>
              <a:rPr lang="en-US" altLang="ko-KR" dirty="0"/>
              <a:t>AI</a:t>
            </a:r>
            <a:r>
              <a:rPr lang="ko-KR" altLang="en-US" dirty="0"/>
              <a:t>의 토대가 되었습니다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2017 — Transformer (Google)</a:t>
            </a:r>
            <a:endParaRPr lang="ko-KR" altLang="en-US" dirty="0"/>
          </a:p>
          <a:p>
            <a:r>
              <a:rPr lang="en-US" altLang="ko-KR" dirty="0"/>
              <a:t>Google Brain </a:t>
            </a:r>
            <a:r>
              <a:rPr lang="ko-KR" altLang="en-US" dirty="0"/>
              <a:t>팀이 </a:t>
            </a:r>
            <a:r>
              <a:rPr lang="en-US" altLang="ko-KR" dirty="0"/>
              <a:t>"Attention Is All You Need" </a:t>
            </a:r>
            <a:r>
              <a:rPr lang="ko-KR" altLang="en-US" dirty="0"/>
              <a:t>논문을 발표했습니다</a:t>
            </a:r>
            <a:r>
              <a:rPr lang="en-US" altLang="ko-KR" dirty="0"/>
              <a:t>. RNN</a:t>
            </a:r>
            <a:r>
              <a:rPr lang="ko-KR" altLang="en-US" dirty="0"/>
              <a:t>의 순차 처리 없이 </a:t>
            </a:r>
            <a:r>
              <a:rPr lang="en-US" altLang="ko-KR" dirty="0"/>
              <a:t>Self-Attention</a:t>
            </a:r>
            <a:r>
              <a:rPr lang="ko-KR" altLang="en-US" dirty="0"/>
              <a:t>만으로 시퀀스를 처리하는 구조입니다</a:t>
            </a:r>
            <a:r>
              <a:rPr lang="en-US" altLang="ko-KR" dirty="0"/>
              <a:t>. </a:t>
            </a:r>
            <a:r>
              <a:rPr lang="ko-KR" altLang="en-US" dirty="0"/>
              <a:t>모든 단어 간 관계를 한 번에 계산할 수 있어 병렬 처리가 </a:t>
            </a:r>
            <a:r>
              <a:rPr lang="ko-KR" altLang="en-US" dirty="0" err="1"/>
              <a:t>가능해졌고</a:t>
            </a:r>
            <a:r>
              <a:rPr lang="en-US" altLang="ko-KR" dirty="0"/>
              <a:t>, </a:t>
            </a:r>
            <a:r>
              <a:rPr lang="ko-KR" altLang="en-US" dirty="0"/>
              <a:t>긴 문장에서도 정보 손실이 없습니다</a:t>
            </a:r>
            <a:r>
              <a:rPr lang="en-US" altLang="ko-KR" dirty="0"/>
              <a:t>. </a:t>
            </a:r>
            <a:r>
              <a:rPr lang="ko-KR" altLang="en-US" dirty="0"/>
              <a:t>이후 </a:t>
            </a:r>
            <a:r>
              <a:rPr lang="en-US" altLang="ko-KR" dirty="0"/>
              <a:t>BERT, GPT </a:t>
            </a:r>
            <a:r>
              <a:rPr lang="ko-KR" altLang="en-US" dirty="0"/>
              <a:t>등 거의 모든 현대 </a:t>
            </a:r>
            <a:r>
              <a:rPr lang="en-US" altLang="ko-KR" dirty="0"/>
              <a:t>AI </a:t>
            </a:r>
            <a:r>
              <a:rPr lang="ko-KR" altLang="en-US" dirty="0"/>
              <a:t>모델의 기반 구조가 되었으며</a:t>
            </a:r>
            <a:r>
              <a:rPr lang="en-US" altLang="ko-KR" dirty="0"/>
              <a:t>, NLP</a:t>
            </a:r>
            <a:r>
              <a:rPr lang="ko-KR" altLang="en-US" dirty="0"/>
              <a:t>뿐 아니라 이미지</a:t>
            </a:r>
            <a:r>
              <a:rPr lang="en-US" altLang="ko-KR" dirty="0"/>
              <a:t>(</a:t>
            </a:r>
            <a:r>
              <a:rPr lang="en-US" altLang="ko-KR" dirty="0" err="1"/>
              <a:t>ViT</a:t>
            </a:r>
            <a:r>
              <a:rPr lang="en-US" altLang="ko-KR" dirty="0"/>
              <a:t>), </a:t>
            </a:r>
            <a:r>
              <a:rPr lang="ko-KR" altLang="en-US" dirty="0"/>
              <a:t>음성</a:t>
            </a:r>
            <a:r>
              <a:rPr lang="en-US" altLang="ko-KR" dirty="0"/>
              <a:t>, </a:t>
            </a:r>
            <a:r>
              <a:rPr lang="ko-KR" altLang="en-US" dirty="0"/>
              <a:t>영상 분야까지 확장되었습니다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2018 — BERT (Google)</a:t>
            </a:r>
            <a:endParaRPr lang="ko-KR" altLang="en-US" dirty="0"/>
          </a:p>
          <a:p>
            <a:r>
              <a:rPr lang="en-US" altLang="ko-KR" dirty="0"/>
              <a:t>Google</a:t>
            </a:r>
            <a:r>
              <a:rPr lang="ko-KR" altLang="en-US" dirty="0"/>
              <a:t>이 </a:t>
            </a:r>
            <a:r>
              <a:rPr lang="en-US" altLang="ko-KR" dirty="0"/>
              <a:t>BERT(Bidirectional Encoder Representations from Transformers)</a:t>
            </a:r>
            <a:r>
              <a:rPr lang="ko-KR" altLang="en-US" dirty="0"/>
              <a:t>를 공개했습니다</a:t>
            </a:r>
            <a:r>
              <a:rPr lang="en-US" altLang="ko-KR" dirty="0"/>
              <a:t>. Transformer</a:t>
            </a:r>
            <a:r>
              <a:rPr lang="ko-KR" altLang="en-US" dirty="0"/>
              <a:t>의 인코더만 사용하여 양방향으로 문맥을 이해하는 모델입니다</a:t>
            </a:r>
            <a:r>
              <a:rPr lang="en-US" altLang="ko-KR" dirty="0"/>
              <a:t>. </a:t>
            </a:r>
            <a:r>
              <a:rPr lang="ko-KR" altLang="en-US" dirty="0"/>
              <a:t>위키피디아 </a:t>
            </a:r>
            <a:r>
              <a:rPr lang="en-US" altLang="ko-KR" dirty="0"/>
              <a:t>25</a:t>
            </a:r>
            <a:r>
              <a:rPr lang="ko-KR" altLang="en-US" dirty="0"/>
              <a:t>억 단어로 사전학습한 뒤</a:t>
            </a:r>
            <a:r>
              <a:rPr lang="en-US" altLang="ko-KR" dirty="0"/>
              <a:t>, </a:t>
            </a:r>
            <a:r>
              <a:rPr lang="ko-KR" altLang="en-US" dirty="0"/>
              <a:t>적은 데이터로 파인 튜닝하면 분류</a:t>
            </a:r>
            <a:r>
              <a:rPr lang="en-US" altLang="ko-KR" dirty="0"/>
              <a:t>, </a:t>
            </a:r>
            <a:r>
              <a:rPr lang="ko-KR" altLang="en-US" dirty="0"/>
              <a:t>질의응답</a:t>
            </a:r>
            <a:r>
              <a:rPr lang="en-US" altLang="ko-KR" dirty="0"/>
              <a:t>, </a:t>
            </a:r>
            <a:r>
              <a:rPr lang="ko-KR" altLang="en-US" dirty="0" err="1"/>
              <a:t>개체명</a:t>
            </a:r>
            <a:r>
              <a:rPr lang="ko-KR" altLang="en-US" dirty="0"/>
              <a:t> 인식 등에서 최고 성능을 달성했습니다</a:t>
            </a:r>
            <a:r>
              <a:rPr lang="en-US" altLang="ko-KR" dirty="0"/>
              <a:t>. "</a:t>
            </a:r>
            <a:r>
              <a:rPr lang="ko-KR" altLang="en-US" dirty="0"/>
              <a:t>사전학습 </a:t>
            </a:r>
            <a:r>
              <a:rPr lang="en-US" altLang="ko-KR" dirty="0"/>
              <a:t>+ </a:t>
            </a:r>
            <a:r>
              <a:rPr lang="ko-KR" altLang="en-US" dirty="0"/>
              <a:t>파인 튜닝</a:t>
            </a:r>
            <a:r>
              <a:rPr lang="en-US" altLang="ko-KR" dirty="0"/>
              <a:t>" </a:t>
            </a:r>
            <a:r>
              <a:rPr lang="ko-KR" altLang="en-US" dirty="0"/>
              <a:t>패러다임을 확립한 모델입니다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2020~ — GPT-3, </a:t>
            </a:r>
            <a:r>
              <a:rPr lang="en-US" altLang="ko-KR" b="1" dirty="0" err="1"/>
              <a:t>ChatGPT</a:t>
            </a:r>
            <a:r>
              <a:rPr lang="en-US" altLang="ko-KR" b="1" dirty="0"/>
              <a:t>, GPT-4</a:t>
            </a:r>
            <a:endParaRPr lang="ko-KR" altLang="en-US" dirty="0"/>
          </a:p>
          <a:p>
            <a:r>
              <a:rPr lang="en-US" altLang="ko-KR" dirty="0" err="1"/>
              <a:t>OpenAI</a:t>
            </a:r>
            <a:r>
              <a:rPr lang="ko-KR" altLang="en-US" dirty="0"/>
              <a:t>가 </a:t>
            </a:r>
            <a:r>
              <a:rPr lang="en-US" altLang="ko-KR" dirty="0"/>
              <a:t>GPT-3(1,750</a:t>
            </a:r>
            <a:r>
              <a:rPr lang="ko-KR" altLang="en-US" dirty="0"/>
              <a:t>억 파라미터</a:t>
            </a:r>
            <a:r>
              <a:rPr lang="en-US" altLang="ko-KR" dirty="0"/>
              <a:t>)</a:t>
            </a:r>
            <a:r>
              <a:rPr lang="ko-KR" altLang="en-US" dirty="0"/>
              <a:t>를 공개하면서 초거대 언어 모델 시대가 열렸습니다</a:t>
            </a:r>
            <a:r>
              <a:rPr lang="en-US" altLang="ko-KR" dirty="0"/>
              <a:t>. 2022</a:t>
            </a:r>
            <a:r>
              <a:rPr lang="ko-KR" altLang="en-US" dirty="0"/>
              <a:t>년 </a:t>
            </a:r>
            <a:r>
              <a:rPr lang="en-US" altLang="ko-KR" dirty="0" err="1"/>
              <a:t>ChatGPT</a:t>
            </a:r>
            <a:r>
              <a:rPr lang="en-US" altLang="ko-KR" dirty="0"/>
              <a:t> </a:t>
            </a:r>
            <a:r>
              <a:rPr lang="ko-KR" altLang="en-US" dirty="0"/>
              <a:t>출시로 </a:t>
            </a:r>
            <a:r>
              <a:rPr lang="en-US" altLang="ko-KR" dirty="0"/>
              <a:t>AI</a:t>
            </a:r>
            <a:r>
              <a:rPr lang="ko-KR" altLang="en-US" dirty="0"/>
              <a:t>가 일반 대중에게 보급되었고</a:t>
            </a:r>
            <a:r>
              <a:rPr lang="en-US" altLang="ko-KR" dirty="0"/>
              <a:t>, 2023</a:t>
            </a:r>
            <a:r>
              <a:rPr lang="ko-KR" altLang="en-US" dirty="0"/>
              <a:t>년 </a:t>
            </a:r>
            <a:r>
              <a:rPr lang="en-US" altLang="ko-KR" dirty="0"/>
              <a:t>GPT-4</a:t>
            </a:r>
            <a:r>
              <a:rPr lang="ko-KR" altLang="en-US" dirty="0"/>
              <a:t>는 </a:t>
            </a:r>
            <a:r>
              <a:rPr lang="ko-KR" altLang="en-US" dirty="0" err="1"/>
              <a:t>멀티모달</a:t>
            </a:r>
            <a:r>
              <a:rPr lang="en-US" altLang="ko-KR" dirty="0"/>
              <a:t>(</a:t>
            </a:r>
            <a:r>
              <a:rPr lang="ko-KR" altLang="en-US" dirty="0"/>
              <a:t>텍스트</a:t>
            </a:r>
            <a:r>
              <a:rPr lang="en-US" altLang="ko-KR" dirty="0"/>
              <a:t>+</a:t>
            </a:r>
            <a:r>
              <a:rPr lang="ko-KR" altLang="en-US" dirty="0"/>
              <a:t>이미지</a:t>
            </a:r>
            <a:r>
              <a:rPr lang="en-US" altLang="ko-KR" dirty="0"/>
              <a:t>)</a:t>
            </a:r>
            <a:r>
              <a:rPr lang="ko-KR" altLang="en-US" dirty="0"/>
              <a:t>과 향상된 추론 능력을 보여주었습니다</a:t>
            </a:r>
            <a:r>
              <a:rPr lang="en-US" altLang="ko-KR" dirty="0"/>
              <a:t>. </a:t>
            </a:r>
            <a:r>
              <a:rPr lang="ko-KR" altLang="en-US" dirty="0"/>
              <a:t>이후 오픈소스 </a:t>
            </a:r>
            <a:r>
              <a:rPr lang="en-US" altLang="ko-KR" dirty="0"/>
              <a:t>LLM(</a:t>
            </a:r>
            <a:r>
              <a:rPr lang="en-US" altLang="ko-KR" dirty="0" err="1"/>
              <a:t>LLaMA</a:t>
            </a:r>
            <a:r>
              <a:rPr lang="en-US" altLang="ko-KR" dirty="0"/>
              <a:t>, Mistral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이 등장하고</a:t>
            </a:r>
            <a:r>
              <a:rPr lang="en-US" altLang="ko-KR" dirty="0"/>
              <a:t>, RAG, RLHF, </a:t>
            </a:r>
            <a:r>
              <a:rPr lang="ko-KR" altLang="en-US" dirty="0"/>
              <a:t>프롬프트 엔지니어링 등 활용 기술이 빠르게 발전하고 있습니다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985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tobetong.com/?p=9393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7315"/>
          </a:xfrm>
          <a:prstGeom prst="rect">
            <a:avLst/>
          </a:prstGeom>
          <a:solidFill>
            <a:srgbClr val="5A7FBF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딥러닝</a:t>
            </a: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 </a:t>
            </a:r>
            <a:r>
              <a:rPr lang="en-US" altLang="ko-KR" sz="4400" dirty="0" err="1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</a:t>
            </a:r>
            <a:r>
              <a:rPr lang="ko-KR" altLang="en-US" sz="44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 </a:t>
            </a:r>
            <a:r>
              <a:rPr lang="en-US" altLang="ko-KR" sz="4400" dirty="0" err="1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작동</a:t>
            </a:r>
            <a:r>
              <a:rPr lang="en-US" altLang="ko-KR" sz="44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4400" dirty="0" err="1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원리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</a:t>
            </a:r>
            <a:r>
              <a:rPr lang="en-US" sz="1200" dirty="0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1200" dirty="0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경희대 미디어학과</a:t>
            </a:r>
            <a:r>
              <a:rPr lang="en-US" altLang="ko-KR" sz="1200" dirty="0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참고: 딥 러닝을 이용한 자연어 처리 입문 (wikidocs.net/book/2155)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인공지능, 머신러닝, 딥러닝의 관계</a:t>
            </a:r>
            <a:endParaRPr lang="en-US" sz="24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D9EA15F-3C56-463E-8F9C-8E68B94EE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61" y="1341742"/>
            <a:ext cx="4199824" cy="2257344"/>
          </a:xfrm>
          <a:prstGeom prst="rect">
            <a:avLst/>
          </a:prstGeom>
        </p:spPr>
      </p:pic>
      <p:pic>
        <p:nvPicPr>
          <p:cNvPr id="18" name="Picture 4" descr="What is Deep learning??? How it changes the world? | by Venkatesh T | Medium">
            <a:extLst>
              <a:ext uri="{FF2B5EF4-FFF2-40B4-BE49-F238E27FC236}">
                <a16:creationId xmlns:a16="http://schemas.microsoft.com/office/drawing/2014/main" id="{53857D33-F1CE-4FC5-B21E-8E25CBC15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433" y="1341742"/>
            <a:ext cx="4050106" cy="2968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EC95D82-0CA1-4399-8269-DB2219D1B703}"/>
              </a:ext>
            </a:extLst>
          </p:cNvPr>
          <p:cNvSpPr txBox="1"/>
          <p:nvPr/>
        </p:nvSpPr>
        <p:spPr>
          <a:xfrm>
            <a:off x="63112" y="4645210"/>
            <a:ext cx="1104059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hlinkClick r:id="rId5"/>
              </a:rPr>
              <a:t>https://medium.com/@venkatesh.t.16072001/what-is-deep-learning-how-it-changes-the-world-f1dfb8b7e0ef</a:t>
            </a:r>
          </a:p>
          <a:p>
            <a:r>
              <a:rPr lang="en-US" altLang="ko-KR" sz="900" b="1" dirty="0">
                <a:hlinkClick r:id="rId5"/>
              </a:rPr>
              <a:t>http://tobetong.com/?p=9393</a:t>
            </a:r>
            <a:endParaRPr lang="en-US" altLang="ko-KR" sz="900" b="1" dirty="0"/>
          </a:p>
          <a:p>
            <a:r>
              <a:rPr lang="en-US" altLang="ko-KR" sz="900" b="1" dirty="0"/>
              <a:t>https://news.skhynix.co.kr/post/all-around-ai-1</a:t>
            </a:r>
            <a:endParaRPr lang="ko-KR" altLang="en-US" sz="9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딥러닝의 역사 — 주요 이정표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27813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시기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사건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의의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McCulloch &amp; Pitts 인공 뉴런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최초의 수학적 뉴런 모델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Rosenblatt 퍼셉트론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초기 인공 신경망 등장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Minsky XOR 문제 지적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단층 퍼셉트론의 한계 → AI 겨울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Hinton 역전파 알고리즘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다층 신경망 학습 가능 → 부활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LeCun CNN(LeNet) 제안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 인식용 합성곱 신경망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Hochreiter LSTM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장기 의존성 문제 해결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Hinton Deep Belief Network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딥러닝 부흥의 신호탄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AlexNet ImageNet 우승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+ 빅데이터 → CNN 대중화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GAN (Goodfellow)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생성 모델 혁명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Transformer (Google)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Attention Is All You Need → NLP 혁신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 (Google)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사전학습 기반 양방향 언어 모델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2020~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GPT-3, ChatGPT, GPT-4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초거대 언어모델(LLM) 시대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참고: wikidocs.net/263871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퍼셉트론 (Perceptron) — 인공 신경망의 시작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47094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23348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퍼셉트론이란?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233483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 Rosenblatt(1957)가 제안한 초기 인공 신경망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뇌의 뉴런을 모방한 수학적 모델: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뉴런: 신호를 받아 임계치를 넘으면 다음 뉴런에 전달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퍼셉트론: 입력값 x 가중치의 합이 임계치를 넘으면 1 출력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수학적 구조: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z = w1*x1 + w2*x2 + ... + b (선형 변환)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 = f(z) (활성화 함수 적용)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한계: XOR 문제를 풀 수 없음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직선 하나로 구분 불가능한 문제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1969년 Minsky가 지적 → AI 겨울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35568" y="1008966"/>
            <a:ext cx="2203939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8449" y="1054686"/>
            <a:ext cx="19778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생물학적 뉴런과의 비유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18449" y="1420446"/>
            <a:ext cx="19778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가지돌기 → 입력값 (x1, x2, ...)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시냅스 강도 → 가중치 (w1, w2, ...)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세포체 → 가중합 계산 (z = sum)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축삭돌기 → 출력 (y = 0 또는 1)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임계치 → 편향 (bias, b)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35568" y="2883486"/>
            <a:ext cx="2203939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18449" y="2929206"/>
            <a:ext cx="19778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용어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8449" y="3294966"/>
            <a:ext cx="197789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가중치(Weight, W): 각 입력의 중요도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편향(Bias, b): 임계치 역할의 상수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활성화 함수: 비선형 변환 적용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계단 함수(Step Function) 사용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학습: 가중치를 조정하는 과정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그림 참고: wikidocs.net/book/2155</a:t>
            </a:r>
            <a:endParaRPr lang="en-US" sz="8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7D3EFD2-E1D3-4A19-B376-ABA9352F2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389" y="1008966"/>
            <a:ext cx="3169920" cy="164592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D83A7CC-F05B-4BE8-8389-853F5BBA1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635" y="2929206"/>
            <a:ext cx="2900165" cy="20542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다층 퍼셉트론 (MLP) — XOR 문제 해결과 딥러닝의 탄생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7570" y="1005840"/>
            <a:ext cx="270009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892" y="1143000"/>
            <a:ext cx="225008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571892" y="1143000"/>
            <a:ext cx="225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7567" y="1115568"/>
            <a:ext cx="21857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단층 퍼셉트론의 한계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6129" y="1481328"/>
            <a:ext cx="24429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직선 하나로 구분할 수 없는 문제(XOR)를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해결하지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못함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1969년 Minsky &amp; Papert가 증명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0464" y="1019126"/>
            <a:ext cx="2704123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19831" y="1156286"/>
            <a:ext cx="225344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3519831" y="1156286"/>
            <a:ext cx="22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8654" y="1128854"/>
            <a:ext cx="21890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다층 퍼셉트론(MLP)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38119" y="1494614"/>
            <a:ext cx="244658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입력층과 출력층 사이에 은닉층(hidden layer)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비선형 문제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가능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은닉층이 2개 이상 → 심층신경망(DNN)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DNN을 학습시키는 것 → 딥러닝(Deep Learning)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7570" y="3154680"/>
            <a:ext cx="270009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1892" y="3291840"/>
            <a:ext cx="225008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7" name="Text 15"/>
          <p:cNvSpPr/>
          <p:nvPr/>
        </p:nvSpPr>
        <p:spPr>
          <a:xfrm>
            <a:off x="571892" y="3291840"/>
            <a:ext cx="225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7567" y="3264408"/>
            <a:ext cx="21857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층(Layer)의 종류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6129" y="3630168"/>
            <a:ext cx="24429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입력층(Input Layer): 데이터를 받는 층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은닉층(Hidden Layer): 특징을 추출하는 층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출력층(Output Layer): 최종 결과를 내는 층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전결합층(FC) = 밀집층(Dense):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뉴런이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이전 층의 모든 뉴런과 연결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0464" y="3167966"/>
            <a:ext cx="2704123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19831" y="3305126"/>
            <a:ext cx="225344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2" name="Text 20"/>
          <p:cNvSpPr/>
          <p:nvPr/>
        </p:nvSpPr>
        <p:spPr>
          <a:xfrm>
            <a:off x="3519831" y="3305126"/>
            <a:ext cx="22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18654" y="3277694"/>
            <a:ext cx="21890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피드포워드 신경망(FFNN)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38119" y="3643454"/>
            <a:ext cx="244658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입력층 → 은닉층 → 출력층 방향으로만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연산이 진행되는 구조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예외: RNN은 은닉층 출력이 다시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은닉층 입력으로 순환(recurrent)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612" y="4919042"/>
            <a:ext cx="4855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그림 참고: wikidocs.net/images/page/24958</a:t>
            </a:r>
            <a:endParaRPr lang="en-US" sz="800" dirty="0"/>
          </a:p>
        </p:txBody>
      </p:sp>
      <p:pic>
        <p:nvPicPr>
          <p:cNvPr id="26" name="Picture 2" descr="https://wikidocs.net/images/page/24958/xorgraphandxorgate.PNG">
            <a:extLst>
              <a:ext uri="{FF2B5EF4-FFF2-40B4-BE49-F238E27FC236}">
                <a16:creationId xmlns:a16="http://schemas.microsoft.com/office/drawing/2014/main" id="{2C6CA629-0905-43FA-99D3-D0BAE5CCC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354" y="1115568"/>
            <a:ext cx="2189051" cy="142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https://wikidocs.net/images/page/24958/%EC%9E%85%EC%9D%80%EC%B8%B5.PNG">
            <a:extLst>
              <a:ext uri="{FF2B5EF4-FFF2-40B4-BE49-F238E27FC236}">
                <a16:creationId xmlns:a16="http://schemas.microsoft.com/office/drawing/2014/main" id="{CEF8E93D-1CFD-4180-A488-B6A57667A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241" y="3008924"/>
            <a:ext cx="2922201" cy="1985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활성화 함수 (Activation Function)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199" y="1005840"/>
            <a:ext cx="620932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1" y="1051560"/>
            <a:ext cx="59326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 연산 후 비선형 변환을 적용하여 출력 값을 결정하는 함수. 활성화 함수가 없으면 아무리 층을 쌓아도 결국 하나의 선형 변환과 같아짐 → 비선형성이 핵심.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99530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59" y="2286000"/>
            <a:ext cx="245037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9" name="Text 7"/>
          <p:cNvSpPr/>
          <p:nvPr/>
        </p:nvSpPr>
        <p:spPr>
          <a:xfrm>
            <a:off x="594359" y="2286000"/>
            <a:ext cx="2450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258568"/>
            <a:ext cx="1400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시그모이드 (Sigmoid)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70048"/>
            <a:ext cx="171526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출력: 0 ~ 1 사이 값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용도: 이진 분류 출력층에서 주로 사용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문제점: 은닉층에서 사용하면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기울기 소실(Gradient Vanishing) 발생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출력이 0이나 1에 가까워지면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미분값이 거의 0이 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028" y="2194560"/>
            <a:ext cx="193601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17645" y="2300068"/>
            <a:ext cx="245986" cy="305972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4" name="Text 12"/>
          <p:cNvSpPr/>
          <p:nvPr/>
        </p:nvSpPr>
        <p:spPr>
          <a:xfrm>
            <a:off x="2817645" y="2300068"/>
            <a:ext cx="245986" cy="305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94733" y="2308470"/>
            <a:ext cx="1358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소프트맥스 (Softmax)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62861" y="2493108"/>
            <a:ext cx="1664289" cy="1957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출력: 각 클래스의 확률 (합 = 1)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용도: 다중 클래스 분류 출력층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개(0.7), 고양이(0.2), 새(0.1)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가장 높은 확률의 클래스 선택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시그모이드의 다중 클래스 버전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53921" y="2208628"/>
            <a:ext cx="201244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16864" y="2300068"/>
            <a:ext cx="265794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9" name="Text 17"/>
          <p:cNvSpPr/>
          <p:nvPr/>
        </p:nvSpPr>
        <p:spPr>
          <a:xfrm>
            <a:off x="5016864" y="2300068"/>
            <a:ext cx="2657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35930" y="2300068"/>
            <a:ext cx="1518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렐루</a:t>
            </a: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(ReLU)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05802" y="2621671"/>
            <a:ext cx="186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 = max(0, x)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음수 → 0, 양수 → 그대로 반환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용도: 은닉층에서 가장 많이 사용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장점: 기울기 소실 문제 완화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계산이 매우 빠름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변형: Leaky ReLU, GELU, Swish 등</a:t>
            </a:r>
            <a:endParaRPr lang="en-US" sz="900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2540AD3-8DC5-4D88-BBED-53838392EF0C}"/>
              </a:ext>
            </a:extLst>
          </p:cNvPr>
          <p:cNvGrpSpPr/>
          <p:nvPr/>
        </p:nvGrpSpPr>
        <p:grpSpPr>
          <a:xfrm>
            <a:off x="7165763" y="868948"/>
            <a:ext cx="1837560" cy="4164824"/>
            <a:chOff x="8786681" y="158059"/>
            <a:chExt cx="3324225" cy="6666458"/>
          </a:xfrm>
        </p:grpSpPr>
        <p:pic>
          <p:nvPicPr>
            <p:cNvPr id="23" name="Picture 2" descr="https://wikidocs.net/images/page/60683/%EC%8B%9C%EA%B7%B8%EB%AA%A8%EC%9D%B4%EB%93%9C%ED%95%A8%EC%88%981.PNG">
              <a:extLst>
                <a:ext uri="{FF2B5EF4-FFF2-40B4-BE49-F238E27FC236}">
                  <a16:creationId xmlns:a16="http://schemas.microsoft.com/office/drawing/2014/main" id="{DC3CCB81-85B8-4B1B-9B9C-3C7F11258F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6681" y="158059"/>
              <a:ext cx="3133725" cy="20280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4" descr="https://wikidocs.net/images/page/60683/%EB%A0%90%EB%A3%A8%ED%95%A8%EC%88%98.PNG">
              <a:extLst>
                <a:ext uri="{FF2B5EF4-FFF2-40B4-BE49-F238E27FC236}">
                  <a16:creationId xmlns:a16="http://schemas.microsoft.com/office/drawing/2014/main" id="{822D4E4F-D030-44BB-9F43-E0859BE69C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4618" y="4671867"/>
              <a:ext cx="3108353" cy="2152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6" descr="https://wikidocs.net/images/page/60683/%EC%86%8C%ED%94%84%ED%8A%B8%EB%A7%A5%EC%8A%A4.PNG">
              <a:extLst>
                <a:ext uri="{FF2B5EF4-FFF2-40B4-BE49-F238E27FC236}">
                  <a16:creationId xmlns:a16="http://schemas.microsoft.com/office/drawing/2014/main" id="{FBE09D7D-5E56-4CEB-9FAD-FBA2EC936E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6681" y="2305050"/>
              <a:ext cx="3324225" cy="2247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3AE9A90A-323F-4521-A204-94A0991BB3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636008"/>
            <a:ext cx="628738" cy="415367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3DCD049F-6EBB-45BE-8A99-2710B53881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2658" y="4665315"/>
            <a:ext cx="796783" cy="20523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86FE8DC7-27AB-4B43-9C8E-A70F753A65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3402" y="4594794"/>
            <a:ext cx="590632" cy="5515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학습 방법 — 지도학습, 비지도학습, 자기지도학습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지도학습 (Supervised Learning)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레이블(정답)이 있는 데이터로 학습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입력과 정답을 쌍으로 제공 → 패턴 학습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이미지 분류, 감정 분석, 객체 탐지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사진은 고양이" → 고양이를 학습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비지도학습 (Unsupervised Learning)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813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레이블 없는 데이터로 학습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데이터의 구조나 패턴을 스스로 찾음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클러스터링, 차원 축소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비슷한 뉴스끼리 자동으로 묶기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2918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자기지도학습</a:t>
            </a: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(Self-Supervised Learning)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63016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자체에서 지도 신호를 생성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레이블 없는 데이터 활용 가능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BERT(마스크된 단어 예측)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GPT(다음 단어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154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2918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강화학습 (Reinforcement Learning)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63016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환경과 상호작용하며 보상을 최대화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시행착오를 통해 최적의 행동 전략 학습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게임 AI, 로봇 제어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ChatGPT의 RLHF(인간 피드백 강화학습)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분리와 학습 단위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222891" cy="2547277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2718823" cy="203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분리 (Splitting Data)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2718823" cy="1978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학습용 (Training Data)</a:t>
            </a:r>
            <a:endParaRPr lang="en-US" sz="1000" b="1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모델 학습에 사용. 전체의 70~80%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비유: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풀기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검증용 (Validation Data)</a:t>
            </a:r>
            <a:endParaRPr lang="en-US" sz="1000" b="1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학습 중간에 성능 점검. 약 10~15%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비유: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모의고사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평가용 (Test Data)</a:t>
            </a:r>
            <a:endParaRPr lang="en-US" sz="1000" b="1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최종 성능 측정. 약 10~15%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비유: 실제 시험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학습 과정에 절대 사용하지 않음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62971" y="1017187"/>
            <a:ext cx="2695526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45851" y="1062907"/>
            <a:ext cx="24388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</a:t>
            </a: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(training) </a:t>
            </a:r>
            <a:r>
              <a:rPr lang="ko-KR" alt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</a:t>
            </a: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용어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45851" y="1428667"/>
            <a:ext cx="243880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크기 (Batch Size)</a:t>
            </a:r>
            <a:endParaRPr lang="en-US" sz="1000" b="1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한 번에 모델에 넣는 데이터 수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예: 전체 2000개, 배치 200 → 10개 배치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이터레이션 (Iteration = Step)</a:t>
            </a:r>
            <a:endParaRPr lang="en-US" sz="1000" b="1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 에포크를 끝내기 위한 배치 처리 횟수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위 예시에서 이터레이션 = 10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매 이터레이션마다 가중치 업데이트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에포크 (Epoch)</a:t>
            </a:r>
            <a:endParaRPr lang="en-US" sz="1000" b="1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전체 데이터를 1회 순전파+역전파 완료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에포크 10 = 전체 데이터로 10번 학습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에포크가 너무 많으면 과적합 위험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91978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그림 참고: wikidocs.net/images/page/36033/batchandepochiteration.PNG</a:t>
            </a:r>
            <a:endParaRPr lang="en-US" sz="8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7ED8F24-F538-4F6D-9706-87AEE43EA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76" y="3671989"/>
            <a:ext cx="3590215" cy="1222786"/>
          </a:xfrm>
          <a:prstGeom prst="rect">
            <a:avLst/>
          </a:prstGeom>
        </p:spPr>
      </p:pic>
      <p:pic>
        <p:nvPicPr>
          <p:cNvPr id="13" name="Picture 2" descr="https://wikidocs.net/images/page/36033/batchandepochiteration.PNG">
            <a:extLst>
              <a:ext uri="{FF2B5EF4-FFF2-40B4-BE49-F238E27FC236}">
                <a16:creationId xmlns:a16="http://schemas.microsoft.com/office/drawing/2014/main" id="{DE3361C4-E2F2-47F1-AB82-EAA43DDA8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40" y="1953948"/>
            <a:ext cx="2402623" cy="2812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순전파 (Forward Propagation) — 예측 만들기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95331"/>
            <a:ext cx="8229600" cy="160599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78211"/>
            <a:ext cx="320040" cy="148311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78211"/>
            <a:ext cx="320040" cy="148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050779"/>
            <a:ext cx="1371600" cy="127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받기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306811"/>
            <a:ext cx="2286000" cy="105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 입력층에 들어감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0" y="1123931"/>
            <a:ext cx="274320" cy="127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1078211"/>
            <a:ext cx="320040" cy="148311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078211"/>
            <a:ext cx="320040" cy="148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94760" y="1050779"/>
            <a:ext cx="1371600" cy="127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선형 변환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1306811"/>
            <a:ext cx="1828800" cy="169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W*x + b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(가중치 곱 + 편향)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77840" y="1123931"/>
            <a:ext cx="274320" cy="127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35040" y="1078211"/>
            <a:ext cx="320040" cy="148311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078211"/>
            <a:ext cx="320040" cy="148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1050779"/>
            <a:ext cx="1371600" cy="127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활성화 함수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1306811"/>
            <a:ext cx="1645920" cy="169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f(z)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(비선형 변환)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94560" y="1653503"/>
            <a:ext cx="4572000" cy="127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100" b="1" dirty="0" err="1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</a:t>
            </a:r>
            <a:r>
              <a:rPr lang="en-US" sz="1100" b="1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(은닉층 통과)  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1950779"/>
            <a:ext cx="320040" cy="148311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963139"/>
            <a:ext cx="320040" cy="17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94760" y="1963139"/>
            <a:ext cx="2743200" cy="127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출력층에서 예측 생성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03320" y="2202571"/>
            <a:ext cx="4114800" cy="105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분류: Softmax로 확률 출력  |  회귀: 그대로 수치 출력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7577" y="2642171"/>
            <a:ext cx="3321423" cy="1906924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7577" y="2642171"/>
            <a:ext cx="45719" cy="1145274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27" name="Text 25"/>
          <p:cNvSpPr/>
          <p:nvPr/>
        </p:nvSpPr>
        <p:spPr>
          <a:xfrm>
            <a:off x="381897" y="2687891"/>
            <a:ext cx="1924345" cy="24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순전파의 핵심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1897" y="3007930"/>
            <a:ext cx="2837329" cy="1326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입력층 → 은닉층 → 출력층 방향으로 한 방향 연산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층에서 "선형 변환(Wx+b) → 활성화 함수" 반복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출력층에서 예측값(y-hat) 생성 → 이 예측값과 실제값의 차이를 손실함수로 계산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초기에는 가중치가 무작위이므로 예측이 엉터리 → 역전파로 가중치를 조정해야 함</a:t>
            </a:r>
            <a:endParaRPr lang="en-US" sz="950" dirty="0"/>
          </a:p>
        </p:txBody>
      </p:sp>
      <p:pic>
        <p:nvPicPr>
          <p:cNvPr id="29" name="Picture 4" descr="https://wikidocs.net/images/page/36033/%EC%88%9C%EC%A0%84%ED%8C%8C.PNG">
            <a:extLst>
              <a:ext uri="{FF2B5EF4-FFF2-40B4-BE49-F238E27FC236}">
                <a16:creationId xmlns:a16="http://schemas.microsoft.com/office/drawing/2014/main" id="{CD1A3D6D-5A52-4FC1-964A-71971EA84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546" y="2674263"/>
            <a:ext cx="3175646" cy="1763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https://wikidocs.net/images/page/150781/parallel_nn.PNG">
            <a:extLst>
              <a:ext uri="{FF2B5EF4-FFF2-40B4-BE49-F238E27FC236}">
                <a16:creationId xmlns:a16="http://schemas.microsoft.com/office/drawing/2014/main" id="{6B777296-7455-4DA4-A42C-2EE1DE349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738" y="2708194"/>
            <a:ext cx="2403356" cy="172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역전파 (Backpropagation) — 가중치 업데이트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7576" y="898264"/>
            <a:ext cx="3388659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0456" y="943984"/>
            <a:ext cx="31422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역전파란?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0456" y="1309744"/>
            <a:ext cx="3142211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출력층 → 은닉층 → 입력층 방향으로 거꾸로 계산하며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가중치(W)와 편향(b)을 업데이트하는 과정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원리: 미분의 연쇄법칙 (Chain Rule)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"최종 오차가 각 가중치에 얼마나 영향을 미쳤는가?"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를 역방향으로 추적하며 계산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비유: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시험(순전파)을 보고 틀린 문제(손실)를 확인한 뒤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어디서 틀렸는지 거꾸로 추적(역전파)하며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공부 방법(가중치)을 수정하는 과정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수학적 표현: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dL/dW = dL/dy * dy/dz * dz/dW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(연쇄법칙으로 각 가중치에 대한 기울기 계산)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이 기울기 방향으로 가중치를 조정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2126" y="898264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5006" y="943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미분 기호 정리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5006" y="1309744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dy/dx: </a:t>
            </a: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미분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(순간 변화율, 접선 기울기)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y/partial x: 편미분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(다변수 함수에서 x에 대한 변화율)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nabla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그래디언트(기울기 </a:t>
            </a: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(모든 변수에 대한 편미분 모음)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62126" y="2955664"/>
            <a:ext cx="2926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5006" y="30013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기울기 소실 문제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5006" y="3367144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시그모이드 미분값: h*(1-h)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출력이 0이나 1에 가까우면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미분값이 거의 0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연쇄법칙으로 계속 곱하면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기하급수적으로 작아짐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층이 깊을수록 심각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해결: ReLU 사용, 잔차 연결 등</a:t>
            </a:r>
            <a:endParaRPr lang="en-US" sz="9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020D33B-A82F-4531-9AD2-EDA3A1E2B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882" y="2398058"/>
            <a:ext cx="1708242" cy="160505"/>
          </a:xfrm>
          <a:prstGeom prst="rect">
            <a:avLst/>
          </a:prstGeom>
        </p:spPr>
      </p:pic>
      <p:pic>
        <p:nvPicPr>
          <p:cNvPr id="17" name="Picture 3" descr="https://wikidocs.net/images/page/37406/backpropagation_4.PNG">
            <a:extLst>
              <a:ext uri="{FF2B5EF4-FFF2-40B4-BE49-F238E27FC236}">
                <a16:creationId xmlns:a16="http://schemas.microsoft.com/office/drawing/2014/main" id="{12D90A67-8B7A-479E-96D8-3C1619515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39" y="1158937"/>
            <a:ext cx="2589903" cy="156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33CB276C-A9BE-4906-822C-F404DCE8A63E}"/>
              </a:ext>
            </a:extLst>
          </p:cNvPr>
          <p:cNvGrpSpPr/>
          <p:nvPr/>
        </p:nvGrpSpPr>
        <p:grpSpPr>
          <a:xfrm>
            <a:off x="6729758" y="3001384"/>
            <a:ext cx="2306666" cy="1765598"/>
            <a:chOff x="7910285" y="3717102"/>
            <a:chExt cx="3831771" cy="2543825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BDB4A043-A0D0-4ED3-9112-870657087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65733" y="4351744"/>
              <a:ext cx="2658944" cy="653839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C5041F46-234D-481F-97B8-EA6DF4B8C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53140" y="5159517"/>
              <a:ext cx="2751598" cy="465059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F9B8F4EE-2031-41B7-BF43-C06C36670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62833" y="5805558"/>
              <a:ext cx="2741905" cy="455369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D891208-15AC-461A-AA47-1E7E937D6DB9}"/>
                </a:ext>
              </a:extLst>
            </p:cNvPr>
            <p:cNvSpPr txBox="1"/>
            <p:nvPr/>
          </p:nvSpPr>
          <p:spPr>
            <a:xfrm>
              <a:off x="7910285" y="3717102"/>
              <a:ext cx="3831771" cy="939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w₁ </a:t>
              </a:r>
              <a:r>
                <a:rPr lang="ko-KR" altLang="en-US" sz="1000" dirty="0"/>
                <a:t>업데이트</a:t>
              </a:r>
              <a:r>
                <a:rPr lang="en-US" altLang="ko-KR" sz="1000" dirty="0"/>
                <a:t>: </a:t>
              </a:r>
              <a:r>
                <a:rPr lang="ko-KR" altLang="en-US" sz="1000" dirty="0"/>
                <a:t>아래 미분 값이 </a:t>
              </a:r>
              <a:r>
                <a:rPr lang="en-US" altLang="ko-KR" sz="1000" dirty="0"/>
                <a:t>0</a:t>
              </a:r>
              <a:r>
                <a:rPr lang="ko-KR" altLang="en-US" sz="1000" dirty="0"/>
                <a:t>에 </a:t>
              </a:r>
              <a:r>
                <a:rPr lang="ko-KR" altLang="en-US" sz="1000" dirty="0" err="1"/>
                <a:t>가까워짐</a:t>
              </a:r>
              <a:endParaRPr lang="ko-KR" altLang="en-US" sz="1000" dirty="0"/>
            </a:p>
            <a:p>
              <a:endParaRPr lang="ko-KR" altLang="en-US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C26DAC3-686D-4175-89E9-25168467097A}"/>
              </a:ext>
            </a:extLst>
          </p:cNvPr>
          <p:cNvSpPr txBox="1"/>
          <p:nvPr/>
        </p:nvSpPr>
        <p:spPr>
          <a:xfrm>
            <a:off x="290456" y="4868064"/>
            <a:ext cx="20781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https://wikidocs.net/book/2155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손실 함수 (Loss Function) — 예측이 얼마나 틀렸는가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손실 함수(= 비용 함수 = 오차 함수): 예측 값과 실제 값의 차이를 계산하는 함수.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차이가 클수록 손실 값이 크고, 작을수록 손실 값이 작음. 이 값을 최소화하는 가중치(W)와 편향(b)을 찾는 것이 학습의 목표.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5192" y="2286000"/>
            <a:ext cx="2528047" cy="1929653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3938" y="2377440"/>
            <a:ext cx="310462" cy="2501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9" name="Text 7"/>
          <p:cNvSpPr/>
          <p:nvPr/>
        </p:nvSpPr>
        <p:spPr>
          <a:xfrm>
            <a:off x="603938" y="2377440"/>
            <a:ext cx="310462" cy="25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0572" y="2350008"/>
            <a:ext cx="1774068" cy="214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 (평균 제곱 오차)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7126" y="2697480"/>
            <a:ext cx="2173233" cy="1500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Squared Error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용도: 연속형 변수 예측 (회귀)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계산: 예측값과 실제값 차이의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제곱을 평균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주가 예측, 온도 예측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51544" y="2286000"/>
            <a:ext cx="2528047" cy="1929653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0290" y="2377440"/>
            <a:ext cx="310462" cy="2501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4" name="Text 12"/>
          <p:cNvSpPr/>
          <p:nvPr/>
        </p:nvSpPr>
        <p:spPr>
          <a:xfrm>
            <a:off x="3420290" y="2377440"/>
            <a:ext cx="310462" cy="25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2396" y="2350008"/>
            <a:ext cx="1951475" cy="214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Cross-Entropy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3478" y="2697480"/>
            <a:ext cx="2173233" cy="1500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이항 교차 엔트로피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용도: 이진 분류 (2개 클래스)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출력층: Sigmoid 함수 사용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스팸/정상, 양성/음성 분류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58752" y="2286000"/>
            <a:ext cx="2528047" cy="1929653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27498" y="2377440"/>
            <a:ext cx="310462" cy="2501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9" name="Text 17"/>
          <p:cNvSpPr/>
          <p:nvPr/>
        </p:nvSpPr>
        <p:spPr>
          <a:xfrm>
            <a:off x="6227498" y="2377440"/>
            <a:ext cx="310462" cy="25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89604" y="2350008"/>
            <a:ext cx="1951475" cy="214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Cross-Entropy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30686" y="2697480"/>
            <a:ext cx="2173233" cy="1500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범주형 교차 엔트로피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용도: 다중 클래스 분류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출력층: Softmax 함수 사용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개/고양이/새 분류,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감정 분류(긍정/부정/중립)</a:t>
            </a:r>
            <a:endParaRPr lang="en-US" sz="900" dirty="0"/>
          </a:p>
        </p:txBody>
      </p:sp>
      <p:pic>
        <p:nvPicPr>
          <p:cNvPr id="22" name="Picture 2" descr="https://blog.kakaocdn.net/dn/cFUKI8/btrgQA0nq4d/XoqYqN6WHFt2Xe0MeqjcM1/img.jpg">
            <a:extLst>
              <a:ext uri="{FF2B5EF4-FFF2-40B4-BE49-F238E27FC236}">
                <a16:creationId xmlns:a16="http://schemas.microsoft.com/office/drawing/2014/main" id="{8933ADDA-C4F7-4104-91DC-1D2856EF5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572" y="4272751"/>
            <a:ext cx="1062318" cy="482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https://blog.kakaocdn.net/dn/wVm5z/btrgWEUqMWL/WAObueTjyXpIbwlTuO7Wo0/img.jpg">
            <a:extLst>
              <a:ext uri="{FF2B5EF4-FFF2-40B4-BE49-F238E27FC236}">
                <a16:creationId xmlns:a16="http://schemas.microsoft.com/office/drawing/2014/main" id="{FB281616-C33B-4D3E-8D37-C6CC464E4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436" y="4268221"/>
            <a:ext cx="2462155" cy="440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https://blog.kakaocdn.net/dn/1LYHU/btrgWDBc43I/GJsoMF7iFCklNfd9mI6W70/img.jpg">
            <a:extLst>
              <a:ext uri="{FF2B5EF4-FFF2-40B4-BE49-F238E27FC236}">
                <a16:creationId xmlns:a16="http://schemas.microsoft.com/office/drawing/2014/main" id="{99046897-5FD5-4741-9E90-DBEB04B31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312" y="4263186"/>
            <a:ext cx="1007388" cy="45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경사하강법 (Gradient Descent) 과 학습률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0853" y="960120"/>
            <a:ext cx="3032312" cy="3874098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83733" y="1005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경사하강법이란?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733" y="1371600"/>
            <a:ext cx="27808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손실 함수의 값을 최소화하기 위해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가중치를 조금씩 조정하는 방법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원리: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현재 위치에서 기울기(그래디언트) 계산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기울기의 반대 방향으로 이동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반복하며 최저점(minimum) 탐색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비유: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눈을 감고 산에서 내려가는 것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발밑의 경사를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느끼고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 가장 가파르게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내려가는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방향으로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한 걸음씩 이동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수식: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W(new) = W(old) - learning_rate * dL/dW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(기존 가중치에서 기울기 x 학습률만큼 빼기)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7465" y="960120"/>
            <a:ext cx="2926080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30345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학습률 (Learning Rate)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30345" y="13716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번에 얼마나 이동할지 결정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 크면: 최적점을 지나쳐 발산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 작으면: 학습 속도가 매우 느림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일반적 값: 1e-5, 5e-5, 1e-4, 1e-3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비유: 산을 내려갈 때 보폭의 크기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7465" y="3017520"/>
            <a:ext cx="2926080" cy="1816698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30345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vs Global Minimum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30345" y="34290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Minimum: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국소 최저점 (주변에서 가장 낮음)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Minimum: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전체에서 가장 낮은 진짜 최저점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경사하강법은 local minimum에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빠질 위험 → 옵티마이저로 해결</a:t>
            </a:r>
            <a:endParaRPr lang="en-US" sz="9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C817246-64C8-4879-BF62-F51293AA9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222" y="1015896"/>
            <a:ext cx="2774729" cy="188275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51D9701-E6A3-43E7-820C-4539FA40EA4D}"/>
              </a:ext>
            </a:extLst>
          </p:cNvPr>
          <p:cNvSpPr txBox="1"/>
          <p:nvPr/>
        </p:nvSpPr>
        <p:spPr>
          <a:xfrm>
            <a:off x="369794" y="4961964"/>
            <a:ext cx="25079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https://sanghyu.tistory.com/101</a:t>
            </a:r>
            <a:endParaRPr lang="ko-KR" altLang="en-US" sz="900" dirty="0"/>
          </a:p>
        </p:txBody>
      </p:sp>
      <p:pic>
        <p:nvPicPr>
          <p:cNvPr id="22" name="Picture 16" descr="3713179836">
            <a:extLst>
              <a:ext uri="{FF2B5EF4-FFF2-40B4-BE49-F238E27FC236}">
                <a16:creationId xmlns:a16="http://schemas.microsoft.com/office/drawing/2014/main" id="{EE551886-F8D3-4DF7-851F-E36BDF68D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063" y="3050067"/>
            <a:ext cx="2644887" cy="1919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옵티마이저 (Optimizer) — 더 똑똑한 경사하강법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옵티마이저: 손실 함수 값을 최소화하도록 가중치를 조정하는 알고리즘. 단순 경사하강법의 문제(느린 수렴, local minimum)를 개선한 다양한 변형 존재.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135043"/>
            <a:ext cx="2779367" cy="1292443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272203"/>
            <a:ext cx="231614" cy="323111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72203"/>
            <a:ext cx="231614" cy="3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244771"/>
            <a:ext cx="2249964" cy="3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SGD (Stochastic Gradient Descent)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79" y="2610532"/>
            <a:ext cx="2514665" cy="69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데이터 대신 미니배치(Mini-Batch) 사용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계산량 감소, 빠른 학습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하지만 진동이 심하고 수렴 느릴 수 있음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4610" y="2130950"/>
            <a:ext cx="2779367" cy="1292443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1770" y="2208594"/>
            <a:ext cx="231614" cy="323111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4" name="Text 12"/>
          <p:cNvSpPr/>
          <p:nvPr/>
        </p:nvSpPr>
        <p:spPr>
          <a:xfrm>
            <a:off x="3471770" y="2208594"/>
            <a:ext cx="231614" cy="3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3250" y="2240678"/>
            <a:ext cx="2249964" cy="3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17489" y="2606439"/>
            <a:ext cx="2514665" cy="69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그래디언트의 방향성을 유지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관성처럼 같은 방향으로 계속 이동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진동을 줄이고 빠르게 수렴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43803"/>
            <a:ext cx="2779367" cy="1193937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780963"/>
            <a:ext cx="231614" cy="323111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780963"/>
            <a:ext cx="231614" cy="3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753531"/>
            <a:ext cx="2249964" cy="3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RMSProp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79" y="4119291"/>
            <a:ext cx="2514665" cy="461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그래디언트의 크기를 정규화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학습률을 자동으로 조정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파라미터마다 다른 학습률 적용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4610" y="3639710"/>
            <a:ext cx="2779367" cy="1203733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1770" y="3717354"/>
            <a:ext cx="231614" cy="323111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4" name="Text 22"/>
          <p:cNvSpPr/>
          <p:nvPr/>
        </p:nvSpPr>
        <p:spPr>
          <a:xfrm>
            <a:off x="3471770" y="3717354"/>
            <a:ext cx="231614" cy="3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83250" y="3749438"/>
            <a:ext cx="2249964" cy="3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(가장 많이 사용)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17489" y="4115198"/>
            <a:ext cx="2514665" cy="461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+ RMSProp 장점 결합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방향성 유지 + 학습률 자동 조정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대부분의 딥러닝에서 기본 선택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0230" y="496231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needjarvis.tistory.com/685</a:t>
            </a:r>
            <a:endParaRPr lang="en-US" sz="800" dirty="0"/>
          </a:p>
        </p:txBody>
      </p:sp>
      <p:pic>
        <p:nvPicPr>
          <p:cNvPr id="28" name="Picture 2" descr="https://blog.kakaocdn.net/dn/skVjU/btq6AuBPHqG/Mv8mirqP1DXFbkepoLsksK/img.png">
            <a:extLst>
              <a:ext uri="{FF2B5EF4-FFF2-40B4-BE49-F238E27FC236}">
                <a16:creationId xmlns:a16="http://schemas.microsoft.com/office/drawing/2014/main" id="{33DEE03E-B44D-41B8-A852-62EB80F42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020" y="2182610"/>
            <a:ext cx="2953369" cy="208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분류 성능 평가 — 혼동 행렬과 주요 지표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혼동 행렬 (Confusion Matrix)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3474720" cy="14173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예측: 양성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예측: 음성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실제: 양성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 (True Positive)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맞게 양성 예측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FN (False Negative)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양성을 음성으로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실제: 음성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 (False Positive)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음성을 양성으로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TN (True Negative)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맞게 음성 예측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2926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TP: 실제 양성을 양성으로 정확히 예측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TN: 실제 음성을 음성으로 정확히 예측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FP: 실제 음성을 양성으로 잘못 예측 (오탐)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FN: 실제 양성을 음성으로 잘못 예측 (미탐)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846320" y="1005840"/>
            <a:ext cx="38404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평가 지표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0" y="141732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(Accuracy)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(TP + TN) / 전체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전체 중 맞힌 비율. 불균형 데이터에서 함정 있음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정밀도 (Precision)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TP / (TP + FP)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양성으로 예측한 것 중 실제 양성 비율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"양성 예측을 얼마나 믿을 수 있나?"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재현율 (Recall)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TP / (TP + FN)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실제 양성 중 얼마나 찾아냈는가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"빠뜨리지 않고 얼마나 잘 찾나?"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 * (Precision * Recall) / (Precision + Recall)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정밀도와 재현율의 조화 평균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딥러닝의 작동 원리 — 전체 흐름 종합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207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초기화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가중치(W)와 편향(b)을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무작위로 초기화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5468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12344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94760" y="1207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순전파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데이터가 모든 층을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통과하여 예측값 생성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0644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1207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손실 계산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예측값과 실제값의 차이를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손실 함수로 계산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288036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역전파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오차를 이용해 각 가중치의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그래디언트(기울기) 계산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5468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83280" y="288036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94760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 업데이트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94760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옵티마이저를 사용해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기울기 방향으로 가중치 조정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064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35040" y="288036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46520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성능 도달 또는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지정 에포크까지 반복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77240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40080" y="374904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3749040"/>
            <a:ext cx="64008" cy="77724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38404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과정 전체를 한 줄로 요약하면: "예측하고(순전파) → 틀린 정도를 계산하고(손실) → 어디서 틀렸는지 추적하고(역전파) → 고치는(업데이트) 과정의 반복"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딥러닝의 작동 원리 — 전체 흐름 종합</a:t>
            </a:r>
            <a:endParaRPr lang="en-US" sz="2400" dirty="0"/>
          </a:p>
        </p:txBody>
      </p:sp>
      <p:pic>
        <p:nvPicPr>
          <p:cNvPr id="38" name="내용 개체 틀 7">
            <a:extLst>
              <a:ext uri="{FF2B5EF4-FFF2-40B4-BE49-F238E27FC236}">
                <a16:creationId xmlns:a16="http://schemas.microsoft.com/office/drawing/2014/main" id="{1A6E7FAA-05E3-4550-AF92-18A1A3555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078847"/>
            <a:ext cx="6965306" cy="38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626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과적합 (Overfitting) 방지 기법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과적합: 학습 데이터에는 높은 성능을 보이지만 새로운 데이터에는 낮은 성능. 모델이 데이터의 패턴이 아닌 노이즈까지 외워버린 상태. 비유: 기출 문제만 달달 외워서 새 문제를 못 푸는 학생.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33172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304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양 증가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700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 적으면 노이즈까지 학습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증강(Data Augmentation):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회전, 반전, 크롭 등으로 확대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21945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33172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6360" y="2304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드롭아웃 (Dropout)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6700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중 일부 뉴런을 무작위 비활성화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특정 뉴런 의존 방지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서로 다른 신경망 앙상블 효과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3840480" cy="1280158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8404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813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1788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오차가 증가하기 시작하면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학습을 중단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이상 학습해도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성능이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나빠지는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시점을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자동 감지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3703319"/>
            <a:ext cx="3840480" cy="1280159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8404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3813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 규제 (Regularization)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41788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규제: 가중치 절대값 합을 손실에 추가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규제: 가중치 제곱합을 손실에 추가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가중치가 너무 커지는 것을 방지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기울기 소실 (Vanishing) 과 폭주 (Exploding) 방지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기울기 소실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역전파 중 그래디언트가 점점 작아져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입력층에 가까운 층의 가중치가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거의 업데이트되지 않는 문제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기울기 폭주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그래디언트가 매우 큰 값으로 발산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가중치가 극단적으로 변해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학습이 불안정해지는 문제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방법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7863840" cy="1600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가중치 초기화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균등/정규 분포로 적절히 초기화 (Xavier, He 초기화)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소실+폭주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배치 정규화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활성화 함수 통과 전에 평균/분산으로 정규화 (배치 기준)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소실+폭주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레이어 정규화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하나의 샘플 안에서 모든 뉴런 기준 정규화 (Transformer에서 사용)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소실+폭주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ReLU 계열 사용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시그모이드 대신 ReLU/Leaky ReLU를 은닉층에 사용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잔차 연결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입력값을 다음 층 출력에 직접 더함 (ResNet, Transformer)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그래디언트 클리핑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그래디언트 크기에 상한선 설정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폭주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3142</Words>
  <Application>Microsoft Office PowerPoint</Application>
  <PresentationFormat>화면 슬라이드 쇼(16:9)</PresentationFormat>
  <Paragraphs>508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딥러닝 기초</dc:title>
  <dc:subject>PptxGenJS Presentation</dc:subject>
  <dc:creator>이종혁</dc:creator>
  <cp:lastModifiedBy>jh</cp:lastModifiedBy>
  <cp:revision>20</cp:revision>
  <dcterms:created xsi:type="dcterms:W3CDTF">2026-04-05T04:10:37Z</dcterms:created>
  <dcterms:modified xsi:type="dcterms:W3CDTF">2026-04-05T12:39:46Z</dcterms:modified>
</cp:coreProperties>
</file>