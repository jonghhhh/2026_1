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1" r:id="rId14"/>
    <p:sldId id="272" r:id="rId15"/>
    <p:sldId id="273" r:id="rId16"/>
    <p:sldId id="275" r:id="rId17"/>
    <p:sldId id="274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4223" autoAdjust="0"/>
  </p:normalViewPr>
  <p:slideViewPr>
    <p:cSldViewPr snapToGrid="0" snapToObjects="1">
      <p:cViewPr varScale="1">
        <p:scale>
          <a:sx n="101" d="100"/>
          <a:sy n="101" d="100"/>
        </p:scale>
        <p:origin x="11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4444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FLOPS</a:t>
            </a:r>
            <a:r>
              <a:rPr lang="ko-KR" altLang="en-US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란</a:t>
            </a:r>
            <a:r>
              <a:rPr lang="en-US" altLang="ko-KR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?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altLang="ko-KR" b="0" i="0" dirty="0" err="1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FLoating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 point Operations Per Second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의 약자로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컴퓨터가 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초 동안 실수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소수점 있는 수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) 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계산을 몇 번 할 수 있는지를 나타내는 척도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컴퓨터 비전 연구 및 개발에서 표준으로 자리 잡은 주요 전통적 이미지 데이터셋들은 다음과 같습니다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l"/>
            <a:r>
              <a:rPr lang="en-US" altLang="ko-KR" b="1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1. COCO (Common Objects in Context) </a:t>
            </a:r>
            <a:r>
              <a:rPr lang="en-US" altLang="ko-KR" b="0" i="0" dirty="0" err="1">
                <a:solidFill>
                  <a:srgbClr val="545D7E"/>
                </a:solidFill>
                <a:effectLst/>
                <a:latin typeface="Arial" panose="020B0604020202020204" pitchFamily="34" charset="0"/>
              </a:rPr>
              <a:t>Ultralytics</a:t>
            </a:r>
            <a:r>
              <a:rPr lang="en-US" altLang="ko-KR" b="0" i="0" dirty="0">
                <a:solidFill>
                  <a:srgbClr val="545D7E"/>
                </a:solidFill>
                <a:effectLst/>
                <a:latin typeface="Arial" panose="020B0604020202020204" pitchFamily="34" charset="0"/>
              </a:rPr>
              <a:t> YOLO Docs +1</a:t>
            </a:r>
            <a:endParaRPr lang="ko-KR" altLang="en-US" b="1" i="0" dirty="0">
              <a:solidFill>
                <a:srgbClr val="001D35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특징</a:t>
            </a:r>
            <a:r>
              <a:rPr lang="en-US" altLang="ko-KR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 대규모 객체 탐지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(Detection), 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세그먼테이션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(Segmentation), </a:t>
            </a:r>
            <a:r>
              <a:rPr lang="ko-KR" altLang="en-US" b="0" i="0" dirty="0" err="1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캡셔닝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(Captioning) </a:t>
            </a:r>
            <a:r>
              <a:rPr lang="ko-KR" altLang="en-US" b="0" i="0" dirty="0" err="1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데이터셋입니다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용도</a:t>
            </a:r>
            <a:r>
              <a:rPr lang="en-US" altLang="ko-KR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 객체 검출 모델의 성능 벤치마크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(YOLO 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등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로 가장 널리 사용됩니다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구성</a:t>
            </a:r>
            <a:r>
              <a:rPr lang="en-US" altLang="ko-KR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2017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년 데이터셋 기준 학습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(118,287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개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), 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검증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(5,000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개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) 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세트로 구성되어 있으며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복잡한 배경 속의 일상적인 객체들을 포함합니다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ko-KR" altLang="en-US" b="0" i="0" dirty="0">
                <a:solidFill>
                  <a:srgbClr val="545D7E"/>
                </a:solidFill>
                <a:effectLst/>
                <a:latin typeface="Arial" panose="020B0604020202020204" pitchFamily="34" charset="0"/>
              </a:rPr>
              <a:t>티스토리 </a:t>
            </a:r>
            <a:r>
              <a:rPr lang="en-US" altLang="ko-KR" b="0" i="0" dirty="0">
                <a:solidFill>
                  <a:srgbClr val="545D7E"/>
                </a:solidFill>
                <a:effectLst/>
                <a:latin typeface="Arial" panose="020B0604020202020204" pitchFamily="34" charset="0"/>
              </a:rPr>
              <a:t>+2</a:t>
            </a:r>
            <a:endParaRPr lang="ko-KR" altLang="en-US" b="0" i="0" dirty="0">
              <a:solidFill>
                <a:srgbClr val="0A0A0A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altLang="ko-KR" b="1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2. ImageNet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특징</a:t>
            </a:r>
            <a:r>
              <a:rPr lang="en-US" altLang="ko-KR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1,000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개 이상의 카테고리와 수백만 장의 이미지를 포함하는 초대형 </a:t>
            </a:r>
            <a:r>
              <a:rPr lang="ko-KR" altLang="en-US" b="0" i="0" dirty="0" err="1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데이터셋입니다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용도</a:t>
            </a:r>
            <a:r>
              <a:rPr lang="en-US" altLang="ko-KR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 이미지 분류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(Classification) 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및 사전 학습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(Pre-training) 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모델의 표준입니다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딥러닝 영상 인식 기술 발전에 가장 큰 기여를 한 데이터셋으로 평가받습니다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. </a:t>
            </a:r>
          </a:p>
          <a:p>
            <a:pPr algn="l"/>
            <a:r>
              <a:rPr lang="en-US" altLang="ko-KR" b="1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3. Pascal VOC (Visual Object Classes)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특징</a:t>
            </a:r>
            <a:r>
              <a:rPr lang="en-US" altLang="ko-KR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COCO 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이전에 가장 대중적으로 사용되던 객체 검출 </a:t>
            </a:r>
            <a:r>
              <a:rPr lang="ko-KR" altLang="en-US" b="0" i="0" dirty="0" err="1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데이터셋입니다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용도</a:t>
            </a:r>
            <a:r>
              <a:rPr lang="en-US" altLang="ko-KR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 객체 검출 및 세그먼테이션의 기초 벤치마크로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, 20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가지 클래스에 대한 라벨링이 포함되어 있습니다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. </a:t>
            </a:r>
          </a:p>
          <a:p>
            <a:pPr algn="l"/>
            <a:r>
              <a:rPr lang="en-US" altLang="ko-KR" b="1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4. MNIST / CIFAR-10 / CIFAR-100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특징</a:t>
            </a:r>
            <a:r>
              <a:rPr lang="en-US" altLang="ko-KR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 소규모 이미지 분류 </a:t>
            </a:r>
            <a:r>
              <a:rPr lang="ko-KR" altLang="en-US" b="0" i="0" dirty="0" err="1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데이터셋입니다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MNIST: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0~9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까지의 </a:t>
            </a:r>
            <a:r>
              <a:rPr lang="ko-KR" altLang="en-US" b="0" i="0" dirty="0" err="1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손글씨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 숫자 데이터셋 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초보자용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CIFAR-10/100: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10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개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/100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개의 클래스를 가진 작은 컬러 이미지 데이터셋으로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간단한 모델의 성능 검증에 주로 사용됩니다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. </a:t>
            </a:r>
          </a:p>
          <a:p>
            <a:pPr algn="l"/>
            <a:r>
              <a:rPr lang="en-US" altLang="ko-KR" b="1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5. Open Images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특징</a:t>
            </a:r>
            <a:r>
              <a:rPr lang="en-US" altLang="ko-KR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 구글에서 제공하는 대규모 이미지 데이터셋으로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, COCO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보다 더 많은 이미지와 클래스를 포함하며 풍부한 주석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(Annotation)</a:t>
            </a:r>
            <a:r>
              <a:rPr lang="ko-KR" alt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을 제공합니다</a:t>
            </a:r>
            <a:r>
              <a:rPr lang="en-US" altLang="ko-KR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.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173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7315"/>
          </a:xfrm>
          <a:prstGeom prst="rect">
            <a:avLst/>
          </a:prstGeom>
          <a:solidFill>
            <a:srgbClr val="5A7FBF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RNN과 CNN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시퀀스 데이터와 이미지 데이터의 처리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77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이종혁</a:t>
            </a:r>
            <a:r>
              <a:rPr lang="en-US" sz="1200" dirty="0">
                <a:solidFill>
                  <a:srgbClr val="77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altLang="ko-KR" sz="1200" dirty="0" err="1">
                <a:solidFill>
                  <a:srgbClr val="77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경희대학교</a:t>
            </a:r>
            <a:r>
              <a:rPr lang="en-US" altLang="ko-KR" sz="1200" dirty="0">
                <a:solidFill>
                  <a:srgbClr val="77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200" dirty="0" err="1">
                <a:solidFill>
                  <a:srgbClr val="77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미디어학과</a:t>
            </a:r>
            <a:r>
              <a:rPr lang="en-US" altLang="ko-KR" sz="1200" dirty="0">
                <a:solidFill>
                  <a:srgbClr val="77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참고: wikidocs.net/book/2155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RNN이 필요한가? — 시퀀스 데이터의 특수성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신경망(FFNN)은 입력 간 순서를 고려하지 않음. 하지만 언어, 음성, 주가 같은 시퀀스 데이터는 순서가 핵심 정보.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"나는 학교에 간다"와 "간다 학교에 나는"은 같은 단어지만 의미가 다름. → 순서를 기억하는 신경망이 필요.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8404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246888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4414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시퀀스 데이터란?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807208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순서가 의미를 가지는 데이터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텍스트: 단어의 나열 순서가 의미 결정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음성: 시간 순서로 파형이 변화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주가: 과거 가격이 미래에 영향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날씨: 어제 기온이 오늘에 영향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2331720"/>
            <a:ext cx="38404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46888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66360" y="24414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FFNN의 한계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2807208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입력을 독립적으로 처리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"이전에 뭐가 나왔는지" 기억 못 함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길이가 고정되어야 함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문장마다 단어 수가 다른 텍스트 처리 불가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RNN: 이전 단계의 출력을 다음 단계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입력으로 전달 → "기억"을 가진 신경망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RNN (Recurrent Neural Network) — 기본 구조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1" y="1005840"/>
            <a:ext cx="2868176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RNN의 핵심 아이디어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261747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은닉층의 출력이 다시 자기 자신의 입력으로 순환(recurrent)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시점 t에서: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h_t = tanh(W_hh * h_(t-1) + W_xh * x_t + b)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h_t: 현재 은닉 상태 (현재의 "기억")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h_(t-1): 이전 은닉 상태 (과거의 "기억")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x_t: 현재 입력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W_hh, W_xh: 학습되는 가중치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비유: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책을 읽을 때 앞 내용을 기억하면서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현재 문장을 이해하는 것과 같음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60719" y="1005840"/>
            <a:ext cx="3187337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051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RNN의 한계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785" y="1291590"/>
            <a:ext cx="292607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의존성 문제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9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시퀀스가</a:t>
            </a: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길어질수록</a:t>
            </a: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초기 정보가 후반부에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미치는 </a:t>
            </a:r>
            <a:r>
              <a:rPr lang="en-US" sz="9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영향이</a:t>
            </a: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사라짐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기울기 소실 문제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역전파 시 </a:t>
            </a:r>
            <a:r>
              <a:rPr lang="en-US" sz="9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그래디언트가</a:t>
            </a: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시간에</a:t>
            </a: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따라 </a:t>
            </a:r>
            <a:r>
              <a:rPr lang="en-US" sz="9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기하급수적</a:t>
            </a: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감소</a:t>
            </a: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40429" y="1005840"/>
            <a:ext cx="225246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23309" y="1051560"/>
            <a:ext cx="19709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 활용 분야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23309" y="1417320"/>
            <a:ext cx="197090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분류 / 감정 분석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기계 번역 (Seq2Seq)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 인식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시계열 예측 (주가, 날씨)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생성</a:t>
            </a:r>
            <a:endParaRPr lang="en-US" sz="95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1AC8F9D-603B-4FE1-8B77-FBA6664AD351}"/>
              </a:ext>
            </a:extLst>
          </p:cNvPr>
          <p:cNvGrpSpPr/>
          <p:nvPr/>
        </p:nvGrpSpPr>
        <p:grpSpPr>
          <a:xfrm>
            <a:off x="4136597" y="2786157"/>
            <a:ext cx="3614005" cy="2247615"/>
            <a:chOff x="4022846" y="1290669"/>
            <a:chExt cx="3614005" cy="2247615"/>
          </a:xfrm>
        </p:grpSpPr>
        <p:pic>
          <p:nvPicPr>
            <p:cNvPr id="15" name="Picture 10" descr="https://wikidocs.net/images/page/22886/rnn_image8_ver2.PNG">
              <a:extLst>
                <a:ext uri="{FF2B5EF4-FFF2-40B4-BE49-F238E27FC236}">
                  <a16:creationId xmlns:a16="http://schemas.microsoft.com/office/drawing/2014/main" id="{C34098BE-4AC2-44BD-9B91-C240426A83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2846" y="1290669"/>
              <a:ext cx="3614005" cy="19510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7A5BB3B2-E2B9-40A8-A53B-D6838A3D29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61909" y="3290599"/>
              <a:ext cx="2705478" cy="24768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 RNN &amp; </a:t>
            </a:r>
            <a:r>
              <a:rPr lang="en-US" sz="24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BiRNN</a:t>
            </a:r>
            <a:endParaRPr lang="en-US" sz="2400" dirty="0"/>
          </a:p>
        </p:txBody>
      </p:sp>
      <p:pic>
        <p:nvPicPr>
          <p:cNvPr id="16" name="Picture 8" descr="https://wikidocs.net/images/page/22886/rnn_image4.5_finalPNG.PNG">
            <a:extLst>
              <a:ext uri="{FF2B5EF4-FFF2-40B4-BE49-F238E27FC236}">
                <a16:creationId xmlns:a16="http://schemas.microsoft.com/office/drawing/2014/main" id="{6D1F6158-0944-420A-B6CE-4455B8C58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" y="2256674"/>
            <a:ext cx="3484517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https://wikidocs.net/images/page/22886/rnn_image6_ver3.PNG">
            <a:extLst>
              <a:ext uri="{FF2B5EF4-FFF2-40B4-BE49-F238E27FC236}">
                <a16:creationId xmlns:a16="http://schemas.microsoft.com/office/drawing/2014/main" id="{DD544315-39C4-4DEE-A0B8-13409CB1F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1985" y="2256673"/>
            <a:ext cx="4143375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Shape 3">
            <a:extLst>
              <a:ext uri="{FF2B5EF4-FFF2-40B4-BE49-F238E27FC236}">
                <a16:creationId xmlns:a16="http://schemas.microsoft.com/office/drawing/2014/main" id="{F24507D0-FBC3-4B69-A196-99B1CC737CAE}"/>
              </a:ext>
            </a:extLst>
          </p:cNvPr>
          <p:cNvSpPr/>
          <p:nvPr/>
        </p:nvSpPr>
        <p:spPr>
          <a:xfrm>
            <a:off x="489273" y="8648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BFBFD65E-0655-4CF3-920F-AE410ADADFC5}"/>
              </a:ext>
            </a:extLst>
          </p:cNvPr>
          <p:cNvSpPr/>
          <p:nvPr/>
        </p:nvSpPr>
        <p:spPr>
          <a:xfrm>
            <a:off x="626433" y="911202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Deep</a:t>
            </a:r>
            <a:r>
              <a:rPr lang="ko-KR" altLang="en-US" sz="10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altLang="ko-KR" sz="10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RNN (</a:t>
            </a:r>
            <a:r>
              <a:rPr lang="en-US" altLang="ko-KR" sz="1000" b="1" dirty="0"/>
              <a:t>Deep Recurrent Neural Network </a:t>
            </a:r>
            <a:r>
              <a:rPr lang="en-US" altLang="ko-KR" sz="10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) 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: </a:t>
            </a:r>
            <a:r>
              <a:rPr lang="ko-KR" altLang="en-US" sz="10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기본 </a:t>
            </a:r>
            <a:r>
              <a:rPr lang="en-US" altLang="ko-KR" sz="10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RNN</a:t>
            </a:r>
            <a:r>
              <a:rPr lang="ko-KR" altLang="en-US" sz="10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을 수직으로 쌓아 더 깊은 표현력을 갖춤 </a:t>
            </a:r>
            <a:r>
              <a:rPr lang="en-US" altLang="ko-KR" sz="10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000" dirty="0" err="1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BiRNN</a:t>
            </a:r>
            <a:r>
              <a:rPr lang="en-US" altLang="ko-KR" sz="10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 (</a:t>
            </a:r>
            <a:r>
              <a:rPr lang="en-US" altLang="ko-KR" sz="1000" b="1" dirty="0"/>
              <a:t>Bidirectional Recurrent Neural Network</a:t>
            </a:r>
            <a:r>
              <a:rPr lang="en-US" altLang="ko-KR" sz="10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): </a:t>
            </a:r>
            <a:r>
              <a:rPr lang="ko-KR" altLang="en-US" sz="10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시퀀스를 양방향</a:t>
            </a:r>
            <a:r>
              <a:rPr lang="en-US" altLang="ko-KR" sz="10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ko-KR" altLang="en-US" sz="10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순방향과 역방향</a:t>
            </a:r>
            <a:r>
              <a:rPr lang="en-US" altLang="ko-KR" sz="10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)</a:t>
            </a:r>
            <a:r>
              <a:rPr lang="ko-KR" altLang="en-US" sz="10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으로 처리하여 과거와 미래의 정보를 모두 활용</a:t>
            </a:r>
            <a:endParaRPr lang="en-US" altLang="ko-KR" sz="1000" dirty="0">
              <a:solidFill>
                <a:srgbClr val="555555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ko-KR" alt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기울기 소실 </a:t>
            </a:r>
            <a:r>
              <a:rPr lang="en-US" altLang="ko-KR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</a:t>
            </a:r>
            <a:r>
              <a:rPr lang="en-US" altLang="ko-KR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노력</a:t>
            </a:r>
            <a:endParaRPr lang="en-US" sz="1000" dirty="0">
              <a:solidFill>
                <a:srgbClr val="555555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0DCA3F-8A74-45E5-8929-8A4B6347FE9F}"/>
              </a:ext>
            </a:extLst>
          </p:cNvPr>
          <p:cNvSpPr txBox="1"/>
          <p:nvPr/>
        </p:nvSpPr>
        <p:spPr>
          <a:xfrm>
            <a:off x="1779894" y="1925648"/>
            <a:ext cx="11585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Deep RNN                                                              </a:t>
            </a:r>
            <a:r>
              <a:rPr lang="en-US" altLang="ko-KR" b="1" dirty="0" err="1"/>
              <a:t>BiRNN</a:t>
            </a:r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LSTM &amp; </a:t>
            </a:r>
            <a:r>
              <a:rPr lang="en-US" altLang="ko-KR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GRU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52242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LSTM</a:t>
            </a:r>
            <a:r>
              <a:rPr lang="en-US" altLang="ko-KR" sz="10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 (Long Short-Term Memory) 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: 1997년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Hochreiter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&amp; Schmidhuber가 제안. RNN의 장기 의존성 문제를 해결하기 위해 셀 상태(cell state)와 3개의 게이트(gate)를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도입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altLang="ko-KR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altLang="ko-KR" sz="10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망각</a:t>
            </a:r>
            <a:r>
              <a:rPr lang="en-US" altLang="ko-KR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0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게이트</a:t>
            </a:r>
            <a:r>
              <a:rPr lang="en-US" altLang="ko-KR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(Forget Gate), </a:t>
            </a:r>
            <a:r>
              <a:rPr lang="en-US" altLang="ko-KR" sz="10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</a:t>
            </a:r>
            <a:r>
              <a:rPr lang="en-US" altLang="ko-KR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0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게이트</a:t>
            </a:r>
            <a:r>
              <a:rPr lang="en-US" altLang="ko-KR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(Input Gate), </a:t>
            </a:r>
            <a:r>
              <a:rPr lang="en-US" altLang="ko-KR" sz="10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</a:t>
            </a:r>
            <a:r>
              <a:rPr lang="en-US" altLang="ko-KR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0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게이트</a:t>
            </a:r>
            <a:r>
              <a:rPr lang="en-US" altLang="ko-KR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(Output Gate)</a:t>
            </a:r>
            <a:endParaRPr lang="en-US" altLang="ko-KR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비유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컨베이어 벨트(셀 상태)에 정보를 실어 보내되, 어떤 정보를 버릴지(망각), 새로 올릴지(입력), 꺼낼지(출력)를 문지기(게이트)가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</a:t>
            </a:r>
            <a:r>
              <a:rPr lang="en-US" altLang="ko-KR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000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GRU (Gated Recurrent Unit): </a:t>
            </a:r>
            <a:r>
              <a:rPr lang="en-US" altLang="ko-KR" sz="1000" dirty="0" err="1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LSTM의</a:t>
            </a:r>
            <a:r>
              <a:rPr lang="en-US" altLang="ko-KR" sz="1000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altLang="ko-KR" sz="1000" dirty="0" err="1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간소화</a:t>
            </a:r>
            <a:r>
              <a:rPr lang="en-US" sz="1000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.</a:t>
            </a:r>
          </a:p>
        </p:txBody>
      </p:sp>
      <p:pic>
        <p:nvPicPr>
          <p:cNvPr id="23" name="Picture 12" descr="https://wikidocs.net/images/page/22888/vaniila_rnn_and_different_lstm_ver2.PNG">
            <a:extLst>
              <a:ext uri="{FF2B5EF4-FFF2-40B4-BE49-F238E27FC236}">
                <a16:creationId xmlns:a16="http://schemas.microsoft.com/office/drawing/2014/main" id="{A7660B6D-B5FE-4E16-ACF0-15ABD4D40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906" y="2403576"/>
            <a:ext cx="3069648" cy="2400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4" descr="https://wikidocs.net/images/page/22889/gru.PNG">
            <a:extLst>
              <a:ext uri="{FF2B5EF4-FFF2-40B4-BE49-F238E27FC236}">
                <a16:creationId xmlns:a16="http://schemas.microsoft.com/office/drawing/2014/main" id="{DB8D7141-9B86-42F2-A1BD-62E642BEA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1271" y="2403576"/>
            <a:ext cx="2885357" cy="2407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849EA18-C425-4A01-BB4F-BD3EC2A83F0B}"/>
              </a:ext>
            </a:extLst>
          </p:cNvPr>
          <p:cNvSpPr txBox="1"/>
          <p:nvPr/>
        </p:nvSpPr>
        <p:spPr>
          <a:xfrm>
            <a:off x="2123231" y="2075824"/>
            <a:ext cx="11585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LSTM                                                         GRU</a:t>
            </a:r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RNN 활용 패턴 — 입출력 구조별 분류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55524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14300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115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One-to-Many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48132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1개 → 출력 여러 개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이미지 캡셔닝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이미지를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입력하면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문장을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단어 단위로 생성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>
              <a:solidFill>
                <a:srgbClr val="55555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dog is running on the beach"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00584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4300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115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Many-to-One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48132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여러 개 → 출력 1개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감정 분석, 텍스트 분류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문장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전체를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읽고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긍정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/부정 하나를 출력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 영화 정말 좋았어" → 긍정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355524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29184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264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Many-to-Many (동일 길이)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63016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N개 → 출력 N개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품사 태깅, 개체명 인식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단어에 대해 태그 하나씩 출력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"나는/대명사 학교에/명사 간다/동사"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315468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29184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6360" y="3264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Many-to-Many (Seq2Seq)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363016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N개 → 출력 M개 (길이 다를 수 있음)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기계 번역, 요약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인코더가 입력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시퀀스를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압축하고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디코더가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시퀀스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생성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"나는 학생입니다" → "I am a student"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Seq2Seq — 인코더-디코더 구조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Seq2Seq (Sequence-to-Sequence) 모델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554480"/>
            <a:ext cx="64008" cy="1371600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600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인코더 (Encoder)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시퀀스를 하나의 고정 길이 벡터로 압축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입력: "나는 학생입니다" (단어 단위로 순차 입력)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출력: Context Vector (문맥 벡터)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입력 문장의 정보를 압축한 벡터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A7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554480"/>
            <a:ext cx="64008" cy="1371600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600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디코더 (Decoder)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1920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Vector를 받아 출력 시퀀스를 생성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입력: Context Vector + &lt;sos&gt; 토큰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출력: "I am a student &lt;eos&gt;"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한 단어씩 자기회귀적(autoregressive)으로 생성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246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Seq2Seq의 한계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5661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문장이 아무리 길어도 하나의 고정 길이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Vector에 압축해야 함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정보 손실 불가피 (병목 현상)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긴 문장에서 성능 저하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320040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3246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해결: Attention 메커니즘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35661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디코더가 출력할 때마다 </a:t>
            </a:r>
            <a:r>
              <a:rPr lang="en-US" sz="9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인코더의</a:t>
            </a: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</a:t>
            </a: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은닉</a:t>
            </a: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상태를 참조하여 관련 부분에 "주목"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Context Vector 하나에 의존하지 않음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이것이 발전하여 </a:t>
            </a:r>
            <a:r>
              <a:rPr lang="en-US" sz="9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Transformer가</a:t>
            </a: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됨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RNN 계열 모델 종합 비교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223760" cy="30632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 특징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장점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활용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기본 RNN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이전 은닉 상태를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다음 입력에 전달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가변 길이 시퀀스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파라미터 공유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장기 의존성 문제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기울기 소실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짧은 텍스트 분류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간단한 시계열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 RNN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RNN을 수직으로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여러 층 쌓음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더 복잡한 패턴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높은 추상화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계산 비용 증가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기울기 문제 심화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음성 인식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복잡한 NLP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BiRNN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순방향+역방향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양방향 처리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과거+미래 문맥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모두 활용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전체 시퀀스 필요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실시간 불가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품사 태깅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개체명 인식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LSTM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 상태 + 게이트 3개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(망각/입력/출력)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장기 의존성 해결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기울기 소실 완화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파라미터 많음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학습 느림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기계 번역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긴 시계열 예측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게이트 2개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(업데이트/리셋)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LSTM보다 가벼움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빠른 학습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매우 긴 시퀀스에서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LSTM보다 약할 수 있음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감정 분석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짧은 텍스트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02336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4023360"/>
            <a:ext cx="64008" cy="548640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406908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발전 흐름: RNN → Deep RNN → BiRNN → LSTM → GRU → Attention → Transformer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</a:t>
            </a:r>
            <a:r>
              <a:rPr lang="en-US" sz="24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CNN이</a:t>
            </a: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필요한</a:t>
            </a:r>
            <a:r>
              <a:rPr lang="ko-KR" alt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가</a:t>
            </a:r>
            <a:r>
              <a:rPr lang="en-US" altLang="ko-KR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— 이미지 데이터의 특수성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8272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895373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143000"/>
            <a:ext cx="241281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43000"/>
            <a:ext cx="24128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115568"/>
            <a:ext cx="23438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데이터의 구조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481328"/>
            <a:ext cx="2619623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3차원 텐서: 높이 x 너비 x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흑백: 28x28x1 (채널 1개)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컬러(RGB): 28x28x3 (채널 3개)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픽셀은 0~255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사이의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정수값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이 숫자들의 패턴이 이미지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83592" y="1022217"/>
            <a:ext cx="2895373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20752" y="1159377"/>
            <a:ext cx="241281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2" name="Text 10"/>
          <p:cNvSpPr/>
          <p:nvPr/>
        </p:nvSpPr>
        <p:spPr>
          <a:xfrm>
            <a:off x="3620752" y="1159377"/>
            <a:ext cx="24128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32232" y="1131945"/>
            <a:ext cx="23438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</a:t>
            </a: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신경망으로는</a:t>
            </a: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부족</a:t>
            </a: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66472" y="1497705"/>
            <a:ext cx="2619623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28x28 이미지 = 784개 입력 뉴런 필요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224x224x3 이미지 = 150,528개!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문제점: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파라미터 수 폭발 → 과적합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공간적 관계(위치 정보) 무시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옆 픽셀, 위아래 픽셀의 관계 소실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2895373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291840"/>
            <a:ext cx="241281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291840"/>
            <a:ext cx="24128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264408"/>
            <a:ext cx="23438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CNN의 해결 방법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630168"/>
            <a:ext cx="2619623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작은 필터(커널)로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이미지를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훑으며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지역적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특징을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추출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파라미터 공유: 같은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필터를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전체에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적용 → 파라미터 대폭 감소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공간적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구조 보존: 위치 관계 유지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83592" y="3171057"/>
            <a:ext cx="2895373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20752" y="3308217"/>
            <a:ext cx="241281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22" name="Text 20"/>
          <p:cNvSpPr/>
          <p:nvPr/>
        </p:nvSpPr>
        <p:spPr>
          <a:xfrm>
            <a:off x="3620752" y="3308217"/>
            <a:ext cx="24128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32232" y="3280785"/>
            <a:ext cx="23438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생물학적 영감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66472" y="3646545"/>
            <a:ext cx="2619623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Hubel &amp; Wiesel(1959)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고양이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시각 피질의 뉴런이 시야의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일부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영역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(수용영역)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에만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반응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저수준 특징(에지) → 고수준 특징(물체)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구조를 모방 → CNN 탄생</a:t>
            </a:r>
            <a:endParaRPr lang="en-US" sz="10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629857AE-19BA-41D4-9B83-2A702E900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051" y="3154680"/>
            <a:ext cx="2463682" cy="178879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0EC556F5-4D7D-419C-A14E-D788B5B77C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845" y="1077450"/>
            <a:ext cx="2520888" cy="17472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합성곱 연산 (Convolution) — </a:t>
            </a:r>
            <a:r>
              <a:rPr lang="en-US" sz="2400" b="1" dirty="0">
                <a:solidFill>
                  <a:srgbClr val="FF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겹쳐서 곱하고 더하기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66593" y="903345"/>
            <a:ext cx="2988860" cy="4205012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49473" y="949065"/>
            <a:ext cx="240973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합성곱 연산이란?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9473" y="1314825"/>
            <a:ext cx="266267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이미지 위에 작은 필터(커널)를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슬라이딩하며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겹치는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부분끼리 곱하고 모두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더하는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연산</a:t>
            </a:r>
            <a:endParaRPr lang="en-US" sz="1000" dirty="0">
              <a:solidFill>
                <a:srgbClr val="55555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endParaRPr lang="en-US" sz="1000" dirty="0">
              <a:solidFill>
                <a:srgbClr val="55555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용어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</a:p>
          <a:p>
            <a:pPr marL="0" indent="0">
              <a:lnSpc>
                <a:spcPct val="135000"/>
              </a:lnSpc>
              <a:buNone/>
            </a:pP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커널(Kernel) = 필터(Filter)</a:t>
            </a:r>
            <a:endParaRPr lang="en-US" sz="1000" b="1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일반적으로 3x3 또는 5x5 크기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학습을 통해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자동으로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최적화됨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특성 맵(Feature Map)</a:t>
            </a:r>
            <a:endParaRPr lang="en-US" sz="1000" b="1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커널을 통과해 출력된 결과 데이터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각 커널이 다른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특징을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감지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스트라이드(Stride)</a:t>
            </a:r>
            <a:endParaRPr lang="en-US" sz="1000" b="1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필터를 이동하는 간격 (보통 1 또는 2)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패딩(Padding)</a:t>
            </a:r>
            <a:endParaRPr lang="en-US" sz="1000" b="1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입력 데이터 주변을 0으로 채우기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출력 크기를 입력과 동일하게 유지 가능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7542" y="3657600"/>
            <a:ext cx="2572729" cy="1450757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82268" y="3703320"/>
            <a:ext cx="2251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필터가 감지하는 것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82268" y="4069080"/>
            <a:ext cx="225113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층의 </a:t>
            </a:r>
            <a:r>
              <a:rPr lang="en-US" sz="9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필터</a:t>
            </a: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 수평선, 수직선, 대각선 등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에지(edge) </a:t>
            </a:r>
            <a:r>
              <a:rPr lang="en-US" sz="9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감지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 층의 </a:t>
            </a:r>
            <a:r>
              <a:rPr lang="en-US" sz="9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필터</a:t>
            </a: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9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질감</a:t>
            </a: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패턴, 곡선 등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깊은</a:t>
            </a: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층의 </a:t>
            </a:r>
            <a:r>
              <a:rPr lang="en-US" sz="9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필터</a:t>
            </a: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눈, 코, 바퀴 등 복잡한 형태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9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층이</a:t>
            </a: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깊어질수록</a:t>
            </a: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더 고수준의 특징 추출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54997" y="3657600"/>
            <a:ext cx="2190609" cy="1450757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40719" y="3703320"/>
            <a:ext cx="19136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컬러(RGB) 이미지의 경우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40719" y="4069080"/>
            <a:ext cx="2023000" cy="423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필터도 3채널 (R, G, B) 각 채널별 합성곱 </a:t>
            </a:r>
            <a:r>
              <a:rPr lang="en-US" sz="9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결과를</a:t>
            </a: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더해서</a:t>
            </a: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</a:t>
            </a: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특성 맵 </a:t>
            </a:r>
            <a:r>
              <a:rPr lang="en-US" sz="9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</a:t>
            </a:r>
            <a:endParaRPr lang="en-US" sz="9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F3186ED-40C4-4BE7-872B-31BEA1DD8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542" y="928198"/>
            <a:ext cx="3466480" cy="132459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C9992C2-EA58-4A68-8A0F-A112F12831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4378" y="2313117"/>
            <a:ext cx="3240667" cy="124953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5CA9227-CBCD-4D57-B490-F6324CA254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3970" y="2312771"/>
            <a:ext cx="2373643" cy="12388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CNN 전체 구조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8711" y="2291189"/>
            <a:ext cx="318675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5871" y="2382629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3031" y="2365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풀링 (Pooling)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1591" y="2702669"/>
            <a:ext cx="29561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특성 맵의 크기를 줄이는 연산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중요한 특징은 유지하면서 불필요한 </a:t>
            </a:r>
            <a:r>
              <a:rPr lang="en-US" sz="9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세부</a:t>
            </a: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제거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풀링(Max Pooling). </a:t>
            </a:r>
            <a:r>
              <a:rPr lang="en-US" sz="9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</a:t>
            </a: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풀링(Average Pooling)</a:t>
            </a:r>
          </a:p>
          <a:p>
            <a:pPr marL="0" indent="0">
              <a:lnSpc>
                <a:spcPct val="135000"/>
              </a:lnSpc>
              <a:buNone/>
            </a:pP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14300" y="886687"/>
            <a:ext cx="8229600" cy="1261404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97180" y="932407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전체 구조 흐름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8620" y="1389607"/>
            <a:ext cx="256032" cy="256032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8" name="Text 16"/>
          <p:cNvSpPr/>
          <p:nvPr/>
        </p:nvSpPr>
        <p:spPr>
          <a:xfrm>
            <a:off x="388620" y="138960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0372" y="1343887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이미지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90372" y="1755367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224x224x3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577340" y="1435327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A7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760220" y="1389607"/>
            <a:ext cx="256032" cy="256032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23" name="Text 21"/>
          <p:cNvSpPr/>
          <p:nvPr/>
        </p:nvSpPr>
        <p:spPr>
          <a:xfrm>
            <a:off x="1760220" y="138960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61972" y="1343887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합성곱(Conv)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ReLU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061972" y="1755367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특징 추출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948940" y="1435327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A7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131820" y="1389607"/>
            <a:ext cx="256032" cy="256032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28" name="Text 26"/>
          <p:cNvSpPr/>
          <p:nvPr/>
        </p:nvSpPr>
        <p:spPr>
          <a:xfrm>
            <a:off x="3131820" y="138960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33572" y="1343887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풀링(Pool)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33572" y="1755367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크기 축소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320540" y="1435327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A7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03420" y="1389607"/>
            <a:ext cx="256032" cy="256032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33" name="Text 31"/>
          <p:cNvSpPr/>
          <p:nvPr/>
        </p:nvSpPr>
        <p:spPr>
          <a:xfrm>
            <a:off x="4503420" y="138960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05172" y="1343887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Conv+Pool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05172" y="1755367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깊은 특징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92140" y="1435327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A7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875020" y="1389607"/>
            <a:ext cx="256032" cy="256032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38" name="Text 36"/>
          <p:cNvSpPr/>
          <p:nvPr/>
        </p:nvSpPr>
        <p:spPr>
          <a:xfrm>
            <a:off x="5875020" y="138960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76772" y="1343887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76772" y="1755367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1차원 변환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063740" y="1435327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A7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246620" y="1389607"/>
            <a:ext cx="256032" cy="256032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43" name="Text 41"/>
          <p:cNvSpPr/>
          <p:nvPr/>
        </p:nvSpPr>
        <p:spPr>
          <a:xfrm>
            <a:off x="7246620" y="138960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548372" y="1343887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FC층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Softmax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548372" y="1755367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 결과</a:t>
            </a:r>
            <a:endParaRPr lang="en-US" sz="800" dirty="0"/>
          </a:p>
        </p:txBody>
      </p:sp>
      <p:pic>
        <p:nvPicPr>
          <p:cNvPr id="47" name="Picture 2" descr="Understanding Convolutional Neural Networks: A Complete Guide">
            <a:extLst>
              <a:ext uri="{FF2B5EF4-FFF2-40B4-BE49-F238E27FC236}">
                <a16:creationId xmlns:a16="http://schemas.microsoft.com/office/drawing/2014/main" id="{E59E9879-B438-44E5-AA20-52AECEE1A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3572" y="2291189"/>
            <a:ext cx="5585340" cy="2601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Text 11">
            <a:extLst>
              <a:ext uri="{FF2B5EF4-FFF2-40B4-BE49-F238E27FC236}">
                <a16:creationId xmlns:a16="http://schemas.microsoft.com/office/drawing/2014/main" id="{DAAE0553-C5D4-416D-9E45-FB06282C438E}"/>
              </a:ext>
            </a:extLst>
          </p:cNvPr>
          <p:cNvSpPr/>
          <p:nvPr/>
        </p:nvSpPr>
        <p:spPr>
          <a:xfrm>
            <a:off x="385891" y="3249253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전결합층 (Fully Connected)</a:t>
            </a:r>
            <a:endParaRPr lang="en-US" sz="1100" dirty="0"/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EA1677A1-3D8B-4BFC-ACD2-AE7E0C174821}"/>
              </a:ext>
            </a:extLst>
          </p:cNvPr>
          <p:cNvSpPr/>
          <p:nvPr/>
        </p:nvSpPr>
        <p:spPr>
          <a:xfrm>
            <a:off x="299023" y="3573865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합성곱+풀링으로 추출한 </a:t>
            </a:r>
            <a:r>
              <a:rPr lang="en-US" sz="9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특성</a:t>
            </a: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맵을</a:t>
            </a: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1차원 벡터로 펼침(Flatten)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"고양이 0.85, 개 0.10, 새 0.05"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3">
            <a:extLst>
              <a:ext uri="{FF2B5EF4-FFF2-40B4-BE49-F238E27FC236}">
                <a16:creationId xmlns:a16="http://schemas.microsoft.com/office/drawing/2014/main" id="{D2948077-EA42-41C9-B294-76D1B98462D3}"/>
              </a:ext>
            </a:extLst>
          </p:cNvPr>
          <p:cNvSpPr/>
          <p:nvPr/>
        </p:nvSpPr>
        <p:spPr>
          <a:xfrm>
            <a:off x="91440" y="846845"/>
            <a:ext cx="6275241" cy="2544624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CNN 주요 모델의 발전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173040"/>
              </p:ext>
            </p:extLst>
          </p:nvPr>
        </p:nvGraphicFramePr>
        <p:xfrm>
          <a:off x="176056" y="984004"/>
          <a:ext cx="6115560" cy="2162707"/>
        </p:xfrm>
        <a:graphic>
          <a:graphicData uri="http://schemas.openxmlformats.org/drawingml/2006/table">
            <a:tbl>
              <a:tblPr/>
              <a:tblGrid>
                <a:gridCol w="7822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8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38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4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72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연도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 특징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층 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의의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3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LeNet-5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최초의 성공적 CNN. 손글씨 숫자 인식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CNN 구조의 원형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3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AlexNet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ReLU, Dropout, GPU 활용. ImageNet 우승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딥러닝 대중화의 기폭제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3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VGGNet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3x3 작은 필터를 깊게 쌓음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16/19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깊은 네트워크의 효과 입증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3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GoogLeNet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Inception 모듈 (다양한 필터 크기 병렬)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효율적 구조 설계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3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ResNet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잔차 연결(Skip Connection) 도입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50/101/152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초심층 학습 가능 (기울기 소실 해결)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3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EfficientNet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너비, 깊이, 해상도를 균형 있게 스케일링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다양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최소 자원으로 최대 성능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63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이미지를 패치로 분할 후 Transformer 적용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CNN 없이 이미지 분류 가능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76056" y="3794760"/>
            <a:ext cx="8817819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42317" y="3817619"/>
            <a:ext cx="64008" cy="457200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9" name="Text 6"/>
          <p:cNvSpPr/>
          <p:nvPr/>
        </p:nvSpPr>
        <p:spPr>
          <a:xfrm>
            <a:off x="423082" y="3840480"/>
            <a:ext cx="84465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흐름: LeNet(CNN 탄생) → AlexNet(GPU+딥러닝) → VGG(깊게) → ResNet(잔차 연결) → ViT(Transformer로 </a:t>
            </a:r>
            <a:r>
              <a:rPr lang="en-US" sz="12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</a:t>
            </a: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</a:t>
            </a: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1B4E552-2C49-4F1B-B990-8A101E9DA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678" y="846845"/>
            <a:ext cx="2725443" cy="26732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CNN 활용 분야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77241"/>
            <a:ext cx="3840480" cy="14046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91440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914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8869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분류 (Classification)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25272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이미지가 어떤 범주에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속하는지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판별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고양이/개 분류, 의료 영상 진단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흉부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X-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ray에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폐렴이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있는가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?"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VGG,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777240"/>
            <a:ext cx="3840480" cy="140462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1440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914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8869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객체 탐지 (Object Detection)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25272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내 물체의 위치(Bounding Box)와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종류를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동시에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판별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자율주행 차량의 보행자 감지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 사진에서 사람 3명, 차 2대"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YOLO, Faster R-CNN, SSD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81861"/>
            <a:ext cx="3840480" cy="14918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319021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319021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291589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세분화 (Segmentation)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2657349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픽셀이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클래스에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속하는지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분류 (픽셀 단위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의료 영상에서 종양 영역 분할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자율주행에서 도로/보행자/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차량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구분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U-Net,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DeepLab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Mask R-CNN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2181861"/>
            <a:ext cx="3840480" cy="149182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319021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319021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6360" y="2291589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미디어 연구 활용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2657349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뉴스 영상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프레이밍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endParaRPr lang="en-US" sz="1000" dirty="0">
              <a:solidFill>
                <a:srgbClr val="55555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정치인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표정/제스처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코딩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미디어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altLang="ko-KR" sz="10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Image Meme </a:t>
            </a:r>
            <a:r>
              <a:rPr lang="ko-KR" altLang="en-US" sz="10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포함</a:t>
            </a:r>
            <a:r>
              <a:rPr lang="en-US" altLang="ko-KR" sz="10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방송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뉴스 키프레임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추출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후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분류 (앵커/기자/현장 등)</a:t>
            </a:r>
            <a:endParaRPr 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7828D675-EFBE-4DCE-A1AE-322D58F59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475" y="3691977"/>
            <a:ext cx="3767792" cy="17859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 (You Only Look Once) — 실시간 객체 탐지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39"/>
            <a:ext cx="3848100" cy="3918585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YOLO란?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53187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Only Look Once" — 이미지를 한 </a:t>
            </a: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번만</a:t>
            </a: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</a:t>
            </a: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객체의</a:t>
            </a: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위치와 종류를 동시에 예측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방식 (R-CNN 계열):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1단계: 후보 영역(Region) 수천 개 생성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2단계: 각 영역을 분류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느림 (2단계 처리)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방식: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이미지를 NxN 그리드로 분할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각 그리드 셀이 동시에 객체 예측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한 번의 신경망 통과로 완료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실시간 처리 가능 (30fps 이상)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Ultralytics</a:t>
            </a: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라이브러리로 쉽게 사용 가능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55822" y="1005840"/>
            <a:ext cx="292608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38702" y="1051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활용 사례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38702" y="141732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자율주행: 보행자/차량 </a:t>
            </a: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</a:t>
            </a: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감지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CCTV: 이상 </a:t>
            </a: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행동</a:t>
            </a: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탐지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미디어 연구: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방송 화면에서 인물/로고 감지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시위 장면 </a:t>
            </a: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군중</a:t>
            </a: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의료: X-ray에서 병변 탐지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55822" y="3063240"/>
            <a:ext cx="2926080" cy="1861184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38702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사용 예시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38702" y="347472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6350">
            <a:solidFill>
              <a:srgbClr val="DDE1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0142" y="35204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ultralytics import YOLO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YOLO("yolo11n.pt")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model("image.jpg")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results[0].show()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ViT (Vision Transformer) — CNN 없이 이미지 분류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ViT: Transformer를 이미지에 적용 (2020, Google)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527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이미지를 패치로 분할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1828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이미지를 고정 크기의 패치(예: 16x16)로 나눔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224x224 이미지 → 14x14 = 196개 패치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패치를 1차원 벡터로 변환(Flatten)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155448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1527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패치 임베딩 + 위치 인코딩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57800" y="1828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패치 벡터를 임베딩 차원으로 선형 변환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 인코딩(Positional Encoding) 추가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패치의 순서(위치) 정보 보존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265176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624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인코더에 입력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29260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패치 시퀀스를 NLP의 단어 시퀀스처럼 처리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Self-Attention으로 패치 간 관계 학습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멀리 떨어진 패치도 직접 관련성 파악 가능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265176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57800" y="2624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[CLS] 토큰으로 분류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57800" y="29260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BERT처럼 [CLS] 토큰 추가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토큰의 최종 표현을 FC층에 넣어 분류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CNN 없이도 이미지 분류 가능!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3749040"/>
            <a:ext cx="7680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749040"/>
            <a:ext cx="64008" cy="777240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79476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의의: "이미지를 단어 시퀀스처럼 처리" → NLP와 컴퓨터 비전의 통합. 대규모 데이터에서 CNN보다 우수한 성능.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Transformer가 NLP뿐만 아니라 Vision까지 지배하는 시대를 열었음. (Part 3 Transformer에서 상세 설명)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텍스트 이미지 학습데이터셋 찾기</a:t>
            </a:r>
            <a:endParaRPr lang="en-US" sz="24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E744E21-F369-48CB-87E7-6D4A7ED20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872068"/>
              </p:ext>
            </p:extLst>
          </p:nvPr>
        </p:nvGraphicFramePr>
        <p:xfrm>
          <a:off x="400050" y="940595"/>
          <a:ext cx="8315326" cy="3869535"/>
        </p:xfrm>
        <a:graphic>
          <a:graphicData uri="http://schemas.openxmlformats.org/drawingml/2006/table">
            <a:tbl>
              <a:tblPr/>
              <a:tblGrid>
                <a:gridCol w="1691253">
                  <a:extLst>
                    <a:ext uri="{9D8B030D-6E8A-4147-A177-3AD203B41FA5}">
                      <a16:colId xmlns:a16="http://schemas.microsoft.com/office/drawing/2014/main" val="1277664771"/>
                    </a:ext>
                  </a:extLst>
                </a:gridCol>
                <a:gridCol w="2959692">
                  <a:extLst>
                    <a:ext uri="{9D8B030D-6E8A-4147-A177-3AD203B41FA5}">
                      <a16:colId xmlns:a16="http://schemas.microsoft.com/office/drawing/2014/main" val="1630536833"/>
                    </a:ext>
                  </a:extLst>
                </a:gridCol>
                <a:gridCol w="3664381">
                  <a:extLst>
                    <a:ext uri="{9D8B030D-6E8A-4147-A177-3AD203B41FA5}">
                      <a16:colId xmlns:a16="http://schemas.microsoft.com/office/drawing/2014/main" val="3150684243"/>
                    </a:ext>
                  </a:extLst>
                </a:gridCol>
              </a:tblGrid>
              <a:tr h="29811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사이트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특징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890156"/>
                  </a:ext>
                </a:extLst>
              </a:tr>
              <a:tr h="27774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Hugging Face Datasets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2B6CB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huggingface.co/datasets 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NLP+CV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load_dataset() API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499510"/>
                  </a:ext>
                </a:extLst>
              </a:tr>
              <a:tr h="27774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Kaggle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2B6CB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kaggle.com/datasets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커뮤니티 데이터셋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Competition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연계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429863"/>
                  </a:ext>
                </a:extLst>
              </a:tr>
              <a:tr h="27774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Papers With Code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2B6CB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paperswithcode.com/datasets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논문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데이터셋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리더보드 연결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200286"/>
                  </a:ext>
                </a:extLst>
              </a:tr>
              <a:tr h="27774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TensorFlow Datasets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2B6CB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tensorflow.org/datasets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tfds.load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() API,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 포맷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080963"/>
                  </a:ext>
                </a:extLst>
              </a:tr>
              <a:tr h="27774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Ultralytics Docs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2B6CB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docs.ultralytics.com/datasets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YOLO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학습용 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COCO/VOC/Open Images, yaml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제공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972036"/>
                  </a:ext>
                </a:extLst>
              </a:tr>
              <a:tr h="27774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Roboflow Universe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2B6CB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universe.roboflow.com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커스텀 데이터셋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YOLO/COCO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포맷 자동 변환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084821"/>
                  </a:ext>
                </a:extLst>
              </a:tr>
              <a:tr h="27774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Dataset Search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2B6CB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datasetsearch.research.google.com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메타 검색엔진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 분야 통합 검색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929210"/>
                  </a:ext>
                </a:extLst>
              </a:tr>
              <a:tr h="27774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FiftyOne (Voxel51)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2B6CB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docs.voxel51.com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COCO/Open Images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부분 다운로드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시각화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도구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85841"/>
                  </a:ext>
                </a:extLst>
              </a:tr>
              <a:tr h="27774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ICDAR RRC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2B6CB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rrc.cvc.uab.es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검출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인식 벤치마크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(ICDAR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대회 데이터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663148"/>
                  </a:ext>
                </a:extLst>
              </a:tr>
              <a:tr h="238492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3D5A8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▼  한국어 특화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356887"/>
                  </a:ext>
                </a:extLst>
              </a:tr>
              <a:tr h="27774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Hub (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한국어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2B6CB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aihub.or.kr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한국어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NLP/CV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대규모 데이터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감성분석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NER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49363"/>
                  </a:ext>
                </a:extLst>
              </a:tr>
              <a:tr h="27774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KLUE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2B6CB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klue-benchmark.com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한국어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NLU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벤치마크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태스크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(NER, RE, NLI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565003"/>
                  </a:ext>
                </a:extLst>
              </a:tr>
              <a:tr h="277744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모두의 말뭉치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2B6CB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corpus.korean.go.kr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국립국어원 말뭉치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형태소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개체명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등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6283" marR="6283" marT="6283" marB="0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26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80858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RNN vs CNN — 핵심 비교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478353"/>
              </p:ext>
            </p:extLst>
          </p:nvPr>
        </p:nvGraphicFramePr>
        <p:xfrm>
          <a:off x="640080" y="1188720"/>
          <a:ext cx="7863840" cy="27889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RNN 계열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CNN 계열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대상 데이터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시퀀스 (텍스트, 음성, 시계열)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이미지 (2D/3D 공간 데이터)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 연산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순환(Recurrent) — 시간축 따라 전달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합성곱(Convolution) — 필터로 특징 추출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기억/문맥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은닉 상태로 이전 정보 기억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수용 영역(Receptive Field) 내 공간 패턴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병렬 처리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어려움 (순차 처리 필수)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가능 (필터 동시 적용)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대표 모델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LSTM, GRU, BiRNN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ResNet, VGG, YOLO, EfficientNet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현재 추세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Transformer로 대체되는 중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ViT(Transformer)</a:t>
                      </a:r>
                      <a:r>
                        <a:rPr lang="ko-KR" alt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로 대체되는</a:t>
                      </a:r>
                      <a:r>
                        <a:rPr lang="en-US" sz="12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중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160520"/>
            <a:ext cx="7680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4160520"/>
            <a:ext cx="64008" cy="457200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42062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공통점: 둘 다 Transformer에 </a:t>
            </a:r>
            <a:r>
              <a:rPr lang="en-US" sz="11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의해</a:t>
            </a: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1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대체되</a:t>
            </a: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 있음. RNN → Transformer(NLP), CNN → ViT(Vision)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2686</Words>
  <Application>Microsoft Office PowerPoint</Application>
  <PresentationFormat>화면 슬라이드 쇼(16:9)</PresentationFormat>
  <Paragraphs>484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맑은 고딕</vt:lpstr>
      <vt:lpstr>Arial</vt:lpstr>
      <vt:lpstr>Arial Black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RNN과 CNN</dc:title>
  <dc:subject>PptxGenJS Presentation</dc:subject>
  <dc:creator>이종혁</dc:creator>
  <cp:lastModifiedBy>jh</cp:lastModifiedBy>
  <cp:revision>21</cp:revision>
  <dcterms:created xsi:type="dcterms:W3CDTF">2026-04-05T06:22:48Z</dcterms:created>
  <dcterms:modified xsi:type="dcterms:W3CDTF">2026-04-12T02:36:41Z</dcterms:modified>
</cp:coreProperties>
</file>