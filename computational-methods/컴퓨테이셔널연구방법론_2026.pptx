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85" r:id="rId7"/>
    <p:sldId id="261" r:id="rId8"/>
    <p:sldId id="28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80" r:id="rId29"/>
    <p:sldId id="281" r:id="rId30"/>
    <p:sldId id="282" r:id="rId31"/>
    <p:sldId id="284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12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6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giq.2025.102079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컴퓨테이셔널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연구방법론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</a:t>
            </a:r>
            <a:r>
              <a:rPr lang="en-US" sz="1500" i="1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 </a:t>
            </a:r>
            <a:r>
              <a:rPr lang="en-US" sz="15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 |  경희대학교 미디어학과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jonghhhh@khu.ac.kr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589520" y="0"/>
            <a:ext cx="1554480" cy="5143500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 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컴퓨테이셔널연구방법론의 개념과 정체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정의, 학문적 위치, 분석 대상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기반과 발전사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93852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→ CCS → Computational Media Studies, LLM 전환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22576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04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기술: Transformer에서 LLM까지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59689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GPT, Prompt Engineering, RAG, Fine-tuning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9626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Agent의 등장과 프로토콜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2552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아키텍처, MCP, A2A, ACP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6210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7가지 컴퓨테이셔널 연구방법론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9136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데이터분석, 챗봇실험, 토론, 시뮬레이션, 설문, 숙의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2793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확장과 미래 전망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RAG, Robot Ethnography, 발전 방향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컴퓨테이셔널연구방법론의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개념과 정체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Research Methodology: Concept &amp; Identity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컴퓨테이셔널연구방법론의 학문적 지형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2011680" cy="2011680"/>
          </a:xfrm>
          <a:prstGeom prst="ellipse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280160"/>
            <a:ext cx="2011680" cy="2011680"/>
          </a:xfrm>
          <a:prstGeom prst="ellipse">
            <a:avLst/>
          </a:prstGeom>
          <a:solidFill>
            <a:srgbClr val="1B2A4A">
              <a:alpha val="80000"/>
            </a:srgbClr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2011680" cy="2011680"/>
          </a:xfrm>
          <a:prstGeom prst="ellipse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Media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3520440"/>
            <a:ext cx="2926080" cy="4572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6459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Social Science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520440"/>
            <a:ext cx="3200400" cy="45720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Comm. Science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Computational Media Studies (제안)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Theocharis &amp; Jungherr (2021); van Atteveldt &amp; Peng (2018); ICA Computational Methods Division (2016)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Computational Social Science의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 interdisciplinary scientific field ... through the use of </a:t>
            </a: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methods and practices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— Theocharis &amp; Jungherr (2021)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416383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트레이스, 자연 발생 데이터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소셜미디어, 뉴스, 댓글, 이미지 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7291" y="2286000"/>
            <a:ext cx="2526717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07291" y="2286000"/>
            <a:ext cx="64008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35891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알고리즘적 분석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5891" y="2651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NLP, ML, DL, LLM 기반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자동화된 내용분석과 패턴 탐색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2416383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중심 접근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의제설정, 선택적 노출, 프레이밍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커뮤니케이션 이론의 검증·확장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07291" y="3566160"/>
            <a:ext cx="2526717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07291" y="356616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35891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학제간 융합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35891" y="3931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컴퓨터과학 × 사회과학 × 미디어학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방법론적 혁신과 이론적 심화</a:t>
            </a:r>
            <a:endParaRPr lang="en-US" sz="105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F9E997A-8076-4465-A375-72F634955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179" y="2178615"/>
            <a:ext cx="2890607" cy="2668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1E293B"/>
                </a:solidFill>
                <a:latin typeface="Arial Black"/>
              </a:defRPr>
            </a:pPr>
            <a:r>
              <a:t>Computational Communication Science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시대적 특징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디지털 정보의 대량 축적</a:t>
            </a:r>
          </a:p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새로운 컴퓨터 분석기법의 지속적 발전</a:t>
            </a:r>
          </a:p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저렴하고 강력해진 컴퓨팅 인프라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분석대상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뉴스, 댓글, 리뷰, 사진, 영상 등</a:t>
            </a:r>
          </a:p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미디어 커뮤니케이션 메시지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9144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분석이론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20700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Agenda-setting, Two-step flow,</a:t>
            </a:r>
          </a:p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Selective exposure, Interpersonal persuasion 등</a:t>
            </a:r>
          </a:p>
          <a:p>
            <a:pPr>
              <a:defRPr sz="1050" b="0">
                <a:solidFill>
                  <a:srgbClr val="1E293B"/>
                </a:solidFill>
                <a:latin typeface="Arial"/>
              </a:defRPr>
            </a:pPr>
            <a:r>
              <a:t>커뮤니케이션 이론을 핵심 이론으로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1168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1">
                <a:solidFill>
                  <a:srgbClr val="94A3B8"/>
                </a:solidFill>
                <a:latin typeface="Arial"/>
              </a:defRPr>
            </a:pPr>
            <a:r>
              <a:t>ICA Computational Methods Division (2016)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7863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CCSS의 4가지 특징 (van Atteveldt &amp; Peng, 2018)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93008"/>
            <a:ext cx="37490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3584448"/>
            <a:ext cx="3200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5844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538727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대규모·복잡 데이터셋 (Large &amp; Complex Data)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493008"/>
            <a:ext cx="37490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64608" y="3584448"/>
            <a:ext cx="3200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35844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538727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디지털 트레이스·자연 발생 데이터 (Digital Traces)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87368"/>
            <a:ext cx="37490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4178807"/>
            <a:ext cx="3200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178807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133087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알고리즘적 분석 도구 (Algorithmic Solutions)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087368"/>
            <a:ext cx="37490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64608" y="4178807"/>
            <a:ext cx="3200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64608" y="4178807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133087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 i="0">
                <a:solidFill>
                  <a:srgbClr val="1E293B"/>
                </a:solidFill>
                <a:latin typeface="Arial"/>
              </a:defRPr>
            </a:pPr>
            <a:r>
              <a:t>커뮤니케이션 이론의 적용·검증 (Theory Testing)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Computational Media Studies 제안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77724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컴퓨터를 활용해 글, 이미지, 영상, 음성 등을 데이터화해 인식하고,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현상을 설명 → 분석(분류, 예측) → 활용(생성)하는 일련의 연구방법론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6032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Text(Data) Mining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토픽모델링 / 의미연결망분석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감성분석 / 웹스크래핑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 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분류 / ViT 이미지분석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임베딩·유사도 / 혐오글 탐지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내용분석 / 챗봇 실험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시뮬레이션 / ABM 시뮬레이션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1E293B"/>
                </a:solidFill>
                <a:latin typeface="Arial Black"/>
              </a:defRPr>
            </a:pPr>
            <a:r>
              <a:t>Computational Media Studies의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097280"/>
            <a:ext cx="402336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123444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 Black"/>
              </a:defRPr>
            </a:pPr>
            <a:r>
              <a:t>Computational</a:t>
            </a:r>
          </a:p>
          <a:p>
            <a:pPr algn="ctr">
              <a:defRPr sz="1800" b="0">
                <a:solidFill>
                  <a:srgbClr val="FFFFFF"/>
                </a:solidFill>
                <a:latin typeface="Arial Black"/>
              </a:defRPr>
            </a:pPr>
            <a:r>
              <a:t>Media Studies</a:t>
            </a:r>
          </a:p>
          <a:p>
            <a:pPr algn="ctr">
              <a:defRPr sz="1800" b="0">
                <a:solidFill>
                  <a:srgbClr val="FFFFFF"/>
                </a:solidFill>
                <a:latin typeface="Arial Black"/>
              </a:defRPr>
            </a:pPr>
            <a:r>
              <a:t>(컴퓨테이셔널 연구방법론)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2004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9992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양적 연구방법론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015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Arial"/>
              </a:defRPr>
            </a:pPr>
            <a:r>
              <a:t>가설 중심 | 연역적 접근</a:t>
            </a:r>
          </a:p>
          <a:p>
            <a:pPr algn="ctr">
              <a:defRPr sz="1100" b="0">
                <a:solidFill>
                  <a:srgbClr val="E2E8F0"/>
                </a:solidFill>
                <a:latin typeface="Arial"/>
              </a:defRPr>
            </a:pPr>
            <a:r>
              <a:t>Analytic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2926080"/>
            <a:ext cx="320040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29992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질적 연구방법론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015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Arial"/>
              </a:defRPr>
            </a:pPr>
            <a:r>
              <a:t>연구문제 중심 | 귀납적 접근</a:t>
            </a:r>
          </a:p>
          <a:p>
            <a:pPr algn="ctr">
              <a:defRPr sz="1100" b="0">
                <a:solidFill>
                  <a:srgbClr val="E2E8F0"/>
                </a:solidFill>
                <a:latin typeface="Arial"/>
              </a:defRPr>
            </a:pPr>
            <a:r>
              <a:t>Text Mining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← 양적·질적 연구방법론 사이에서 고유한 위치를 차지하며, 이론과 기술의 융합 지점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이론적 기반과 발전사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CSS의 기회와 도전, LLM 시대의 전환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컴퓨테이셔널 연구방법론의 발전 타임라인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제안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(Lazer et al.)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1031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 Comp.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Div.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(Attention)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시대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20116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40664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2025~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7가지 방법론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256032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72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1세대: 빅데이터 분석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2009~2016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토픽모델링, 의미연결망, 감성사전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of Words, TF-IDF, LDA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474720" y="32004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6118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2세대: 딥러닝 분석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2017~2022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감성분류, ViT 이미지분석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CNN, RNN → Transformer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309360" y="32004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465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3세대: 에이전틱 AI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2023~현재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내용분석, 챗봇 실험, ABM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토론, 설문 시뮬레이션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CSS의 기회와 도전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7490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기회 (Opportunities)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자기보고 → 실제 행동 데이터 분석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실험실 → 실제 사회 환경 연구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소규모(Small-N) → 대규모(Large-N)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연구 → 협업 연구 체계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374904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 (Challenges)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0" y="14173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접근성·재현성 확보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29200" y="2011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빅데이터 ≠ 좋은 데이터 (품질 문제)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029200" y="26060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측정의 타당성·신뢰성 검증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374904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54880" y="320040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29200" y="32004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윤리적·책임 있는 연구 수행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Atteveldt &amp; Peng (2018). Computational Communication Research.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LLM이 바꾼 연구 패러다임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30175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468880" y="914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방법론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0175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0" y="914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시대 방법론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344168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분석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4416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60320" y="1344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토픽모델링 (LDA)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134416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577840" y="1344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자동 프레임 코딩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1847088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1520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분류·예측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84708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560320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Fine-tuning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184708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577840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Zero-shot / Few-shot 추론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2350008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31520" y="2350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분석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235000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56032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기반 감성분석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0" y="235000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57784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LLM 감성·맥락 분석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1520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조사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285292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560320" y="2852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설문조사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0" y="285292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577840" y="2852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Sampling (LLM 시뮬)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355848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" y="3355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연구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335584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560320" y="3355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 실험실 실험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3355848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577840" y="3355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기반 대규모 온라인 실험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3858768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152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68880" y="385876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560320" y="3858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수학적 ABM 모형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0" y="3858768"/>
            <a:ext cx="301752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577840" y="3858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ABM (LLM 에이전트)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Ziems et al. (2024); Törnberg (2024); Gilardi et al. (2023); Bail (2024); Argyle et al. (2023)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기술 기초: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Transformer에서 LLM까지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딥러닝, BERT, GPT, Prompt Engineering, RAG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 → BERT → GPT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256032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인코더+디코더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양방향+단방향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593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모델의 기본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제공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91440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474720" y="914400"/>
            <a:ext cx="256032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7472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19476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953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9593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감성분류, 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질문응답, 텍스트분류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91440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09360" y="914400"/>
            <a:ext cx="256032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0936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936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2018~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19476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디코더만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953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단방향(자기회귀)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활용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9593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생성, 챗봇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요약, 코딩, 추론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활용 기술: 3단계 접근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115568"/>
            <a:ext cx="548640" cy="228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Zero-shot, Few-shot 프롬프팅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역할 지정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mode, 구조화된 출력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최소, 즉시 활용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74720" y="960120"/>
            <a:ext cx="256032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11880" y="1115568"/>
            <a:ext cx="548640" cy="228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1188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→ 청킹 → 임베딩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DB 검색 → LLM 생성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환각(Hallucination) 감소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특화 지식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09360" y="9601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46520" y="1115568"/>
            <a:ext cx="54864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19202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데이터로 모형 재학습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LoRA, QLoRA 경량화 기법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정확도, 전문 성능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데이터·비용 요구 높음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목적과 자원에 따라 적합한 수준의 기술을 선택하여 조합 활용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Agent의 등장과 프로토콜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Architecture, MCP, A2A, ACP, ANP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환경을 인식하고, 자율적으로 행동하며, 목표를 달성하는 AI 시스템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560320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1세대: 규칙 기반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온도조절기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(if-then 조건문)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56032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118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2세대: 목표 기반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로봇청소기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(class+function)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4652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3세대: LLM 기반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비서 (자연어이해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도구사용 + 장기기억)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생태계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01752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구성요소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337560"/>
            <a:ext cx="256032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65760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228600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21792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30175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57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(GPT, Claude, Gemini)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3657600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4904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이해·추론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22860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309360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 엔진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950208"/>
            <a:ext cx="301752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31520" y="39502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3950208"/>
            <a:ext cx="256032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49040" y="3950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호출, 파일 접근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950208"/>
            <a:ext cx="228600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309360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외부세계 접근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242816"/>
            <a:ext cx="30175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31520" y="42428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(Chroma 등)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0" y="4242816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749040" y="4242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기억, 검색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242816"/>
            <a:ext cx="22860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309360" y="4242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 기억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4535424"/>
            <a:ext cx="301752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31520" y="45354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/ CrewAI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0" y="4535424"/>
            <a:ext cx="256032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749040" y="4535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관리, 조건분기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535424"/>
            <a:ext cx="228600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309360" y="4535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제어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7가지 컴퓨테이셔널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연구방법론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Embedding-Clustering | Agent Data Analysis | Chatbot Experiment | Multi-Agent Discussion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Agent Simulation | Proxy Survey | Deliberative Proxy Survey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7가지 컴퓨테이셔널 연구방법론 개관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008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40080"/>
            <a:ext cx="1965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7772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74980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Embedding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23444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임베딩 벡터 추출 후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대규모 텍스트·이미지 군집화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64008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0" y="640080"/>
            <a:ext cx="19659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51760" y="77724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7772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74980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Agent Data</a:t>
            </a:r>
          </a:p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23444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LLM Agent가 대규모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데이터 자동 수집·분석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64008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640080"/>
            <a:ext cx="1965960" cy="45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00600" y="777240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7772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74980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2A4A"/>
                </a:solidFill>
                <a:latin typeface="Arial"/>
              </a:defRPr>
            </a:pPr>
            <a:r>
              <a:t>Chatbot</a:t>
            </a:r>
          </a:p>
          <a:p>
            <a:pPr>
              <a:defRPr sz="1000" b="1">
                <a:solidFill>
                  <a:srgbClr val="1B2A4A"/>
                </a:solidFill>
                <a:latin typeface="Arial"/>
              </a:defRPr>
            </a:pPr>
            <a:r>
              <a:t>Experiment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123444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단일 Agent-인간 간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통제된 실험 연구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64008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0" y="640080"/>
            <a:ext cx="1965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49440" y="777240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7772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74980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Multi-Agent</a:t>
            </a:r>
          </a:p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123444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여러 Agent가 자율적으로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관점별 토론·숙의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78892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63040" y="2788920"/>
            <a:ext cx="19659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554480" y="2926079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9864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Generative Agent</a:t>
            </a:r>
          </a:p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3383279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고유 성격·기억 가진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Agent 자율 상호작용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278892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11880" y="2788920"/>
            <a:ext cx="19659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703320" y="2926079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03320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289864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Representative</a:t>
            </a:r>
          </a:p>
          <a:p>
            <a:pPr>
              <a:defRPr sz="1000" b="1">
                <a:solidFill>
                  <a:srgbClr val="EF4444"/>
                </a:solidFill>
                <a:latin typeface="Arial"/>
              </a:defRPr>
            </a:pPr>
            <a:r>
              <a:t>Proxy Survey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3383279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대표성 Agent가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독립적 설문 응답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2788920"/>
            <a:ext cx="1965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60720" y="2788920"/>
            <a:ext cx="19659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852160" y="2926079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52160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 Black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89864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Deliberative</a:t>
            </a:r>
          </a:p>
          <a:p>
            <a:pPr>
              <a:defRPr sz="1000" b="1">
                <a:solidFill>
                  <a:srgbClr val="7C3AED"/>
                </a:solidFill>
                <a:latin typeface="Arial"/>
              </a:defRPr>
            </a:pPr>
            <a:r>
              <a:t>Proxy Survey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70448" y="3383279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Agent 토론·숙의 후</a:t>
            </a:r>
          </a:p>
          <a:p>
            <a:pPr>
              <a:defRPr sz="950" b="0">
                <a:solidFill>
                  <a:srgbClr val="1E293B"/>
                </a:solidFill>
                <a:latin typeface="Arial"/>
              </a:defRPr>
            </a:pPr>
            <a:r>
              <a:t>설문에 응답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Embedding Clustering (임베딩 클러스터링)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2563EB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 간 소통 없음 (독립 실행, 비지도 학습)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텍스트·이미지 임베딩 벡터 추출 (CLIP, BERT 등)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벡터 유사도 기반 클러스터링 (K-Means, HDBSCAN)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FAISS 대규모 벡터 검색·군집화 지원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차원축소(UMAP/t-SNE) 후 시각화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멀티모달 데이터(텍스트+이미지) 동시 군집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K-POP 뮤직비디오 이미지 유형 클러스터링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뉴스 보도사진 시각적 프레임 자동 분류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소셜미디어 텍스트-이미지 다중모달 군집화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기후 허위정보 시각적 프레이밍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대규모 뉴스 기사 토픽 자동 발견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학술 논문 임베딩 기반 연구 지형 탐색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1023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ko-KR" altLang="en-US" sz="800" dirty="0" err="1"/>
              <a:t>이문혁</a:t>
            </a:r>
            <a:r>
              <a:rPr lang="en-US" altLang="ko-KR" sz="800" dirty="0"/>
              <a:t>. (2025). </a:t>
            </a:r>
            <a:r>
              <a:rPr lang="en-US" sz="800" dirty="0"/>
              <a:t>K-POP </a:t>
            </a:r>
            <a:r>
              <a:rPr lang="ko-KR" altLang="en-US" sz="800" dirty="0"/>
              <a:t>뮤직비디오의 이미지 유형화를 통한 시각적 특징 분석</a:t>
            </a:r>
            <a:r>
              <a:rPr lang="en-US" altLang="ko-KR" sz="800" dirty="0"/>
              <a:t>: </a:t>
            </a:r>
            <a:r>
              <a:rPr lang="ko-KR" altLang="en-US" sz="800" dirty="0" err="1"/>
              <a:t>임베딩</a:t>
            </a:r>
            <a:r>
              <a:rPr lang="ko-KR" altLang="en-US" sz="800" dirty="0"/>
              <a:t> 벡터 추출</a:t>
            </a:r>
            <a:r>
              <a:rPr lang="en-US" altLang="ko-KR" sz="800" dirty="0"/>
              <a:t>(</a:t>
            </a:r>
            <a:r>
              <a:rPr lang="en-US" sz="800" dirty="0"/>
              <a:t>CLIP)</a:t>
            </a:r>
            <a:r>
              <a:rPr lang="ko-KR" altLang="en-US" sz="800" dirty="0"/>
              <a:t>과 유사도 검색</a:t>
            </a:r>
            <a:r>
              <a:rPr lang="en-US" altLang="ko-KR" sz="800" dirty="0"/>
              <a:t>(</a:t>
            </a:r>
            <a:r>
              <a:rPr lang="en-US" sz="800" dirty="0"/>
              <a:t>FAISS)</a:t>
            </a:r>
            <a:r>
              <a:rPr lang="ko-KR" altLang="en-US" sz="800" dirty="0"/>
              <a:t>을 통한 클러스터링</a:t>
            </a:r>
            <a:r>
              <a:rPr lang="en-US" altLang="ko-KR" sz="800" dirty="0"/>
              <a:t>. </a:t>
            </a:r>
            <a:r>
              <a:rPr lang="ko-KR" altLang="en-US" sz="800" dirty="0"/>
              <a:t>언론정보연구</a:t>
            </a:r>
            <a:r>
              <a:rPr lang="en-US" altLang="ko-KR" sz="800" dirty="0"/>
              <a:t>, 62(2), 53–115. </a:t>
            </a:r>
            <a:endParaRPr 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Zhang, H., &amp; Leung, R. (2025). Joint text-and-image clustering for social science research. Sociological Methods &amp; Research. Advance online publication. https://doi.org/10.1177/00811750251382929 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Zhang, H., &amp; Peng, Y. (2024). Image clustering: An unsupervised approach to categorize visual data in social science research. Sociological Methods &amp; Research, 53(4), 1534–1587. 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Vowles</a:t>
            </a:r>
            <a:r>
              <a:rPr lang="en-US" sz="800" dirty="0"/>
              <a:t>, K., &amp; </a:t>
            </a:r>
            <a:r>
              <a:rPr lang="en-US" sz="800" dirty="0" err="1"/>
              <a:t>Törnberg</a:t>
            </a:r>
            <a:r>
              <a:rPr lang="en-US" sz="800" dirty="0"/>
              <a:t>, A. (2025). The aesthetics of climate misinformation: Computational multimodal framing analysis with </a:t>
            </a:r>
            <a:r>
              <a:rPr lang="en-US" sz="800" dirty="0" err="1"/>
              <a:t>BERTopic</a:t>
            </a:r>
            <a:r>
              <a:rPr lang="en-US" sz="800" dirty="0"/>
              <a:t> and CLIP. Environmental Politics. Advance online publication. https://doi.org/10.1080/09644016.2025.2557684  </a:t>
            </a:r>
            <a:endParaRPr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Agent Data Analysis (LLM 내용분석)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 간 소통 없음 (독립 실행)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인간 참여 최소화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대규모 데이터 자동 처리 (텍스트·이미지·영상·음성)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LLM API로 프레임, 감성, 논조 자동 코딩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멀티모달 LLM으로 사진·영상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뉴스 프레임·감성·논조 자동 코딩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정치인 보도사진 시각적 프레이밍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유튜브 영상 키프레임 → LLM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대규모 댓글 자동 분류·혐오글 탐지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학술 논문 연구방법론 추출·비교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Gilardi</a:t>
            </a:r>
            <a:r>
              <a:rPr lang="en-US" sz="800" dirty="0"/>
              <a:t>, F., Alizadeh, M., &amp; </a:t>
            </a:r>
            <a:r>
              <a:rPr lang="en-US" sz="800" dirty="0" err="1"/>
              <a:t>Kubli</a:t>
            </a:r>
            <a:r>
              <a:rPr lang="en-US" sz="800" dirty="0"/>
              <a:t>, M. (2023). </a:t>
            </a:r>
            <a:r>
              <a:rPr lang="en-US" sz="800" dirty="0" err="1"/>
              <a:t>ChatGPT</a:t>
            </a:r>
            <a:r>
              <a:rPr lang="en-US" sz="800" dirty="0"/>
              <a:t> outperforms crowd workers for text-annotation tasks. Proceedings of the National Academy of Sciences, 120(30), e2305016120. 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Törnberg</a:t>
            </a:r>
            <a:r>
              <a:rPr lang="en-US" sz="800" dirty="0"/>
              <a:t>, P. (2024). How to use LLMs for text analysis. Proceedings of the National Academy of Sciences, 121(24), e2404328121.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ko-KR" altLang="en-US" sz="800" dirty="0" err="1"/>
              <a:t>박영균</a:t>
            </a:r>
            <a:r>
              <a:rPr lang="en-US" altLang="ko-KR" sz="800" dirty="0"/>
              <a:t>, &amp; </a:t>
            </a:r>
            <a:r>
              <a:rPr lang="ko-KR" altLang="en-US" sz="800" dirty="0"/>
              <a:t>이종혁</a:t>
            </a:r>
            <a:r>
              <a:rPr lang="en-US" altLang="ko-KR" sz="800" dirty="0"/>
              <a:t>. (2026). </a:t>
            </a:r>
            <a:r>
              <a:rPr lang="ko-KR" altLang="en-US" sz="800" dirty="0"/>
              <a:t>언론 시스템과 정치적 성향에 따른 김정은 보도사진의 시각적 </a:t>
            </a:r>
            <a:r>
              <a:rPr lang="ko-KR" altLang="en-US" sz="800" dirty="0" err="1"/>
              <a:t>프레이밍</a:t>
            </a:r>
            <a:r>
              <a:rPr lang="ko-KR" altLang="en-US" sz="800" dirty="0"/>
              <a:t> 연구</a:t>
            </a:r>
            <a:r>
              <a:rPr lang="en-US" altLang="ko-KR" sz="800" dirty="0"/>
              <a:t>: Multimodal LLM </a:t>
            </a:r>
            <a:r>
              <a:rPr lang="ko-KR" altLang="en-US" sz="800" dirty="0"/>
              <a:t>을 활용한 국제 언론 비교 분석</a:t>
            </a:r>
            <a:r>
              <a:rPr lang="en-US" altLang="ko-KR" sz="800" dirty="0"/>
              <a:t>. </a:t>
            </a:r>
            <a:r>
              <a:rPr lang="ko-KR" altLang="en-US" sz="800" dirty="0"/>
              <a:t>언론정보연구</a:t>
            </a:r>
            <a:r>
              <a:rPr lang="en-US" altLang="ko-KR" sz="800" dirty="0"/>
              <a:t>, 63(1), 157-198.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ko-KR" altLang="en-US" sz="800" dirty="0"/>
              <a:t>이종혁</a:t>
            </a:r>
            <a:r>
              <a:rPr lang="en-US" altLang="ko-KR" sz="800" dirty="0"/>
              <a:t>. (2025). 12· 3 </a:t>
            </a:r>
            <a:r>
              <a:rPr lang="ko-KR" altLang="en-US" sz="800" dirty="0"/>
              <a:t>내란과 저널리즘 원칙</a:t>
            </a:r>
            <a:r>
              <a:rPr lang="en-US" altLang="ko-KR" sz="800" dirty="0"/>
              <a:t>: </a:t>
            </a:r>
            <a:r>
              <a:rPr lang="ko-KR" altLang="en-US" sz="800" dirty="0"/>
              <a:t>오픈소스 생성형 </a:t>
            </a:r>
            <a:r>
              <a:rPr lang="en-US" altLang="ko-KR" sz="800" dirty="0"/>
              <a:t>LLM </a:t>
            </a:r>
            <a:r>
              <a:rPr lang="ko-KR" altLang="en-US" sz="800" dirty="0"/>
              <a:t>을 활용한 언론보도 분석</a:t>
            </a:r>
            <a:r>
              <a:rPr lang="en-US" altLang="ko-KR" sz="800" dirty="0"/>
              <a:t>. </a:t>
            </a:r>
            <a:r>
              <a:rPr lang="ko-KR" altLang="en-US" sz="800" dirty="0" err="1"/>
              <a:t>한국방송학보</a:t>
            </a:r>
            <a:r>
              <a:rPr lang="en-US" altLang="ko-KR" sz="800" dirty="0"/>
              <a:t>, 123-166.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Chatbot Experiment (챗봇 실험)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 간 소통 없음, 인간 참여 필수 (1:1)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시스템 프롬프트로 실험 조건 조작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대화 로그 자동 수집 및 LLM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사전-사후 태도 측정 (설문 연결)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IRB 연구윤리 심의 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보수 vs 진보 챗봇의 태도 변화 효과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공감형 vs 정보형 AI의 설득 효과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음모론 신념 감소를 위한 AI 대화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AI-인간 대화의 투표 행동 영향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챗봇 사용의 심리사회적 장기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Pennycook, G., </a:t>
            </a:r>
            <a:r>
              <a:rPr lang="en-US" sz="800" dirty="0" err="1"/>
              <a:t>Binnendyk</a:t>
            </a:r>
            <a:r>
              <a:rPr lang="en-US" sz="800" dirty="0"/>
              <a:t>, J., Rand, D. G., et al. (2025). Persuading US voters with AI-powered chatbots in a field experiment. Nature, 640, 175–181.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Salvi, F., Ribeiro, M. H., </a:t>
            </a:r>
            <a:r>
              <a:rPr lang="en-US" sz="800" dirty="0" err="1"/>
              <a:t>Gallotti</a:t>
            </a:r>
            <a:r>
              <a:rPr lang="en-US" sz="800" dirty="0"/>
              <a:t>, R., &amp; West, R. (2025). On the conversational persuasiveness of large language models: A randomized controlled trial. Nature Human </a:t>
            </a:r>
            <a:r>
              <a:rPr lang="en-US" sz="800" dirty="0" err="1"/>
              <a:t>Behaviour</a:t>
            </a:r>
            <a:r>
              <a:rPr lang="en-US" sz="800" dirty="0"/>
              <a:t>, 9, 451–461.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Costello, T. H., Pennycook, G., &amp; Rand, D. G. (2024). Durably reducing conspiracy beliefs through dialogues with AI. Science, 385(6714), eadq4320.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Bai, H., </a:t>
            </a:r>
            <a:r>
              <a:rPr lang="en-US" sz="800" dirty="0" err="1"/>
              <a:t>Voelkel</a:t>
            </a:r>
            <a:r>
              <a:rPr lang="en-US" sz="800" dirty="0"/>
              <a:t>, J. G., Muldowney, S., Eichstaedt, J. C., &amp; Willer, R. (2025). LLM-generated messages can persuade humans on policy issues. Nature Communications, 16, Article 6037.</a:t>
            </a:r>
            <a:endParaRPr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Multi-Agent Discussion (에이전트 간 토론)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 간 소통 활발, 인간 참여 없음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페르소나 부여: 인구통계, 정치성향, 전문분야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토론 프로토콜: 라운드제, 자유토론, 모더레이터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집단 지성·합의 형성 과정 관찰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Hybrid형: Habermas Machine (인간+AI)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정책 심의 시뮬레이션 (기본소득 등)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숙의 민주주의 이론 기반 토론 실험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AI 중재 합의 형성 (Habermas Machine)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전문가 패널토론 시뮬레이션 (SimuPanel)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여론 형성·의견 극화 동학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He, Z., Wang, Y., Yu, L., Mao, Y., &amp; Shu, K. (2025). </a:t>
            </a:r>
            <a:r>
              <a:rPr lang="en-US" sz="800" dirty="0" err="1"/>
              <a:t>SimuPanel</a:t>
            </a:r>
            <a:r>
              <a:rPr lang="en-US" sz="800" dirty="0"/>
              <a:t>: Multi-agent expert panel discussion simulation. arXiv:2505.16248.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Tessler, M. H., Bakker, M. A., Jarrett, D., et al. (2024). AI can help humans find common ground in democratic deliberation. Science, 386(6719), eadq2852.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Chuang, Y.-S., </a:t>
            </a:r>
            <a:r>
              <a:rPr lang="en-US" sz="800" dirty="0" err="1"/>
              <a:t>Harlalka</a:t>
            </a:r>
            <a:r>
              <a:rPr lang="en-US" sz="800" dirty="0"/>
              <a:t>, A., Suresh, S., Goyal, A., Hawkins, R., Yang, S., Shah, D., Hu, J., &amp; Rogers, T. T. (2024). Simulating opinion dynamics with networks of LLM-based agents. In Proceedings of NAACL 2024 (pp. 3326–3346).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Törnberg</a:t>
            </a:r>
            <a:r>
              <a:rPr lang="en-US" sz="800" dirty="0"/>
              <a:t>, P., </a:t>
            </a:r>
            <a:r>
              <a:rPr lang="en-US" sz="800" dirty="0" err="1"/>
              <a:t>Valeeva</a:t>
            </a:r>
            <a:r>
              <a:rPr lang="en-US" sz="800" dirty="0"/>
              <a:t>, D., </a:t>
            </a:r>
            <a:r>
              <a:rPr lang="en-US" sz="800" dirty="0" err="1"/>
              <a:t>Uitermark</a:t>
            </a:r>
            <a:r>
              <a:rPr lang="en-US" sz="800" dirty="0"/>
              <a:t>, J., &amp; Bail, C. (2023). Simulating social media using large language models to evaluate alternative news feed algorithms. arXiv:2310.05984.</a:t>
            </a:r>
            <a:endParaRPr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82880"/>
            <a:ext cx="753324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rPr dirty="0"/>
              <a:t>Generative Agent Simulation (</a:t>
            </a:r>
            <a:r>
              <a:rPr dirty="0" err="1"/>
              <a:t>생성적</a:t>
            </a:r>
            <a:r>
              <a:rPr dirty="0"/>
              <a:t> </a:t>
            </a:r>
            <a:r>
              <a:rPr dirty="0" err="1"/>
              <a:t>에이전트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 간 자연스러운 상호작용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고유 성격·목표·장기기억 보유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관찰-반성-계획 3단계 아키텍처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창발적 사회 행동 관찰 가능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인간 참여 없음 (완전 자율)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Stanford Smallville: 25명 가상 마을 생활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태도 극화(Polarization) 시뮬레이션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에코 챔버, 필터 버블 형성 과정 관찰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미디어 노출 → 상호작용 → 의견 변화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2020 미국 선거 트위터 행동 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1023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Park, J. S., O'Brien, J. C., Cai, C. J., Morris, M. R., Liang, P., &amp; Bernstein, M. S. (2023). Generative agents: Interactive simulacra of human behavior. In Proceedings of the 36th ACM UIST (pp. 2:1–2:22). (Best Paper Award)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Ferraro, A., Galli, A., La </a:t>
            </a:r>
            <a:r>
              <a:rPr lang="en-US" sz="800" dirty="0" err="1"/>
              <a:t>Gatta</a:t>
            </a:r>
            <a:r>
              <a:rPr lang="en-US" sz="800" dirty="0"/>
              <a:t>, V., </a:t>
            </a:r>
            <a:r>
              <a:rPr lang="en-US" sz="800" dirty="0" err="1"/>
              <a:t>Postiglione</a:t>
            </a:r>
            <a:r>
              <a:rPr lang="en-US" sz="800" dirty="0"/>
              <a:t>, M., Orlando, G. M., Russo, D., ... &amp; Moscato, V. (2024, September). Agent-based modelling meets generative AI in social network simulations. In International conference on advances in social networks analysis and mining (pp. 155-170). Cham: Springer Nature Switzerland.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Anthis</a:t>
            </a:r>
            <a:r>
              <a:rPr lang="en-US" sz="800" dirty="0"/>
              <a:t>, J. R., Liu, R., Richardson, S. M., Kozlowski, A. C., Koch, B., Brynjolfsson, E., &amp; Bernstein, M. S. (2025). LLM social simulations are a promising research method. arXiv:2504.02234.</a:t>
            </a:r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 err="1"/>
              <a:t>Törnberg</a:t>
            </a:r>
            <a:r>
              <a:rPr lang="en-US" sz="800" dirty="0"/>
              <a:t>, P., </a:t>
            </a:r>
            <a:r>
              <a:rPr lang="en-US" sz="800" dirty="0" err="1"/>
              <a:t>Valeeva</a:t>
            </a:r>
            <a:r>
              <a:rPr lang="en-US" sz="800" dirty="0"/>
              <a:t>, D., </a:t>
            </a:r>
            <a:r>
              <a:rPr lang="en-US" sz="800" dirty="0" err="1"/>
              <a:t>Uitermark</a:t>
            </a:r>
            <a:r>
              <a:rPr lang="en-US" sz="800" dirty="0"/>
              <a:t>, J., &amp; Bail, C. (2023). Simulating social media using large language models to evaluate alternative news feed algorithms. arXiv:2310.05984.</a:t>
            </a:r>
            <a:endParaRPr sz="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AE7436C-2DA5-439A-BEC7-A3FF053A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92" y="1158693"/>
            <a:ext cx="1611007" cy="1037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Representative Proxy Survey (Silicon Sampling)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EF4444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인구통계학적 대표성 갖춘 Agent 설정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Agent가 독립적으로 설문 응답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실제 설문 결과와 비교·검증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2시간 AI 인터뷰 → 디지털 트윈 생성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한계: 스테레오타이핑, WEIRD 편향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1,052명 미국 대표 표본 시뮬레이션 (GSS 85%)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Big Five 성격검사 재현 (r=0.78)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행동경제학 게임 재현 (r=0.66)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한국 사회 이슈 설문 시뮬레이션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인구통계 페르소나 → 여론 분포 예측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Park, P. S., </a:t>
            </a:r>
            <a:r>
              <a:rPr lang="en-US" sz="800" dirty="0" err="1"/>
              <a:t>Schoenegger</a:t>
            </a:r>
            <a:r>
              <a:rPr lang="en-US" sz="800" dirty="0"/>
              <a:t>, P., &amp; Zhu, C. (2024). Generative agent simulations of 1,000 people. arXiv:2411.10109.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Argyle, L. P., Busby, E. C., Fulda, N., </a:t>
            </a:r>
            <a:r>
              <a:rPr lang="en-US" sz="800" dirty="0" err="1"/>
              <a:t>Gubler</a:t>
            </a:r>
            <a:r>
              <a:rPr lang="en-US" sz="800" dirty="0"/>
              <a:t>, J. R., </a:t>
            </a:r>
            <a:r>
              <a:rPr lang="en-US" sz="800" dirty="0" err="1"/>
              <a:t>Rytting</a:t>
            </a:r>
            <a:r>
              <a:rPr lang="en-US" sz="800" dirty="0"/>
              <a:t>, C., &amp; Wingate, D. (2023). Out of one, many: Using language models to simulate human samples. Political Analysis, 31(3), 337–351.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Bail, C. A. (2024). Can generative AI improve social science? Proceedings of the National Academy of Sciences, 121(21), e2314021121. </a:t>
            </a:r>
            <a:endParaRPr lang="ko-KR" altLang="en-US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sz="800" dirty="0"/>
              <a:t>Matz, S. C., Teeny, J. D., </a:t>
            </a:r>
            <a:r>
              <a:rPr lang="en-US" sz="800" dirty="0" err="1"/>
              <a:t>Vaid</a:t>
            </a:r>
            <a:r>
              <a:rPr lang="en-US" sz="800" dirty="0"/>
              <a:t>, S. S., Peters, H., Harari, G. M., &amp; Cerf, M. (2024). The potential of generative AI for personalized persuasion at scale. Scientific Reports, 14, Article 4692.</a:t>
            </a:r>
            <a:endParaRPr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20116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 Black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Deliberative Proxy Survey (숙의형 대리 설문)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7C3AED"/>
                </a:solidFill>
                <a:latin typeface="Arial"/>
              </a:defRPr>
            </a:pPr>
            <a:r>
              <a:t>핵심 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Representative Proxy Survey + Multi-Agent Discussion 융합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3단계: 초기 의견 → 소그룹 토론 → 최종 의견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페르소나별 before/after 의견 변화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영향력 네트워크: 발언 횟수·연결성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극화 vs 합의: 의견 분산도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868680"/>
            <a:ext cx="3749039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54864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9326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1B2A4A"/>
                </a:solidFill>
                <a:latin typeface="Arial"/>
              </a:defRPr>
            </a:pPr>
            <a:r>
              <a:t>적용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40"/>
            <a:ext cx="33832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사회 쟁점에 대한 대표성 응답군 숙의 시뮬레이션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정책 토론 → 합의 형성 자동화 가능성 탐색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미디어 심리학: 의견 변화 메커니즘 분석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정치커뮤니케이션: 여론 형성·극화 동학</a:t>
            </a:r>
          </a:p>
          <a:p>
            <a:pPr>
              <a:spcAft>
                <a:spcPts val="2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• 전통적 숙의조사 대비 비용·시간 절감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4B8A6"/>
                </a:solidFill>
                <a:latin typeface="Arial"/>
              </a:defRPr>
            </a:pPr>
            <a:r>
              <a:t>주요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7498079" cy="654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lang="en-US" altLang="ko-KR" sz="800" dirty="0" err="1"/>
              <a:t>Jungherr</a:t>
            </a:r>
            <a:r>
              <a:rPr lang="en-US" altLang="ko-KR" sz="800" dirty="0"/>
              <a:t>, A., &amp; </a:t>
            </a:r>
            <a:r>
              <a:rPr lang="en-US" altLang="ko-KR" sz="800" dirty="0" err="1"/>
              <a:t>Rauchfleisch</a:t>
            </a:r>
            <a:r>
              <a:rPr lang="en-US" altLang="ko-KR" sz="800" dirty="0"/>
              <a:t>, A. (2025). Artificial intelligence in deliberation: The AI penalty and the emergence of a new deliberative divide. </a:t>
            </a:r>
            <a:r>
              <a:rPr lang="en-US" altLang="ko-KR" sz="800" i="1" dirty="0"/>
              <a:t>Government Information Quarterly, 42</a:t>
            </a:r>
            <a:r>
              <a:rPr lang="en-US" altLang="ko-KR" sz="800" dirty="0"/>
              <a:t>(4), 102079. </a:t>
            </a:r>
            <a:r>
              <a:rPr lang="en-US" altLang="ko-KR" sz="800" dirty="0">
                <a:hlinkClick r:id="rId2"/>
              </a:rPr>
              <a:t>https://doi.org/10.1016/j.giq.2025.102079</a:t>
            </a:r>
            <a:endParaRPr lang="en-US" altLang="ko-KR"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sz="800" dirty="0"/>
              <a:t>Park et al. (2023) + Argyle et al. (2023) </a:t>
            </a:r>
            <a:r>
              <a:rPr sz="800" dirty="0" err="1"/>
              <a:t>결합형</a:t>
            </a:r>
            <a:r>
              <a:rPr sz="800" dirty="0"/>
              <a:t> </a:t>
            </a:r>
            <a:r>
              <a:rPr sz="800" dirty="0" err="1"/>
              <a:t>설계</a:t>
            </a:r>
            <a:r>
              <a:rPr sz="800" dirty="0"/>
              <a:t> </a:t>
            </a:r>
            <a:r>
              <a:rPr sz="800" dirty="0" err="1"/>
              <a:t>가능성</a:t>
            </a:r>
            <a:endParaRPr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sz="800" dirty="0" err="1"/>
              <a:t>숙의</a:t>
            </a:r>
            <a:r>
              <a:rPr sz="800" dirty="0"/>
              <a:t> </a:t>
            </a:r>
            <a:r>
              <a:rPr sz="800" dirty="0" err="1"/>
              <a:t>민주주의</a:t>
            </a:r>
            <a:r>
              <a:rPr sz="800" dirty="0"/>
              <a:t> </a:t>
            </a:r>
            <a:r>
              <a:rPr sz="800" dirty="0" err="1"/>
              <a:t>이론</a:t>
            </a:r>
            <a:r>
              <a:rPr sz="800" dirty="0"/>
              <a:t> (</a:t>
            </a:r>
            <a:r>
              <a:rPr sz="800" dirty="0" err="1"/>
              <a:t>하버마스</a:t>
            </a:r>
            <a:r>
              <a:rPr sz="800" dirty="0"/>
              <a:t>) × LLM </a:t>
            </a:r>
            <a:r>
              <a:rPr sz="800" dirty="0" err="1"/>
              <a:t>에이전트</a:t>
            </a:r>
            <a:r>
              <a:rPr sz="800" dirty="0"/>
              <a:t> </a:t>
            </a:r>
            <a:r>
              <a:rPr sz="800" dirty="0" err="1"/>
              <a:t>시뮬레이션</a:t>
            </a:r>
            <a:endParaRPr sz="800" dirty="0"/>
          </a:p>
          <a:p>
            <a:pPr>
              <a:spcAft>
                <a:spcPts val="100"/>
              </a:spcAft>
              <a:defRPr sz="900" b="0">
                <a:solidFill>
                  <a:srgbClr val="E2E8F0"/>
                </a:solidFill>
                <a:latin typeface="Arial"/>
              </a:defRPr>
            </a:pPr>
            <a:r>
              <a:rPr sz="800" dirty="0" err="1"/>
              <a:t>향후</a:t>
            </a:r>
            <a:r>
              <a:rPr sz="800" dirty="0"/>
              <a:t> </a:t>
            </a:r>
            <a:r>
              <a:rPr sz="800" dirty="0" err="1"/>
              <a:t>연구</a:t>
            </a:r>
            <a:r>
              <a:rPr sz="800" dirty="0"/>
              <a:t>: </a:t>
            </a:r>
            <a:r>
              <a:rPr sz="800" dirty="0" err="1"/>
              <a:t>한국적</a:t>
            </a:r>
            <a:r>
              <a:rPr sz="800" dirty="0"/>
              <a:t> </a:t>
            </a:r>
            <a:r>
              <a:rPr sz="800" dirty="0" err="1"/>
              <a:t>맥락의</a:t>
            </a:r>
            <a:r>
              <a:rPr sz="800" dirty="0"/>
              <a:t> </a:t>
            </a:r>
            <a:r>
              <a:rPr sz="800" dirty="0" err="1"/>
              <a:t>숙의형</a:t>
            </a:r>
            <a:r>
              <a:rPr sz="800" dirty="0"/>
              <a:t> </a:t>
            </a:r>
            <a:r>
              <a:rPr sz="800" dirty="0" err="1"/>
              <a:t>에이전트</a:t>
            </a:r>
            <a:r>
              <a:rPr sz="800" dirty="0"/>
              <a:t> </a:t>
            </a:r>
            <a:r>
              <a:rPr sz="800" dirty="0" err="1"/>
              <a:t>설문</a:t>
            </a:r>
            <a:r>
              <a:rPr sz="800" dirty="0"/>
              <a:t> </a:t>
            </a:r>
            <a:r>
              <a:rPr sz="800" dirty="0" err="1"/>
              <a:t>개발</a:t>
            </a:r>
            <a:r>
              <a:rPr sz="800" dirty="0"/>
              <a:t> </a:t>
            </a:r>
            <a:r>
              <a:rPr sz="800" dirty="0" err="1"/>
              <a:t>필요</a:t>
            </a:r>
            <a:endParaRPr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 i="0">
                <a:solidFill>
                  <a:srgbClr val="1E293B"/>
                </a:solidFill>
                <a:latin typeface="Arial Black"/>
              </a:defRPr>
            </a:pPr>
            <a:r>
              <a:t>7가지 연구방법론 종합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85800"/>
            <a:ext cx="24688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연구방법론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685800"/>
            <a:ext cx="7315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685800"/>
            <a:ext cx="731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인간참여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85800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68580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Agent소통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85800"/>
            <a:ext cx="12801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68580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프로토콜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685800"/>
            <a:ext cx="2377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68580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연구 초점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78992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107899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2563EB"/>
                </a:solidFill>
                <a:latin typeface="Arial"/>
              </a:defRPr>
            </a:pPr>
            <a:r>
              <a:t>① Embedding Clustering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078992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107899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078992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2" y="107899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단독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07899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107899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78992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107899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비지도 군집화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581912"/>
            <a:ext cx="24688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158191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0D9488"/>
                </a:solidFill>
                <a:latin typeface="Arial"/>
              </a:defRPr>
            </a:pPr>
            <a:r>
              <a:t>② Agent Data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1581912"/>
            <a:ext cx="7315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99232" y="158191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1581912"/>
            <a:ext cx="10058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0752" y="158191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단독 실행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581912"/>
            <a:ext cx="128016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36592" y="158191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581912"/>
            <a:ext cx="23774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16752" y="158191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자동화 데이터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084832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208483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1B2A4A"/>
                </a:solidFill>
                <a:latin typeface="Arial"/>
              </a:defRPr>
            </a:pPr>
            <a:r>
              <a:t>③ Chatbot Experiment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2084832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99232" y="208483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O (필수)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084832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30752" y="208483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인간↔Agent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08483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36592" y="208483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MCP+ACP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084832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16752" y="208483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상호작용 실험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587752"/>
            <a:ext cx="24688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258775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④ Multi-Agent Discussion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2587752"/>
            <a:ext cx="7315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99232" y="258775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2587752"/>
            <a:ext cx="10058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30752" y="258775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상호 발화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87752"/>
            <a:ext cx="128016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36592" y="258775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ACP+A2A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587752"/>
            <a:ext cx="23774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16752" y="258775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집단 토론·합의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090672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309067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F59E0B"/>
                </a:solidFill>
                <a:latin typeface="Arial"/>
              </a:defRPr>
            </a:pPr>
            <a:r>
              <a:t>⑤ Generative Agent Sim.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3090672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99232" y="309067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3090672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30752" y="309067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지속 통신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309067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36592" y="309067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ACP+ANP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090672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16752" y="309067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자율 상호작용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593591"/>
            <a:ext cx="24688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0352" y="3593591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EF4444"/>
                </a:solidFill>
                <a:latin typeface="Arial"/>
              </a:defRPr>
            </a:pPr>
            <a:r>
              <a:t>⑥ Representative Survey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0" y="3593591"/>
            <a:ext cx="7315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99232" y="3593591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3593591"/>
            <a:ext cx="10058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30752" y="3593591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독립 응답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3593591"/>
            <a:ext cx="128016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36592" y="3593591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MCP+ACP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593591"/>
            <a:ext cx="237744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16752" y="3593591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대리 설문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096512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0352" y="4096512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 i="0">
                <a:solidFill>
                  <a:srgbClr val="7C3AED"/>
                </a:solidFill>
                <a:latin typeface="Arial"/>
              </a:defRPr>
            </a:pPr>
            <a:r>
              <a:t>⑦ Deliberative Survey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4096512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999232" y="4096512"/>
            <a:ext cx="585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4096512"/>
            <a:ext cx="1005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730752" y="4096512"/>
            <a:ext cx="8595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토론형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4096512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736592" y="4096512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ACP+A2A+ANP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096512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16752" y="4096512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E293B"/>
                </a:solidFill>
                <a:latin typeface="Arial"/>
              </a:defRPr>
            </a:pPr>
            <a:r>
              <a:t>숙의형 집단 응답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6634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O = 필수  |  △ = 선택적  |  X = 없음  |  — = 해당 없음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확장: Graph RAG,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 Ethnography, 미래 전망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방법론과 연구 과제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확장된 방법론: Graph RAG &amp; Robot Ethnography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37490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 그래프(Knowledge Graph) 기반의 관계 중심 검색 및 추론. 기존 Vector RAG의 한계를 보완.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원리: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문서에서 엔티티(개체) 추출 (LLM)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관계(Relation) 추출 (LLM)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Graph + DB 구축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질문 시 그래프 쿼리로 검색·응답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적용: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뉴스 인물 관계 네트워크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정책 이해관계자 분석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학술 인용 네트워크 분석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74904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Ethnography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로봇이 참여관찰 연구자 역할 수행. 멀티모달 센서로 사회적 상호작용 데이터 자동 수집.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구성: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Robot-ethnographer: 현장 관찰자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멀티모달 센서: 시각, 음성, 공간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외부 데이터: 웹, 뉴스, 문화 DB 연결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사람 간 거리·이동·상호작용 기록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적용: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공공장소 사회적 행동 관찰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문화적 맥락 고려 HRI 연구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비언어적 커뮤니케이션 분석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Gosnall &amp; Mansouri (2025). Robot Ethnography for Culturally Responsive HRI. AI &amp; Society.</a:t>
            </a:r>
            <a:endParaRPr lang="en-US" sz="9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86604EE-CB17-4741-A611-7B7CC397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98" y="2676379"/>
            <a:ext cx="1895302" cy="235282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B70B2EB-2FB8-47FD-B0B9-66840709C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834" y="3200400"/>
            <a:ext cx="1902862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컴퓨테이셔널 연구방법론의 미래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패러다임 전환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용어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143000"/>
            <a:ext cx="22860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제안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143000"/>
            <a:ext cx="329184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1208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핵심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463040"/>
            <a:ext cx="22860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26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Networked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→ Relation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1783080"/>
            <a:ext cx="228600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9260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Ecology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→ Co-evolution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발전 방향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3774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0080" y="237744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1248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Agents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Agent가 스스로 성능 평가·개선, 자동 연구 파이프라인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774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54880" y="2377440"/>
            <a:ext cx="54864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56048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Simulation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→ 조직 → 사회 → 국가 수준 다층적 시뮬레이션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38328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40080" y="338328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1248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Intelligence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연구자 + AI 에이전트 협업, 민주적 숙의 촉진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956048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Agent Systems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윤리 원칙 내장 에이전트, 편향 모니터링, 투명성 확보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 |  경희대학교 미디어학과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jonghhhh@khu.ac.kr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589520" y="0"/>
            <a:ext cx="1554480" cy="5143500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3326</Words>
  <Application>Microsoft Office PowerPoint</Application>
  <PresentationFormat>화면 슬라이드 쇼(16:9)</PresentationFormat>
  <Paragraphs>541</Paragraphs>
  <Slides>31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컴퓨테이셔널연구방법론 2026</dc:title>
  <dc:subject>PptxGenJS Presentation</dc:subject>
  <dc:creator>이종혁</dc:creator>
  <cp:lastModifiedBy>jh</cp:lastModifiedBy>
  <cp:revision>12</cp:revision>
  <dcterms:created xsi:type="dcterms:W3CDTF">2026-03-02T00:41:46Z</dcterms:created>
  <dcterms:modified xsi:type="dcterms:W3CDTF">2026-03-02T02:34:02Z</dcterms:modified>
</cp:coreProperties>
</file>