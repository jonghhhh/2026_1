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2" r:id="rId3"/>
    <p:sldId id="257" r:id="rId4"/>
    <p:sldId id="258" r:id="rId5"/>
    <p:sldId id="275" r:id="rId6"/>
    <p:sldId id="276" r:id="rId7"/>
    <p:sldId id="274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3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0192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8208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7315"/>
          </a:xfrm>
          <a:prstGeom prst="rect">
            <a:avLst/>
          </a:prstGeom>
          <a:solidFill>
            <a:srgbClr val="5A7FBF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</a:t>
            </a:r>
            <a:r>
              <a:rPr lang="ko-KR" alt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활용 데이터 수집</a:t>
            </a:r>
            <a:endParaRPr lang="en-US" sz="42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1730751B-03FF-4772-A9E0-98B89FBDDB0A}"/>
              </a:ext>
            </a:extLst>
          </p:cNvPr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</a:t>
            </a:r>
            <a:r>
              <a:rPr lang="en-US" sz="1200" dirty="0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1200" dirty="0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경희대 미디어학과</a:t>
            </a:r>
            <a:r>
              <a:rPr lang="en-US" altLang="ko-KR" sz="1200" dirty="0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종합 비교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419591"/>
              </p:ext>
            </p:extLst>
          </p:nvPr>
        </p:nvGraphicFramePr>
        <p:xfrm>
          <a:off x="640080" y="1143000"/>
          <a:ext cx="7863840" cy="309981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인증 방식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 유형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가이드 URL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공공데이터포털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파라미터: serviceKey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기상,교통,부동산 등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data.go.kr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네이버 검색 API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헤더: Client ID/Secret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뉴스,블로그,카페 등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developers.naver.com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네이버 데이터랩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헤더: Client ID/Secret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검색어 트렌드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developers.naver.com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GDELT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인증 불필요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글로벌 뉴스 메타데이터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gdeltproject.org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 Data API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파라미터: key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동영상,채널,댓글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developers.google.com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NewsAPI.org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파라미터: apiKey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무료(제한)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글로벌 뉴스 기사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newsapi.org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Reddit API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헤더: Bearer Token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게시물,댓글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reddit.com/dev/api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 (Twitter) API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헤더: Bearer Token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$200+/월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트윗,프로필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developer.x.com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공통 주의사항 — API 인증의 이해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64008" cy="9144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51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대부분의 API는 브라우저 주소창에 URL만 입력하면 인증 에러가 발생합니다.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반드시 HTTP 헤더 또는 쿼리 파라미터로 인증 정보를 포함해야 합니다.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38404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240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파일로 API 키 관리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DD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706624"/>
            <a:ext cx="325526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 (</a:t>
            </a:r>
            <a:r>
              <a:rPr lang="en-US" sz="850" dirty="0" err="1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프로젝트</a:t>
            </a: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루트</a:t>
            </a: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</a:t>
            </a:r>
            <a:r>
              <a:rPr lang="en-US" sz="850" dirty="0" err="1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gitignore</a:t>
            </a: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추가)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NAVER_CLIENT_ID=발급받은_ID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NAVER_CLIENT_SECRET=발급받은_SECRET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GOOGLE_API_KEY=발급받은_KEY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YOUTUBE_API_KEY=발급받은_KEY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NEWSAPI_KEY=발급받은_KEY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DATA_GO_KR_KEY=발급받은_인증키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46320" y="2148840"/>
            <a:ext cx="38404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2240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방식별 코드 패턴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198649"/>
              </p:ext>
            </p:extLst>
          </p:nvPr>
        </p:nvGraphicFramePr>
        <p:xfrm>
          <a:off x="5029200" y="2651760"/>
          <a:ext cx="3519805" cy="1536192"/>
        </p:xfrm>
        <a:graphic>
          <a:graphicData uri="http://schemas.openxmlformats.org/drawingml/2006/table">
            <a:tbl>
              <a:tblPr/>
              <a:tblGrid>
                <a:gridCol w="1233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인증 방식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코드 패턴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헤더: ID/Secret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headers={"X-Naver-Client-Id": ...}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헤더: Bearer Token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headers={"Authorization": "Bearer ..."}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파라미터: key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params={"key": api_key}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파라미터: serviceKey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URL에 직접 삽입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인증 불필요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바로 호출 가능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029200" y="2651760"/>
            <a:ext cx="3474720" cy="256032"/>
          </a:xfrm>
          <a:prstGeom prst="rect">
            <a:avLst/>
          </a:prstGeom>
          <a:solidFill>
            <a:srgbClr val="2B3A67">
              <a:alpha val="1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한국 공공데이터 API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4300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115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공공데이터포털 (data.go.kr)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정부·공공기관 데이터 (기상, 교통, 부동산, 인구 등)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인증: serviceKey 파라미터 (URL에 직접 삽입)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 무료 (개발 1,000건/일, 운영 100,000건/일)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가이드: data.go.kr/ugs/selectPublicDataUseGuideView.do 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115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 열린데이터광장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5087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서울시 공공데이터 (교통, 환경, 문화, 복지 등)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인증: URL 경로에 인증키 포함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 무료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가이드: data.seoul.go.kr/together/guide/useGuide.do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29184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인증키 주의사항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공공데이터포털 인증키에 =, +, / 등 포함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이미 URL 인코딩된 상태로 발급됨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params 사용 시 이중 인코딩 에러 발생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URL 문자열에 직접 삽입해야 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154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29184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Public API 모음 (GitHub)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00600" y="36576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서비스용 Public API 큐레이션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영화, 도서, 농업, 환경, 교통 등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인증: API마다 상이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github.com/yybmion/public-apis-4Kr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</a:t>
            </a:r>
            <a:r>
              <a:rPr lang="en-US" sz="24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공공데이터포털</a:t>
            </a: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(data.go.kr) — 인증키 발급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4300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115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회원가입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48132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data.go.kr 접속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오른쪽 상단 "회원가입" 클릭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일반회원으로 가입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(네이버/카카오 소셜 로그인도 가능)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115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원하는 API 찾기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48132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 후 상단 검색창에서 검색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(예: "교통사고", "기상청", "부동산")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결과에서 "오픈API" 탭 클릭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"파일데이터"가 아닌 "오픈API" 선택!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29184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활용신청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63016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상세 페이지에서 "활용신청" 클릭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활용목적: "학술연구" 또는 "교육용"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대부분 "자동승인" → 즉시 사용 가능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(일부 수동 심의: 1~3일 소요)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154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29184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인증키 확인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363016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마이페이지 → 오픈API → 개발계정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"일반 인증키 (Encoding)" 복사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(%2B, %3D 등 포함된 긴 문자열)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키를 .env 파일에 저장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69169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142240" y="109728"/>
            <a:ext cx="52269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한국 공공데이터 API — 코드 예제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10234" y="933527"/>
            <a:ext cx="4463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교통사고 데이터</a:t>
            </a:r>
            <a:r>
              <a:rPr lang="en-US" altLang="ko-KR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altLang="ko-KR" sz="9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https://www.data.go.kr/data/15057467/openapi.do</a:t>
            </a:r>
            <a:endParaRPr lang="en-US" altLang="ko-KR" sz="9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11408" y="106270"/>
            <a:ext cx="3577884" cy="4927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import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os</a:t>
            </a:r>
            <a:endParaRPr lang="en-US" altLang="ko-KR" sz="900" b="0" dirty="0">
              <a:effectLst/>
              <a:latin typeface="Consolas" panose="020B0609020204030204" pitchFamily="49" charset="0"/>
            </a:endParaRP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from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urllib.parse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import unquote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import requests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from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dotenv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import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load_dotenv</a:t>
            </a:r>
            <a:endParaRPr lang="en-US" altLang="ko-KR" sz="900" b="0" dirty="0">
              <a:effectLst/>
              <a:latin typeface="Consolas" panose="020B0609020204030204" pitchFamily="49" charset="0"/>
            </a:endParaRP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load_dotenv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service_key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= unquote(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os.getenv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("DATA_GO_KR_KEY", ""))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900" dirty="0">
                <a:latin typeface="Consolas" panose="020B0609020204030204" pitchFamily="49" charset="0"/>
              </a:rPr>
              <a:t>설정</a:t>
            </a:r>
            <a:r>
              <a:rPr lang="en-US" altLang="ko-KR" sz="900" dirty="0">
                <a:latin typeface="Consolas" panose="020B0609020204030204" pitchFamily="49" charset="0"/>
              </a:rPr>
              <a:t>: 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검색연도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시도코드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900" b="0" dirty="0" err="1">
                <a:effectLst/>
                <a:latin typeface="Consolas" panose="020B0609020204030204" pitchFamily="49" charset="0"/>
              </a:rPr>
              <a:t>구군코드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응답형식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(json/xml), 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표시개수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페이지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#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siDo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guGun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은 </a:t>
            </a:r>
            <a:r>
              <a:rPr lang="ko-KR" altLang="en-US" sz="900" b="0" dirty="0" err="1">
                <a:effectLst/>
                <a:latin typeface="Consolas" panose="020B0609020204030204" pitchFamily="49" charset="0"/>
              </a:rPr>
              <a:t>법정동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 코드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다운로드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: https://www.data.go.kr/data/15063424/fileData.do)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params = {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"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serviceKey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":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service_key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"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searchYearCd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": "2017",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"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siDo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": "11",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"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guGun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": "200",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"type": "json",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"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numOfRows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": 10,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"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pageNo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": 1,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url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= "http://apis.data.go.kr/B552061/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frequentzoneLg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getRestFrequentzoneLg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response =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requests.get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url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, params=params, timeout=10)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response.text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공공데이터 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API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는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serviceKey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포함해 아래 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URL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을 브라우저 주소창에 </a:t>
            </a:r>
            <a:r>
              <a:rPr lang="ko-KR" altLang="en-US" sz="900" b="0" dirty="0" err="1">
                <a:effectLst/>
                <a:latin typeface="Consolas" panose="020B0609020204030204" pitchFamily="49" charset="0"/>
              </a:rPr>
              <a:t>붙여넣어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 작동 가능</a:t>
            </a:r>
          </a:p>
          <a:p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prepared_url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requests.Request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("GET",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url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, params=params).prepare().url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print(f"\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nRequest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URL: {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prepared_url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}")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E14F7D5-2BD4-40D1-BD68-92DB1276D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98" y="1207847"/>
            <a:ext cx="3891671" cy="382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87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2&amp;3. </a:t>
            </a:r>
            <a:r>
              <a:rPr lang="en-US" sz="24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네이버</a:t>
            </a: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오픈API — 인증키 발급 (검색 + 데이터랩)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4300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115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네이버 개발자센터 접속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48132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developers.naver.com 접속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네이버 계정으로 로그인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(네이버 계정이 곧 개발자 계정)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115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애플리케이션 등록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48132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상단 메뉴 "Application" → "등록" 클릭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애플리케이션 이름: 아무 이름 (예: "수업용")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API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"검색" 체크 + "데이터랩(검색어트렌드)"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체크</a:t>
            </a:r>
            <a:endParaRPr lang="en-US" sz="1000" dirty="0">
              <a:solidFill>
                <a:srgbClr val="55555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000" dirty="0">
              <a:solidFill>
                <a:srgbClr val="55555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29184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설정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63016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비로그인 오픈 API 서비스 환경에서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"WEB 설정" 선택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서비스 URL에 http://localhost 입력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"등록하기" 클릭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154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29184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ID / Secret 확인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363016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등록 완료 후 "내 애플리케이션" 페이지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ID와 Client Secret 표시됨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두 값을 복사하여 .env에 저장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(외부 노출 절대 금지!)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네이버 검색 API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용도: 뉴스, 블로그, 카페글, 지식iN, 책, 쇼핑, 웹문서, 이미지, 지역 등 분야별 수집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인증: HTTP 헤더에 X-Naver-Client-Id + X-Naver-Client-Secret 필수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 </a:t>
            </a: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ko-KR" alt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 25,000건)  |  키 발급: developers.naver.com/apps/#/register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가이드: developers.naver.com/docs/serviceapi/search/news/news.md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760720" y="100584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엔드포인트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/v1/search/news — 뉴스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/v1/search/blog — 블로그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/v1/search/cafearticle — 카페글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/v1/search/kin — 지식iN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/v1/search/book — 책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/v1/search/shop — 쇼핑</a:t>
            </a:r>
            <a:endParaRPr lang="en-US" sz="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/v1/search/local — 지역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581325"/>
            <a:ext cx="8229600" cy="2562175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6084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예제 — 뉴스 검색 (인증 헤더 포함)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" y="2892258"/>
            <a:ext cx="764438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import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os</a:t>
            </a:r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effectLst/>
                <a:latin typeface="Consolas" panose="020B0609020204030204" pitchFamily="49" charset="0"/>
              </a:rPr>
              <a:t>import requests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from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dotenv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import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load_dotenv</a:t>
            </a:r>
            <a:endParaRPr lang="en-US" altLang="ko-KR" sz="900" b="0" dirty="0">
              <a:effectLst/>
              <a:latin typeface="Consolas" panose="020B0609020204030204" pitchFamily="49" charset="0"/>
            </a:endParaRPr>
          </a:p>
          <a:p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load_dotenv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client_id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os.getenv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("NAVER_CLIENT_ID")</a:t>
            </a:r>
          </a:p>
          <a:p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client_secret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os.getenv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("NAVER_CLIENT_SECRET")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검색어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표시 개수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시작 위치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정렬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(sim: 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정확도순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, date: 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날짜순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)</a:t>
            </a:r>
            <a:endParaRPr lang="ko-KR" altLang="en-US" sz="900" b="0" dirty="0">
              <a:effectLst/>
              <a:latin typeface="Consolas" panose="020B0609020204030204" pitchFamily="49" charset="0"/>
            </a:endParaRP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params = {"query": "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주식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", "display": 10, "start": 1, "sort": "date"}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headers = {"X-Naver-Client-Id":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client_id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, "X-Naver-Client-Secret":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client_secret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url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= "https://openapi.naver.com/v1/search/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news.json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response =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requests.get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url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, params=params, headers=headers, timeout=10)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response.text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F19C3E-8EFF-4E01-ACCB-28DEBFCE17CE}"/>
              </a:ext>
            </a:extLst>
          </p:cNvPr>
          <p:cNvSpPr txBox="1"/>
          <p:nvPr/>
        </p:nvSpPr>
        <p:spPr>
          <a:xfrm>
            <a:off x="6437532" y="4181525"/>
            <a:ext cx="2249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altLang="ko-KR" sz="18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네이버 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API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는 헤더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(X-Naver-Client-Id/Secret)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로 인증하므로</a:t>
            </a:r>
          </a:p>
          <a:p>
            <a:r>
              <a:rPr lang="ko-KR" altLang="en-US" sz="900" b="0" dirty="0">
                <a:effectLst/>
                <a:latin typeface="Consolas" panose="020B0609020204030204" pitchFamily="49" charset="0"/>
              </a:rPr>
              <a:t>브라우저 주소창에 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URL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을 </a:t>
            </a:r>
            <a:r>
              <a:rPr lang="ko-KR" altLang="en-US" sz="900" b="0" dirty="0" err="1">
                <a:effectLst/>
                <a:latin typeface="Consolas" panose="020B0609020204030204" pitchFamily="49" charset="0"/>
              </a:rPr>
              <a:t>붙여넣는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 방식으로는 작동되지 않음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.</a:t>
            </a:r>
            <a:endParaRPr lang="ko-KR" altLang="en-US" sz="900" b="0" dirty="0">
              <a:effectLst/>
              <a:latin typeface="Consolas" panose="020B0609020204030204" pitchFamily="49" charset="0"/>
            </a:endParaRP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6892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204763" y="11625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네이버 검색 API — 대규모 </a:t>
            </a:r>
            <a:r>
              <a:rPr lang="en-US" sz="24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수집</a:t>
            </a: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0" y="31388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페이지네이션</a:t>
            </a: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Rate Limit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005840"/>
            <a:ext cx="4367237" cy="660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all_items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, start = [], 1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while start &lt;= MAX_ITEMS: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resp =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requests.get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url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, params={"query": QUERY, "display": DISPLAY, "start": start, "sort": "date"},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                headers=headers, timeout=10)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if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resp.status_code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== 429: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time.sleep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(5)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continue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if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resp.status_code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!= 200: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print(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f"Error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{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resp.status_code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}: {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resp.text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}")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break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data =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resp.json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items =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data.get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("items", [])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if not items: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break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all_items.extend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(items)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print(f"[{start}~{start +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(items) - 1}] 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누적 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all_items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)}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건 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/ 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전체 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data.get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('total', 0)}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건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")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start += DISPLAY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if start &gt; min(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data.get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("total", 0), MAX_ITEMS):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break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time.sleep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(RATE_LIMIT_SEC)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effectLst/>
                <a:latin typeface="Consolas" panose="020B0609020204030204" pitchFamily="49" charset="0"/>
              </a:rPr>
              <a:t>with open("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news_result.json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", "w", encoding="utf-8") as f: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json.dump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all_items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, f,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ensure_ascii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=False, indent=2)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print(f"\n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수집 완료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: {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all_items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)}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건 →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news_result.json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")</a:t>
            </a: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40712A5F-679E-4F64-AE73-A974A6BF3DA8}"/>
              </a:ext>
            </a:extLst>
          </p:cNvPr>
          <p:cNvSpPr/>
          <p:nvPr/>
        </p:nvSpPr>
        <p:spPr>
          <a:xfrm>
            <a:off x="204763" y="1005840"/>
            <a:ext cx="4099952" cy="660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all_items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, start = [], 1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while start &lt;= MAX_ITEMS: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resp =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requests.get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url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, params={"query": QUERY, "display": DISPLAY, "start": start, "sort": "date"},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                headers=headers, timeout=10)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if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resp.status_code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== 429: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time.sleep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(5)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continue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if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resp.status_code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!= 200: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print(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f"Error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{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resp.status_code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}: {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resp.text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}")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break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data =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resp.json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items =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data.get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("items", [])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if not items: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break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all_items.extend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(items)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print(f"[{start}~{start +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(items) - 1}] 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누적 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all_items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)}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건 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/ 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전체 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data.get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('total', 0)}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건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")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start += DISPLAY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if start &gt; min(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data.get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("total", 0), MAX_ITEMS):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    break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time.sleep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(RATE_LIMIT_SEC)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effectLst/>
                <a:latin typeface="Consolas" panose="020B0609020204030204" pitchFamily="49" charset="0"/>
              </a:rPr>
              <a:t>with open("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news_result.json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", "w", encoding="utf-8") as f: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json.dump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all_items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, f,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ensure_ascii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=False, indent=2)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print(f"\n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수집 완료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: {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all_items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)}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건 →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news_result.json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")</a:t>
            </a:r>
          </a:p>
          <a:p>
            <a:endParaRPr lang="en-US" altLang="ko-KR" sz="900" b="0" dirty="0"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네이버 데이터랩 API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616" y="1019126"/>
            <a:ext cx="3749040" cy="1371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2496" y="106484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496" y="138488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용도: 네이버 검색어 트렌드, 쇼핑인사이트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인증: 헤더 X-Naver-Client-Id/Secret 필수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 </a:t>
            </a:r>
            <a:r>
              <a:rPr lang="en-US" sz="9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ko-KR" alt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</a:t>
            </a: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 1,000건)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가이드: developers.naver.com/docs/serviceapi/datalab/search/search.md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616" y="2609165"/>
            <a:ext cx="3791304" cy="1371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496" y="2654885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엔드포인트 (모두 POST)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496" y="2974925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/v1/datalab/search — 검색어 트렌드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/v1/datalab/shopping/categories — 쇼핑 분야별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/v1/datalab/shopping/category/gender — 성별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/v1/datalab/shopping/category/age — 연령별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/v1/datalab/shopping/category/device — 기기별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075724" y="887945"/>
            <a:ext cx="4793958" cy="4074823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15836" y="987592"/>
            <a:ext cx="4786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예제 — 검색어 트렌드 (POST + JSON Body + 인증 헤더)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43527" y="1354289"/>
            <a:ext cx="4707866" cy="3538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import json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import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os</a:t>
            </a:r>
            <a:endParaRPr lang="en-US" altLang="ko-KR" sz="900" b="0" dirty="0">
              <a:effectLst/>
              <a:latin typeface="Consolas" panose="020B0609020204030204" pitchFamily="49" charset="0"/>
            </a:endParaRP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import requests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from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dotenv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import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load_dotenv</a:t>
            </a:r>
            <a:endParaRPr lang="en-US" altLang="ko-KR" sz="900" b="0" dirty="0">
              <a:effectLst/>
              <a:latin typeface="Consolas" panose="020B0609020204030204" pitchFamily="49" charset="0"/>
            </a:endParaRPr>
          </a:p>
          <a:p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load_dotenv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effectLst/>
                <a:latin typeface="Consolas" panose="020B0609020204030204" pitchFamily="49" charset="0"/>
              </a:rPr>
              <a:t>headers = {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"X-Naver-Client-Id":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os.getenv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("NAVER_CLIENT_ID"),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"X-Naver-Client-Secret":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os.getenv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("NAVER_CLIENT_SECRET"),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"Content-Type": "application/json",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effectLst/>
                <a:latin typeface="Consolas" panose="020B0609020204030204" pitchFamily="49" charset="0"/>
              </a:rPr>
              <a:t>body = {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"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startDate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": "2025-01-01",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"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endDate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": "2026-03-31",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"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timeUnit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": "month", </a:t>
            </a:r>
            <a:r>
              <a:rPr lang="en-US" altLang="ko-KR" sz="9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date: </a:t>
            </a:r>
            <a:r>
              <a:rPr lang="ko-KR" altLang="en-US" sz="9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일별</a:t>
            </a:r>
            <a:r>
              <a:rPr lang="en-US" altLang="ko-KR" sz="9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, week: </a:t>
            </a:r>
            <a:r>
              <a:rPr lang="ko-KR" altLang="en-US" sz="9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주별</a:t>
            </a:r>
            <a:r>
              <a:rPr lang="en-US" altLang="ko-KR" sz="9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, month: </a:t>
            </a:r>
            <a:r>
              <a:rPr lang="ko-KR" altLang="en-US" sz="9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월별</a:t>
            </a:r>
            <a:endParaRPr lang="en-US" altLang="ko-KR" sz="900" b="0" dirty="0">
              <a:effectLst/>
              <a:latin typeface="Consolas" panose="020B0609020204030204" pitchFamily="49" charset="0"/>
            </a:endParaRP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    "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keywordGroups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": [{"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groupName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": "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인공지능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", "keywords": ["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인공지능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", "AI"]}], #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인공지능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과 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"AI"</a:t>
            </a:r>
            <a:r>
              <a:rPr lang="ko-KR" altLang="en-US" sz="900" b="0" dirty="0">
                <a:effectLst/>
                <a:latin typeface="Consolas" panose="020B0609020204030204" pitchFamily="49" charset="0"/>
              </a:rPr>
              <a:t>를 하나로 묶어서 분석</a:t>
            </a:r>
            <a:endParaRPr lang="en-US" altLang="ko-KR" sz="900" b="0" dirty="0">
              <a:effectLst/>
              <a:latin typeface="Consolas" panose="020B0609020204030204" pitchFamily="49" charset="0"/>
            </a:endParaRP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900" b="0" dirty="0">
                <a:effectLst/>
                <a:latin typeface="Consolas" panose="020B0609020204030204" pitchFamily="49" charset="0"/>
              </a:rPr>
            </a:b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url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 = "https://openapi.naver.com/v1/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datalab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/search"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resp = 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requests.post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url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, headers=headers, data=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json.dumps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(body), timeout=10)</a:t>
            </a:r>
          </a:p>
          <a:p>
            <a:r>
              <a:rPr lang="en-US" altLang="ko-KR" sz="900" b="0" dirty="0"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900" b="0" dirty="0" err="1">
                <a:effectLst/>
                <a:latin typeface="Consolas" panose="020B0609020204030204" pitchFamily="49" charset="0"/>
              </a:rPr>
              <a:t>resp.text</a:t>
            </a:r>
            <a:r>
              <a:rPr lang="en-US" altLang="ko-KR" sz="900" b="0" dirty="0"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FC3C5C-2C96-4D77-894A-4448DE70A361}"/>
              </a:ext>
            </a:extLst>
          </p:cNvPr>
          <p:cNvSpPr txBox="1"/>
          <p:nvPr/>
        </p:nvSpPr>
        <p:spPr>
          <a:xfrm>
            <a:off x="109636" y="4248443"/>
            <a:ext cx="3118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트렌드 값으로 검색 비율 </a:t>
            </a:r>
            <a:r>
              <a:rPr lang="en-US" altLang="ko-KR" sz="1000" dirty="0"/>
              <a:t>(ratio) </a:t>
            </a:r>
            <a:r>
              <a:rPr lang="ko-KR" altLang="en-US" sz="1000" dirty="0"/>
              <a:t>사용</a:t>
            </a:r>
            <a:r>
              <a:rPr lang="en-US" altLang="ko-KR" sz="1000" dirty="0"/>
              <a:t>: </a:t>
            </a:r>
            <a:r>
              <a:rPr lang="ko-KR" altLang="en-US" sz="1000" dirty="0"/>
              <a:t>기간 중 최댓값을 </a:t>
            </a:r>
            <a:r>
              <a:rPr lang="en-US" altLang="ko-KR" sz="1000" dirty="0"/>
              <a:t>100</a:t>
            </a:r>
            <a:r>
              <a:rPr lang="ko-KR" altLang="en-US" sz="1000" dirty="0"/>
              <a:t>으로 해서 상대적 비율로 환산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Google 검색 API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09728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Search JSON API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인증: params에 key + cx 필수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 100건/일 무료, 이후 $5/1000건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주의: 2027.1 기존 고객만, 신규는 Vertex AI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가이드: developers.google.com/custom-search/v1/overview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F5F7FA"/>
          </a:solidFill>
          <a:ln w="6350">
            <a:solidFill>
              <a:srgbClr val="DD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340864"/>
            <a:ext cx="325526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"https://www.googleapis.com/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customsearch/v1"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{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"key": os.getenv("GOOGLE_API_KEY"),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"cx": os.getenv("GOOGLE_SEARCH_ENGINE_ID"),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"q": "데이터 저널리즘",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"num": 10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requests.get(url, params=params)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83480" y="109728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1051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 Search API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1417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인증: params에 key 필수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 무료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용도: 인물, 장소, 사물 엔티티 검색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가이드: developers.google.com/knowledge-graph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0" y="2286000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F5F7FA"/>
          </a:solidFill>
          <a:ln w="6350">
            <a:solidFill>
              <a:srgbClr val="DDE1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2340864"/>
            <a:ext cx="325526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"https://kgsearch.googleapis.com/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v1/entities:search"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{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"query": "경희대학교",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"key": os.getenv("GOOGLE_API_KEY"),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"limit": 5,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"languages": "ko"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requests.get(url, params=params)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 발급: console.cloud.google.com → 해당 API 활성화 → API Key 생성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Google Trends API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2143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09728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공식 API (Alpha, 2025.7 출시)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인증: Google Cloud API Key (Alpha 신청 필요)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 Alpha 기간 무료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특징: 일관된 스케일링, 5개+ 검색어 비교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신청: developers.google.com/search/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blog/2025/07/trends-api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주의: 제한된 테스터만 접근 가능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39"/>
            <a:ext cx="3840480" cy="21437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109728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051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pytrends (비공식 라이브러리)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불필요 (웹 스크래핑 기반)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 무료  |  주의: 차단 가능성 있음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83480" y="1874520"/>
            <a:ext cx="3520440" cy="1102362"/>
          </a:xfrm>
          <a:prstGeom prst="roundRect">
            <a:avLst>
              <a:gd name="adj" fmla="val 6316"/>
            </a:avLst>
          </a:prstGeom>
          <a:solidFill>
            <a:srgbClr val="F5F7FA"/>
          </a:solidFill>
          <a:ln w="6350">
            <a:solidFill>
              <a:srgbClr val="DDE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8928" y="1929384"/>
            <a:ext cx="3255264" cy="1093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pytrends.request import TrendReq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pytrends = TrendReq(hl="ko", tz=540)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pytrends.build_payload(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kw_list=["인공지능","ChatGPT"],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timeframe="2025-01-01 2026-03-31",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geo="KR")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pytrends.interest_over_time()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 YouTube Data API v3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용도: 동영상 검색, 채널/동영상 메타데이터, 댓글, 재생목록 수집    |    인증: params에 key 필수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 무료 (일일 10,000 units)    |    키 발급: console.cloud.google.com → YouTube Data API v3 활성화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가이드: developers.google.com/youtube/v3    |    쿼터 계산기: developers.google.com/youtube/v3/determine_quota_cost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840480" cy="2575168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동영상 검색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3474720" cy="1920240"/>
          </a:xfrm>
          <a:prstGeom prst="roundRect">
            <a:avLst>
              <a:gd name="adj" fmla="val 2857"/>
            </a:avLst>
          </a:prstGeom>
          <a:solidFill>
            <a:srgbClr val="F5F7FA"/>
          </a:solidFill>
          <a:ln w="6350">
            <a:solidFill>
              <a:srgbClr val="DDE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752344"/>
            <a:ext cx="325526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"https://www.googleapis.com/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youtube/v3/search"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{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"key": os.getenv("YOUTUBE_API_KEY"),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"part": "snippet",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"q": "데이터 저널리즘",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"video",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"maxResults": 10,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"order": "viewCount",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"regionCode": "KR"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requests.get(url, params=params)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46320" y="2285999"/>
            <a:ext cx="3840480" cy="2575169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동영상 통계 + 댓글 수집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2697480"/>
            <a:ext cx="3474720" cy="2103120"/>
          </a:xfrm>
          <a:prstGeom prst="roundRect">
            <a:avLst>
              <a:gd name="adj" fmla="val 2857"/>
            </a:avLst>
          </a:prstGeom>
          <a:solidFill>
            <a:srgbClr val="F5F7FA"/>
          </a:solidFill>
          <a:ln w="6350">
            <a:solidFill>
              <a:srgbClr val="DD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2717097"/>
            <a:ext cx="325526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통계 (조회수, 좋아요)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"https://www.googleapis.com/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youtube/v3/videos"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{"key": API_KEY,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"part": "snippet,statistics",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"id": "VIDEO_ID"}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댓글 수집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"https://www.googleapis.com/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youtube/v3/commentThreads"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{"key": API_KEY,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"part": "snippet",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"videoId": "VIDEO_ID",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"maxResults": 20}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 X (Twitter) API v2   </a:t>
            </a:r>
            <a:r>
              <a:rPr lang="ko-KR" altLang="en-US" sz="24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유료</a:t>
            </a:r>
            <a:r>
              <a:rPr lang="en-US" altLang="ko-KR" sz="24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인증: 헤더 Authorization: Bearer TOKEN 필수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학술 연구용 무료 접근 2023년 폐지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 발급: developer.x.com/en/portal/dashboard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가이드: developer.x.com/en/docs/x-api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요금제: docs.x.com/x-api/getting-started/pricing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요금제 (2026년 현재)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417320"/>
          <a:ext cx="3474720" cy="11049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티어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가격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읽기 한도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읽기 불가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$200/월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10,000건/월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$5,000/월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1,000,000건/월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Pay-Per-Use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종량제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크레딧 기반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306324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9"/>
          <p:cNvSpPr/>
          <p:nvPr/>
        </p:nvSpPr>
        <p:spPr>
          <a:xfrm>
            <a:off x="64008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예제 (Basic 이상 필요)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3474720"/>
            <a:ext cx="7863840" cy="1143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 w="6350">
            <a:solidFill>
              <a:srgbClr val="DDE1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3529584"/>
            <a:ext cx="764438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"https://api.x.com/2/tweets/search/recent"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{"query": "데이터저널리즘 lang:ko", "max_results": 10,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"tweet.fields": "created_at,public_metrics,author_id"}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 = {"Authorization": f"Bearer {os.getenv('X_BEARER_TOKEN')}"}   # &lt;-- 헤더 필수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requests.get(url, headers=headers, params=params)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response.status_code == 403: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print("Free 티어에서는 읽기 불가. Basic($200/월) 이상 필요")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 Reddit Data API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인증: OAuth 2.0 — Bearer Token 헤더 필수 (Client ID/Secret으로 토큰 발급)    |    비용: 비상업적 무료    |    Rate Limit: 60req/min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 발급: reddit.com/prefs/apps → script 타입 선택    |    가이드: support.reddithelp.com/hc/en-us/articles/16160319875092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학술 연구: reddit.com/r/reddit4researchers    |    Python 래퍼 (PRAW): praw.readthedocs.io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3755292" cy="2798298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PRAW 라이브러리 (권장)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3474720" cy="219456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 w="6350">
            <a:solidFill>
              <a:srgbClr val="DDE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615184"/>
            <a:ext cx="325526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praw, os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dotenv import load_dotenv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load_dotenv()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reddit = praw.Reddit(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client_id=os.getenv("REDDIT_CLIENT_ID"),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client_secret=os.getenv(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"REDDIT_CLIENT_SECRET"),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user_agent="DataJournalism/1.0"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subreddit = reddit.subreddit("korea")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post in subreddit.hot(limit=10):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print(post.title, post.score)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46320" y="2148840"/>
            <a:ext cx="3840480" cy="2798298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OAuth 인증 (래퍼 없이)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2560320"/>
            <a:ext cx="3474720" cy="2285218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 w="6350">
            <a:solidFill>
              <a:srgbClr val="DD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2615184"/>
            <a:ext cx="325526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1단계: Access Token 발급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= base64.b64encode(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f"{client_id}:{client_secret}"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.encode()).decode()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requests.post(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"https://www.reddit.com/api/v1/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access_token",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headers={"Authorization":f"Basic {auth}",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"User-Agent":"App/1.0"},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data={"grant_type":"client_credentials"})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= resp.json()["access_token"]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2단계: API 호출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 = {"Authorization":f"Bearer {token}",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"User-Agent":"App/1.0"}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 GDELT — 글로벌 뉴스 데이터 (무료, 인증 불필요)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용도: 전 세계 뉴스 메타데이터, 이벤트 데이터, 감성 분석, 지리 정보 (65개 언어 실시간 기계번역)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인증: 불필요 — API Key 없이 바로 호출 가능    |    비용: 완전 무료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가이드: blog.gdeltproject.org/gdelt-doc-2-0-api-debuts    |    Python: github.com/alex9smith/gdelt-doc-api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199" y="2286000"/>
            <a:ext cx="3840481" cy="28575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호출 (인증 불필요)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3364992" cy="2331720"/>
          </a:xfrm>
          <a:prstGeom prst="roundRect">
            <a:avLst>
              <a:gd name="adj" fmla="val 2857"/>
            </a:avLst>
          </a:prstGeom>
          <a:solidFill>
            <a:srgbClr val="F5F7FA"/>
          </a:solidFill>
          <a:ln w="6350">
            <a:solidFill>
              <a:srgbClr val="DDE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752344"/>
            <a:ext cx="325526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requests, pandas as pd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인증 없이 바로 호출 가능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"https://api.gdeltproject.org/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api/v2/doc/doc"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{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"query": "South Korea",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"mode": "artlist",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"maxrecords": 50,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"format": "json",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"sort": "datedesc",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"timespan": "1w"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requests.get(url, params=params)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pd.DataFrame(resp.json()["articles"])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46320" y="2286000"/>
            <a:ext cx="3749040" cy="28575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gdeltdoc 라이브러리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2697480"/>
            <a:ext cx="3474720" cy="2446020"/>
          </a:xfrm>
          <a:prstGeom prst="roundRect">
            <a:avLst>
              <a:gd name="adj" fmla="val 2857"/>
            </a:avLst>
          </a:prstGeom>
          <a:solidFill>
            <a:srgbClr val="F5F7FA"/>
          </a:solidFill>
          <a:ln w="6350">
            <a:solidFill>
              <a:srgbClr val="DD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2752344"/>
            <a:ext cx="325526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gdeltdoc import GdeltDoc, Filters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Filters(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keyword="Korea",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start_date="2026-03-01",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end_date="2026-03-31",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country="KS"  # FIPS: South Korea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 = GdeltDoc()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articles = gd.article_search(f)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보도량 타임라인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timeline = gd.timeline_search(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"timelinevol", f)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감성 타임라인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tone = gd.timeline_search("timelinetone", f)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 GDELT — 고급 쿼리 &amp; API 종류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API 종류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3474720" cy="11049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설명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 2.0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전문 검색 (최근 3개월)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 2.0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뉴스 지리 데이터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 2.0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문장 단위 검색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TV 2.0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미국 TV 뉴스 자막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84632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 쿼리 연산자</a:t>
            </a:r>
            <a:endParaRPr lang="en-US" sz="12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417320"/>
          <a:ext cx="3474720" cy="12877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연산자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예시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설명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sourcecountry: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발행 국가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sourcelang: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Korean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언어 필터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domainis: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nytimes.com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특정 도메인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near10:"climate"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근접 검색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tone&lt; / tone&gt;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tone&lt;-5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감성 필터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10. 뉴스 API — NewsAPI, Mediastack, NewsAPI.ai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09728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NewsAPI.org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49504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50,000+ 소스, 50개국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인증: apiKey 파라미터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무료: 100req/일, 30일 기사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newsapi.org/docs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241804"/>
            <a:ext cx="2194560" cy="150876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 w="6350">
            <a:solidFill>
              <a:srgbClr val="DD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249424"/>
            <a:ext cx="197510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"https://newsapi.org/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v2/everything"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{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"apiKey": os.getenv(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"NEWSAPI_KEY"),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"q": "AI",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"language": "en",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"sortBy": "publishedAt",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"pageSize": 10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73552" y="100584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10712" y="109728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4" name="Text 12"/>
          <p:cNvSpPr/>
          <p:nvPr/>
        </p:nvSpPr>
        <p:spPr>
          <a:xfrm>
            <a:off x="3410712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22192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Mediastack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56432" y="151341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7,500+ 소스, 50개국, 13개 언어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인증: access_key 파라미터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무료: 월 100건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mediastack.com/documentation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56432" y="2233989"/>
            <a:ext cx="2194560" cy="150876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 w="6350">
            <a:solidFill>
              <a:srgbClr val="DDE1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2249424"/>
            <a:ext cx="197510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무료: http만 (https X)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"http://api.mediastack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.com/v1/news"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{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"access_key": os.getenv(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"MEDIASTACK_KEY"),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"keywords": "AI",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"languages": "en",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"limit": 10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80760" y="100584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09728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NewsAPI.ai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151341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150,000+ 소스, 50개 언어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2014년부터 아카이브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감성 분석 내장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newsapi.ai/documentation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63640" y="2235552"/>
            <a:ext cx="2194560" cy="1603717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 w="6350">
            <a:solidFill>
              <a:srgbClr val="DDE1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2249424"/>
            <a:ext cx="197510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eventregistry import 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EventRegistry,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QueryArticlesIter)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 = EventRegistry(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apiKey=os.getenv(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"EVENTREGISTRY_KEY"))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QueryArticlesIter(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keywords="AI",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lang="eng")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11. 기타 유용한 API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09728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Clova Face Recognition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563624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얼굴 인식, 유명인 닮은꼴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인증: 헤더 ID/Secret 필수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developers.naver.com/docs/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serviceapi/vision/face/face.md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249424"/>
            <a:ext cx="2194560" cy="2220976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DD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304288"/>
            <a:ext cx="197510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"https://openapi.naver.com/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v1/vision/celebrity"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 = {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"X-Naver-Client-Id":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os.getenv("NAVER_CLIENT_ID"),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"X-Naver-Client-Secret":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os.getenv("NAVER_CLIENT_SECRET")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 = {"image":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open("photo.jpg","rb")}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requests.post(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url, headers=headers, files=files)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73552" y="10058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10712" y="109728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4" name="Text 12"/>
          <p:cNvSpPr/>
          <p:nvPr/>
        </p:nvSpPr>
        <p:spPr>
          <a:xfrm>
            <a:off x="3410712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22192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NL API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56432" y="155854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감성 분석, 엔티티 추출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구문 분석, 콘텐츠 분류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인증: API Key 또는 서비스 계정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cloud.google.com/natural-language/docs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10058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9728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Vision 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54076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라벨 감지, OCR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얼굴 감지, 랜드마크 감지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인증: API Key 또는 서비스 계정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cloud.google.com/vision/docs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Vibe Coding 활용법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4300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115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자연어로 데이터 수집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50876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5F7FA"/>
          </a:solidFill>
          <a:ln w="6350">
            <a:solidFill>
              <a:srgbClr val="DDE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563624"/>
            <a:ext cx="32552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"네이버 뉴스 검색 API로 '인공지능'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관련 기사 1000건 수집해서 pandas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DataFrame으로 변환하고, 월별 기사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수 추이 그래프 그려줘.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 키는 .env 파일에서 읽어와.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헤더에 X-Naver-Client-Id와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X-Naver-Client-Secret 넣어야 해."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1772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4300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66360" y="1115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자연어로 분석 + 시각화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150876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5F7FA"/>
          </a:solidFill>
          <a:ln w="6350">
            <a:solidFill>
              <a:srgbClr val="DDE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1563624"/>
            <a:ext cx="32552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"GDELT DOC API로 최근 3개월간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'Korea' 관련 글로벌 뉴스 수집하고,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국가별 보도량 비교 차트 만들어줘.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GDELT는 인증 불필요."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29184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자연어로 대규모 수집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365760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F5F7FA"/>
          </a:solidFill>
          <a:ln w="6350">
            <a:solidFill>
              <a:srgbClr val="DDE1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712464"/>
            <a:ext cx="32552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"YouTube Data API로 '데이터저널리즘'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검색 결과 동영상 500개의 제목,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조회수, 좋아요, 게시일 수집해서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CSV로 저장해줘.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 키는 .env의 YOUTUBE_API_KEY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에서 가져와. params에 key 파라미터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로 넣어야 해."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17720" y="3154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29184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00600" y="3657600"/>
            <a:ext cx="3593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프롬프트에 인증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방식을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명시하면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정확한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코드 생성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VSCode 터미널에서 바로 실행 가능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작성보다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설계와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해석에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집중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4638</Words>
  <Application>Microsoft Office PowerPoint</Application>
  <PresentationFormat>화면 슬라이드 쇼(16:9)</PresentationFormat>
  <Paragraphs>638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맑은 고딕</vt:lpstr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가이드 — 대규모 데이터 수집·분석·시각화</dc:title>
  <dc:subject>PptxGenJS Presentation</dc:subject>
  <dc:creator>이종혁</dc:creator>
  <cp:lastModifiedBy>jh</cp:lastModifiedBy>
  <cp:revision>24</cp:revision>
  <dcterms:created xsi:type="dcterms:W3CDTF">2026-04-05T01:16:26Z</dcterms:created>
  <dcterms:modified xsi:type="dcterms:W3CDTF">2026-04-05T11:15:35Z</dcterms:modified>
</cp:coreProperties>
</file>