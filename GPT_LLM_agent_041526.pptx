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4" r:id="rId3"/>
    <p:sldId id="257" r:id="rId4"/>
    <p:sldId id="258" r:id="rId5"/>
    <p:sldId id="260" r:id="rId6"/>
    <p:sldId id="304" r:id="rId7"/>
    <p:sldId id="275" r:id="rId8"/>
    <p:sldId id="264" r:id="rId9"/>
    <p:sldId id="265" r:id="rId10"/>
    <p:sldId id="266" r:id="rId11"/>
    <p:sldId id="267" r:id="rId12"/>
    <p:sldId id="268" r:id="rId13"/>
    <p:sldId id="269" r:id="rId14"/>
    <p:sldId id="272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13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4733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4070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86BB63-2EFC-4E21-8027-411B30DC4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4D224A-DE9E-4D61-B5D7-5DE6B499B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18EE58-8FE5-4E9A-B30C-F3CE3149C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AC843-EA5E-42BA-AA50-BC0A817A12D3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819D74-6504-4290-B47C-C03C04B89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6795D8-7CCC-4EFD-B625-C99BADEB0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7B2CC-B70C-4356-A010-9F6996B153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611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7315"/>
          </a:xfrm>
          <a:prstGeom prst="rect">
            <a:avLst/>
          </a:prstGeom>
          <a:solidFill>
            <a:srgbClr val="5A7FBF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GPT와 LLM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Pre-trained Transformer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언어 모델의 시대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77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이종혁 </a:t>
            </a:r>
            <a:r>
              <a:rPr lang="en-US" altLang="ko-KR" sz="1200" dirty="0">
                <a:solidFill>
                  <a:srgbClr val="77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200" dirty="0" err="1">
                <a:solidFill>
                  <a:srgbClr val="77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경희대학교</a:t>
            </a:r>
            <a:r>
              <a:rPr lang="en-US" sz="1200" dirty="0">
                <a:solidFill>
                  <a:srgbClr val="77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77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미디어학과</a:t>
            </a:r>
            <a:r>
              <a:rPr lang="en-US" sz="1200" dirty="0">
                <a:solidFill>
                  <a:srgbClr val="77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BERT vs GPT — 이해 vs 생성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740837"/>
              </p:ext>
            </p:extLst>
          </p:nvPr>
        </p:nvGraphicFramePr>
        <p:xfrm>
          <a:off x="640080" y="1188720"/>
          <a:ext cx="7863840" cy="28803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기반 구조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Transformer 인코더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Transformer 디코더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방향성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양방향 (Bidirectional)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단방향 (Left-to-Right)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학습 방식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MLM (빈칸 채우기) + NSP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Token Prediction (다음 단어 예측)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강점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언어 이해 (분류, NER, QA)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언어 생성 (대화, 요약, 번역)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약점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텍스트 생성에 부적합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양방향 문맥 이해 제한적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활용 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감정 분석, 검색 엔진, 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ChatGPT, 글쓰기, 코드 생성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독해 시험에 능한 학생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작문 시험에 능한 학생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251960"/>
            <a:ext cx="7680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4251960"/>
            <a:ext cx="64008" cy="457200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42976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BERT: "나는 이 문장을 이해할 수 있다" (이해)    |    GPT: "나는 다음 문장을 생성할 수 있다" (</a:t>
            </a:r>
            <a:r>
              <a:rPr lang="en-US" sz="12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</a:t>
            </a: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GPT — 다음 단어를 예측하는 생성 모델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= Generative Pre-trained Transformer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Transformer의 디코더만 사용하는 대규모 언어 모델(LLM). 핵심 원리는 Next Token Prediction — 주어진 텍스트 다음에 올 단어를 예측.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"나는 오늘 학교에" → "갔다" (가장 확률 높은 다음 단어를 생성). 이 과정을 반복하면 문장, 문단, 글 전체를 생성할 수 있음.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3840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256032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560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5328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BERT와의 핵심 차이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898648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BERT: 인코더 → 양방향 이해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"나는 [MASK]에 간다" → 빈칸 채우기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좌우 문맥 모두 참조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GPT: 디코더 → 단방향 생성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"나는 오늘" → "학교에" → "갔다"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왼쪽에서 오른쪽으로만 생성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2423160"/>
            <a:ext cx="3840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56032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560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66360" y="25328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GPT가 대세가 되었나?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2898648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스케일링 법칙: 모델과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데이터가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커지면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성능이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향상됨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범용성: 번역, 요약, 코딩,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추론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등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다양한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과제 수행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창발적 능력(Emergent Abilities):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규모 이상에서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예상치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못한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새로운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능력이 나타남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GPT의 발전 — GPT-1에서 GPT-4까지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040880" cy="301752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연도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파라미터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 특징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학습 방식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Transformer 디코더 기반 최초 모델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사전학습 + 파인 튜닝 패러다임 제시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비지도 사전학습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지도 파인 튜닝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파인 튜닝 없이도 다양한 과제 수행 가능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"너무 위험해서 공개 못 한다" 화제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비지도 학습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다중 작업 학습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1,750억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Few-shot Learning: 예시 몇 개만으로 학습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In-context Learning 능력 발현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비지도 학습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Few-shot Learning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InstructGPT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~1,750억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지시-응답 데이터셋 학습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RLHF(인간 피드백 강화학습) 도입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지시-응답 학습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RLHF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GPT-3.5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대화형 최적화 모델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일반 대중에게 AI 대중화의 기폭제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GPT-3.5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InstructGPT 방식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~1.7조(추정)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멀티모달(텍스트+이미지 입력)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추론 능력 대폭 향상, 시험 통과 수준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대규모 학습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RLHF 고도화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251960"/>
            <a:ext cx="7680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4251960"/>
            <a:ext cx="64008" cy="457200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42976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흐름: 비지도 학습(GPT-1~3) → 지시-응답 학습(InstructGPT) → RLHF(ChatGPT) → 멀티모달(GPT-4) → 추론 강화(o1, o3)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In-context Learning과 Few-shot Learning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14300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115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Learning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48132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 없이 지시만으로 과제 수행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"다음 문장의 감정을 분류하시오.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문장: 오늘 날씨가 정말 좋다"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모델이 학습 없이 바로 "긍정"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00584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4300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115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Learning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468216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소수의 예시를 프롬프트에 제공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 이 영화 최고! →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긍정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너무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재미없다 → 부정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문장: 오늘 날씨가 정말 좋다 → ?“ 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예시 패턴을 보고 "긍정" 출력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파인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튜닝 없이 프롬프트만으로 학습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29184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264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In-context Learning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Zero-shot과 Few-shot을 포괄하는 개념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안 맥락(context)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과제를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이해하고 수행하는 능력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모델의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가중치는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변하지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않음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별도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없이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추론에만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동작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315468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29184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66360" y="3264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가능한가?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3678907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사전학습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덕분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수천억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개의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파라미터가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인터넷의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방대한 패턴을 학습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프롬프트가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주어지면 학습된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중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적합한 것을 활성화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비유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다양한 경험을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가진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전문가가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새로운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상황에서도 유추하여 대응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324D6F-8AE0-4774-B5F8-38D8623D7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9F9337-0AA1-4373-B8C4-09730E0E4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2CD154EE-1B0E-49BB-8387-F307F9F6B53F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864EEC6-868B-4F64-9BD6-B18FD542DF23}"/>
              </a:ext>
            </a:extLst>
          </p:cNvPr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</a:rPr>
              <a:t>I</a:t>
            </a:r>
            <a:r>
              <a:rPr lang="en-US" altLang="ko-KR" sz="2400" b="1" dirty="0">
                <a:solidFill>
                  <a:srgbClr val="FFFFFF"/>
                </a:solidFill>
                <a:latin typeface="Arial Black" pitchFamily="34" charset="0"/>
              </a:rPr>
              <a:t>GPT </a:t>
            </a:r>
            <a:r>
              <a:rPr lang="ko-KR" altLang="en-US" sz="2400" b="1" dirty="0">
                <a:solidFill>
                  <a:srgbClr val="FFFFFF"/>
                </a:solidFill>
                <a:latin typeface="Arial Black" pitchFamily="34" charset="0"/>
              </a:rPr>
              <a:t>활용과 조정 </a:t>
            </a:r>
            <a:r>
              <a:rPr lang="en-US" altLang="ko-KR" sz="2400" b="1" dirty="0">
                <a:solidFill>
                  <a:srgbClr val="FFFFFF"/>
                </a:solidFill>
                <a:latin typeface="Arial Black" pitchFamily="34" charset="0"/>
              </a:rPr>
              <a:t>- </a:t>
            </a:r>
            <a:r>
              <a:rPr lang="en-US" altLang="ko-KR" sz="1600" b="1" dirty="0">
                <a:solidFill>
                  <a:srgbClr val="FFFFFF"/>
                </a:solidFill>
                <a:latin typeface="Arial Black" pitchFamily="34" charset="0"/>
              </a:rPr>
              <a:t>Prompt</a:t>
            </a:r>
            <a:r>
              <a:rPr lang="ko-KR" altLang="en-US" sz="1600" b="1" dirty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en-US" altLang="ko-KR" sz="1600" b="1" dirty="0">
                <a:solidFill>
                  <a:srgbClr val="FFFFFF"/>
                </a:solidFill>
                <a:latin typeface="Arial Black" pitchFamily="34" charset="0"/>
              </a:rPr>
              <a:t>Engineering,</a:t>
            </a:r>
            <a:r>
              <a:rPr lang="ko-KR" altLang="en-US" sz="1600" b="1" dirty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en-US" altLang="ko-KR" sz="1600" b="1" dirty="0">
                <a:solidFill>
                  <a:srgbClr val="FFFFFF"/>
                </a:solidFill>
                <a:latin typeface="Arial Black" pitchFamily="34" charset="0"/>
              </a:rPr>
              <a:t>RAG, Fine-tuning</a:t>
            </a:r>
            <a:r>
              <a:rPr lang="ko-KR" altLang="en-US" sz="1600" b="1" dirty="0">
                <a:solidFill>
                  <a:srgbClr val="FFFFFF"/>
                </a:solidFill>
                <a:latin typeface="Arial Black" pitchFamily="34" charset="0"/>
              </a:rPr>
              <a:t> </a:t>
            </a:r>
            <a:endParaRPr lang="en-US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EDBC8CC-D8A8-42B1-A164-04829884E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30" y="1008791"/>
            <a:ext cx="6789995" cy="367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601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1306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Engineering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65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51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 모델을 효율적으로 사용하기 위해 목표에 맞는 입력 텍스트(프롬프트)를 설계하는 기술. 같은 모델이라도 프롬프트에 따라 결과 품질이 크게 달라짐.</a:t>
            </a:r>
            <a:endParaRPr lang="en-US" sz="1050" dirty="0"/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C3E85317-D55A-4CBB-8420-FE26E251D1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" y="2960304"/>
            <a:ext cx="3786052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300" b="1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예시 제공</a:t>
            </a:r>
            <a:r>
              <a:rPr lang="en-US" altLang="ko-KR" sz="1300" b="1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(Few-shot)</a:t>
            </a:r>
            <a:r>
              <a:rPr lang="ko-KR" altLang="ko-KR" sz="1300" b="1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: </a:t>
            </a:r>
            <a:r>
              <a:rPr lang="ko-KR" altLang="ko-KR" sz="1300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형식과 스타일 학습</a:t>
            </a:r>
            <a:endParaRPr lang="en-US" altLang="ko-KR" sz="1300" dirty="0">
              <a:solidFill>
                <a:srgbClr val="2D2D2D"/>
              </a:solidFill>
              <a:latin typeface="Arial" pitchFamily="34" charset="0"/>
              <a:cs typeface="Arial" pitchFamily="34" charset="-12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ko-KR" sz="1400" dirty="0"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다음은 정보원 추출의 예입니다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예시 기사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환경부는 국내 미세먼지 농도가 개선되고 있다고 발표했다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. </a:t>
            </a: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하지만 환경단체 그린피스는 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"</a:t>
            </a: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정부의 발표가 과장되었다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"</a:t>
            </a: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며 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"</a:t>
            </a: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독립적인 검증이 필요하다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"</a:t>
            </a: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고 강조했다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예시 결과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: [</a:t>
            </a: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환경부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그린피스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]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아래 뉴스 기사에 등장하는 정보원을 </a:t>
            </a:r>
            <a:r>
              <a:rPr lang="ko-KR" altLang="en-US" sz="1050" dirty="0" err="1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추출하시오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.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뉴스 기사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: </a:t>
            </a: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실제기사</a:t>
            </a:r>
            <a:endParaRPr lang="ko-KR" altLang="ko-KR" sz="1050" dirty="0">
              <a:solidFill>
                <a:srgbClr val="555555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666FD016-16FE-4AE6-BEBF-DD0CA8E80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" y="1750105"/>
            <a:ext cx="3111925" cy="1284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300" b="1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페르소나 부여: </a:t>
            </a:r>
            <a:r>
              <a:rPr lang="ko-KR" altLang="ko-KR" sz="1300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역할 기반 응답</a:t>
            </a:r>
            <a:endParaRPr lang="en-US" altLang="ko-KR" sz="1300" dirty="0">
              <a:solidFill>
                <a:srgbClr val="2D2D2D"/>
              </a:solidFill>
              <a:latin typeface="Arial" pitchFamily="34" charset="0"/>
              <a:cs typeface="Arial" pitchFamily="34" charset="-120"/>
            </a:endParaRP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ko-KR" sz="1400" dirty="0">
              <a:latin typeface="Arial" panose="020B0604020202020204" pitchFamily="34" charset="0"/>
            </a:endParaRP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당신은 뉴스 분석 전문가입니다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. </a:t>
            </a: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아래 뉴스 기사에  등장하는 정보원을 </a:t>
            </a:r>
            <a:r>
              <a:rPr lang="ko-KR" altLang="en-US" sz="1050" dirty="0" err="1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추출하시오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. </a:t>
            </a: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뉴스 기사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: </a:t>
            </a: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실제 기사</a:t>
            </a: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ko-KR" altLang="ko-KR" sz="1800" dirty="0">
              <a:latin typeface="Arial" panose="020B0604020202020204" pitchFamily="34" charset="0"/>
            </a:endParaRPr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6AFC6EFE-66DF-404E-993B-5E35BA1CB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3194" y="2960304"/>
            <a:ext cx="4179084" cy="1492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300" b="1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논리적 추론 유도</a:t>
            </a:r>
            <a:r>
              <a:rPr lang="en-US" altLang="ko-KR" sz="1300" b="1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en-US" altLang="ko-KR" sz="1300" b="1" dirty="0" err="1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CoT</a:t>
            </a:r>
            <a:r>
              <a:rPr lang="en-US" altLang="ko-KR" sz="1300" b="1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)</a:t>
            </a:r>
            <a:r>
              <a:rPr lang="ko-KR" altLang="ko-KR" sz="1300" b="1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: </a:t>
            </a:r>
            <a:r>
              <a:rPr lang="ko-KR" altLang="ko-KR" sz="1300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복잡한 문제 해결</a:t>
            </a:r>
            <a:endParaRPr lang="en-US" altLang="ko-KR" sz="1300" dirty="0">
              <a:solidFill>
                <a:srgbClr val="2D2D2D"/>
              </a:solidFill>
              <a:latin typeface="Arial" pitchFamily="34" charset="0"/>
              <a:cs typeface="Arial" pitchFamily="34" charset="-120"/>
            </a:endParaRP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ko-KR" sz="1300" b="1" dirty="0">
              <a:solidFill>
                <a:srgbClr val="2D2D2D"/>
              </a:solidFill>
              <a:latin typeface="Arial" pitchFamily="34" charset="0"/>
              <a:cs typeface="Arial" pitchFamily="34" charset="-120"/>
            </a:endParaRP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뉴스 기사에서 정보원을 추출하고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각 정보원의 유형을 </a:t>
            </a:r>
            <a:r>
              <a:rPr lang="ko-KR" altLang="en-US" sz="1050" dirty="0" err="1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분류하시오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.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뉴스 기사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: </a:t>
            </a: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실제기사</a:t>
            </a:r>
            <a:endParaRPr lang="ko-KR" altLang="ko-KR" sz="1050" dirty="0">
              <a:solidFill>
                <a:srgbClr val="555555"/>
              </a:solidFill>
              <a:latin typeface="Arial" pitchFamily="34" charset="0"/>
              <a:cs typeface="Arial" pitchFamily="34" charset="-120"/>
            </a:endParaRP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단계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:</a:t>
            </a: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1. </a:t>
            </a: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주요 발언을 확인하세요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.</a:t>
            </a: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2. </a:t>
            </a: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발언의 </a:t>
            </a:r>
            <a:r>
              <a:rPr lang="ko-KR" altLang="en-US" sz="1050" dirty="0" err="1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정보원를</a:t>
            </a: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 추출하세요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.</a:t>
            </a: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3. </a:t>
            </a: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정보원의 유형을 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[</a:t>
            </a: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공식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비공식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익명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] </a:t>
            </a: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가운데 하나로 분류해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.</a:t>
            </a:r>
            <a:r>
              <a:rPr lang="ko-KR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 </a:t>
            </a:r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9223C333-516A-4AE7-8D9A-B38CA3749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3194" y="1750105"/>
            <a:ext cx="4049732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300" b="1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배경-맥락</a:t>
            </a:r>
            <a:r>
              <a:rPr lang="en-US" altLang="ko-KR" sz="1300" b="1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-</a:t>
            </a:r>
            <a:r>
              <a:rPr lang="ko-KR" altLang="en-US" sz="1300" b="1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조건</a:t>
            </a:r>
            <a:r>
              <a:rPr lang="en-US" altLang="ko-KR" sz="1300" b="1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-</a:t>
            </a:r>
            <a:r>
              <a:rPr lang="ko-KR" altLang="en-US" sz="1300" b="1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제한</a:t>
            </a:r>
            <a:r>
              <a:rPr lang="ko-KR" altLang="ko-KR" sz="1300" b="1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 설명: </a:t>
            </a:r>
            <a:r>
              <a:rPr lang="ko-KR" altLang="ko-KR" sz="1300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작업 이해도 증가</a:t>
            </a:r>
            <a:endParaRPr lang="en-US" altLang="ko-KR" sz="1300" dirty="0">
              <a:solidFill>
                <a:srgbClr val="2D2D2D"/>
              </a:solidFill>
              <a:latin typeface="Arial" pitchFamily="34" charset="0"/>
              <a:cs typeface="Arial" pitchFamily="34" charset="-120"/>
            </a:endParaRP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ko-KR" sz="1400" dirty="0">
              <a:latin typeface="Arial" panose="020B0604020202020204" pitchFamily="34" charset="0"/>
            </a:endParaRP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정보원은 기사 내용의 전달자이며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기사에서 실명이나 익명으로 출처가 표시되어 드러납니다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.</a:t>
            </a: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아래 뉴스 기사에  등장하는 정보원을 </a:t>
            </a:r>
            <a:r>
              <a:rPr lang="ko-KR" altLang="en-US" sz="1050" dirty="0" err="1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추출하시오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. </a:t>
            </a: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뉴스 기사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: </a:t>
            </a: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실제 기사</a:t>
            </a:r>
            <a:endParaRPr lang="ko-KR" altLang="ko-KR" sz="1050" dirty="0">
              <a:solidFill>
                <a:srgbClr val="555555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E564FC-DBE6-47D1-A0CE-3E6CC99CBD6D}"/>
              </a:ext>
            </a:extLst>
          </p:cNvPr>
          <p:cNvSpPr txBox="1"/>
          <p:nvPr/>
        </p:nvSpPr>
        <p:spPr>
          <a:xfrm>
            <a:off x="4254654" y="4788817"/>
            <a:ext cx="4249266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300" b="1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* </a:t>
            </a:r>
            <a:r>
              <a:rPr lang="en-US" altLang="ko-KR" sz="1300" b="1" dirty="0" err="1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출력</a:t>
            </a:r>
            <a:r>
              <a:rPr lang="en-US" altLang="ko-KR" sz="1300" b="1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altLang="ko-KR" sz="1300" b="1" dirty="0" err="1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형식</a:t>
            </a:r>
            <a:r>
              <a:rPr lang="en-US" altLang="ko-KR" sz="1300" b="1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altLang="ko-KR" sz="1300" b="1" dirty="0" err="1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지정</a:t>
            </a:r>
            <a:r>
              <a:rPr lang="en-US" altLang="ko-KR" sz="1300" b="1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: 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JSON, list</a:t>
            </a: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 등 </a:t>
            </a:r>
            <a:r>
              <a:rPr lang="en-US" altLang="ko-KR" sz="1050" dirty="0" err="1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원하는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altLang="ko-KR" sz="1050" dirty="0" err="1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형식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altLang="ko-KR" sz="1050" dirty="0" err="1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명시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. </a:t>
            </a:r>
            <a:r>
              <a:rPr lang="en-US" altLang="ko-KR" sz="1050" dirty="0" err="1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후처리</a:t>
            </a:r>
            <a:r>
              <a:rPr lang="en-US" altLang="ko-KR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altLang="ko-KR" sz="1050" dirty="0" err="1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용이</a:t>
            </a:r>
            <a:endParaRPr lang="ko-KR" altLang="ko-KR" sz="1050" dirty="0">
              <a:solidFill>
                <a:srgbClr val="555555"/>
              </a:solidFill>
              <a:latin typeface="Arial" pitchFamily="34" charset="0"/>
              <a:cs typeface="Arial" pitchFamily="34" charset="-120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6205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 (Retrieval Augmented Generation)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07346"/>
            <a:ext cx="6613010" cy="777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853066"/>
            <a:ext cx="786384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LLM의 근본적 한계: 학습 데이터에 없는 최신 정보나 특정 도메인 지식을 제공하기 어려움.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할루시네이션(Hallucination): 모르는 것도 자신 있게 답변하는 문제.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RAG: 외부 데이터 소스를 검색(Retrieval)하여 생성(Generation)에 활용하는 프레임워크.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163687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파이프라인 (LangChain 기반)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080360"/>
            <a:ext cx="256032" cy="256032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0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2034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적재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(Load)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24918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PDF, 웹, DB 등에서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원본 데이터 로드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356590" y="21260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7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539470" y="2080360"/>
            <a:ext cx="256032" cy="256032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5" name="Text 13"/>
          <p:cNvSpPr/>
          <p:nvPr/>
        </p:nvSpPr>
        <p:spPr>
          <a:xfrm>
            <a:off x="1539470" y="20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41222" y="2034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분할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(Split)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585190" y="24918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 문서를 작은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청크(chunk)로 분할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393140" y="2129099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7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76020" y="2083379"/>
            <a:ext cx="256032" cy="256032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20" name="Text 18"/>
          <p:cNvSpPr/>
          <p:nvPr/>
        </p:nvSpPr>
        <p:spPr>
          <a:xfrm>
            <a:off x="2576020" y="208337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77772" y="2037659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(Embedding)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621740" y="2494859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청크를 벡터로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변환 (수치화)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548562" y="21260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7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31442" y="2080360"/>
            <a:ext cx="256032" cy="256032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25" name="Text 23"/>
          <p:cNvSpPr/>
          <p:nvPr/>
        </p:nvSpPr>
        <p:spPr>
          <a:xfrm>
            <a:off x="3731442" y="20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033194" y="2034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 저장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(Vector Store)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777162" y="24918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 DB에 저장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(Chroma, FAISS 등)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52465" y="2134275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7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35345" y="2088555"/>
            <a:ext cx="256032" cy="256032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30" name="Text 28"/>
          <p:cNvSpPr/>
          <p:nvPr/>
        </p:nvSpPr>
        <p:spPr>
          <a:xfrm>
            <a:off x="4935345" y="208855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37097" y="2042835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(Retrieval)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981065" y="2500035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질문과 유사한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청크를 검색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768830" y="21260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7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51710" y="2080360"/>
            <a:ext cx="256032" cy="256032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35" name="Text 33"/>
          <p:cNvSpPr/>
          <p:nvPr/>
        </p:nvSpPr>
        <p:spPr>
          <a:xfrm>
            <a:off x="5951710" y="20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53462" y="2034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(Generation)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997430" y="24918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결과 + 질문을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LLM에 전달하여 답변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406518" y="4340985"/>
            <a:ext cx="3188842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06517" y="4340985"/>
            <a:ext cx="52937" cy="640080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40" name="Text 38"/>
          <p:cNvSpPr/>
          <p:nvPr/>
        </p:nvSpPr>
        <p:spPr>
          <a:xfrm>
            <a:off x="5575425" y="4391105"/>
            <a:ext cx="59743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 예: 금융 자문 → 실시간 주가/경제 </a:t>
            </a:r>
            <a:r>
              <a:rPr lang="en-US" sz="9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보고서</a:t>
            </a: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참조</a:t>
            </a:r>
            <a:endParaRPr lang="en-US" sz="900" dirty="0">
              <a:solidFill>
                <a:srgbClr val="2D2D2D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의료 챗봇 → 최신 논문/건강 지침 </a:t>
            </a:r>
            <a:r>
              <a:rPr lang="en-US" sz="9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참조</a:t>
            </a: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뉴스 분석 → 최신 기사 </a:t>
            </a:r>
            <a:r>
              <a:rPr lang="en-US" sz="9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참조</a:t>
            </a:r>
            <a:endParaRPr lang="en-US" sz="900" dirty="0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F95494A5-D972-4C99-871D-62913E302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98" y="3147189"/>
            <a:ext cx="4786112" cy="19963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Fine tuning - </a:t>
            </a:r>
            <a:r>
              <a:rPr lang="en-US" sz="24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PEFT와</a:t>
            </a: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LoRA</a:t>
            </a: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64180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8046720" cy="509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PEFT = Parameter Efficient Fine Tuning. 사전학습된 LLM의 대부분 파라미터를 고정(freezing)하고 일부만 조정하여,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적은 컴퓨팅 자원으로도 특정 도메인에 우수한 성능의 모델을 만드는 방법. 전체 파인 튜닝은 수백~수천 GB GPU </a:t>
            </a:r>
            <a:r>
              <a:rPr lang="en-US" sz="10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메모리</a:t>
            </a: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68414"/>
            <a:ext cx="3036498" cy="2682815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905575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05575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878143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(Low-Rank Adaptation)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243903"/>
            <a:ext cx="3474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널리 쓰이는 PEFT 기법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원리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전체 가중치 행렬(W)을 직접 수정하지 않고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두 개의 작은 저랭크 행렬(A, B)을 추가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W' = W + A*B (A: 작은 행렬, B: 작은 행렬)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장점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훈련 파라미터 수 대폭 감소 (1% 이하)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GPU 메모리 절감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원래 모델 성능 유지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85138" y="1768414"/>
            <a:ext cx="3266823" cy="2682814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22298" y="1905574"/>
            <a:ext cx="320040" cy="347772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4" name="Text 12"/>
          <p:cNvSpPr/>
          <p:nvPr/>
        </p:nvSpPr>
        <p:spPr>
          <a:xfrm>
            <a:off x="3722298" y="1905574"/>
            <a:ext cx="320040" cy="347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33778" y="1878142"/>
            <a:ext cx="3108960" cy="347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PEFT의 장점과 활용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68018" y="2243901"/>
            <a:ext cx="3083943" cy="203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필요한 계산량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감소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크기를 줄이고 중복 파라미터 제거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추론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속도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향상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모델이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작아져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빠르게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절감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API 사용 없이 자체 모델 활용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오픈소스 LLM + LoRA = 비용 효율적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 Face에서 PEFT 모델 공유: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huggingface.co/models?library=peft</a:t>
            </a:r>
            <a:endParaRPr 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97CA58D-E31A-4395-9754-AEAAFEB5B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4841" y="1790147"/>
            <a:ext cx="2005642" cy="24907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활용과 조정 — 3가지 접근법 비교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7389"/>
              </p:ext>
            </p:extLst>
          </p:nvPr>
        </p:nvGraphicFramePr>
        <p:xfrm>
          <a:off x="640080" y="1188720"/>
          <a:ext cx="7863840" cy="25603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프롬프트 엔지니어링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Fine-tuning (PEFT)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난이도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쉬움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중간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어려움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최소 (API 비용만)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중간 (벡터DB + API)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높음 (GPU 필요)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최신 정보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불가 (학습 데이터 한정)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가능 (외부 검색)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학습 데이터 갱신 필요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도메인 특화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제한적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문서 기반 가능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가장 강력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모델 변경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 (프롬프트만 변경)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 (외부 지식 추가)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있음 (가중치 조정)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적용 사례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빠른 프로토타입,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간단한 과제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최신 정보 필요,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문서 기반 QA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도메인 전문 모델,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특수 작업 최적화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160520"/>
            <a:ext cx="7680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4160520"/>
            <a:ext cx="64008" cy="457200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42062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실무 권장 순서: 프롬프트 엔지니어링 먼저 시도 → 부족하면 RAG 추가 → 그래도 부족하면 Fine-tuning (humanloop.com/blog/optimizing-llms)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오픈소스 LLM — 공개된 대규모 언어 모델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8046720" cy="497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오픈소스 LLM이 중요한가? 상용 API(OpenAI, Anthropic)의 비용/보안/종속성 문제 → 자체 서버에서 운영 가능한 공개 모델 수요 증가.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기업/기관/연구기관이 자체 데이터로 파인 튜닝하여 특화 모델 개발 가능.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52600"/>
            <a:ext cx="822960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870554"/>
              </p:ext>
            </p:extLst>
          </p:nvPr>
        </p:nvGraphicFramePr>
        <p:xfrm>
          <a:off x="640080" y="1889760"/>
          <a:ext cx="7863840" cy="19202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개발사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파라미터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특징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8B ~ 405B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가장 활발한 오픈소스 생태계, 다양한 파인 튜닝 버전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Mistral / Mixtral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Mistral AI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7B ~ 8x22B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MoE(Mixture of Experts) 구조, 효율적 추론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2B ~ 27B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경량 모델, 모바일/엣지 배포 가능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Alibaba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1.8B ~ 110B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다국어 지원 강화, 코드 생성 우수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다양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한국어 성능 우수, 한국 기업 개발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Upstage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10.7B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한국어 특화, DPU(Depth Up-Scaling) 기법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성능 평가: huggingface.co/spaces/open-llm-leaderboard/open_llm_leaderboard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성능 평가 — Open LLM Leaderboard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평가 기준 (Hugging Face Open LLM Leaderboard)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863840" cy="2359152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벤치마크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평가 내용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측정 능력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IFEval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Instruction-Following Evaluation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지시 따르기 능력 (프롬프트 준수)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BBH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Big-Bench Hard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다양한 고난도 NLP 과제 종합 평가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수학 문제 해결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수식 추론 및 계산 능력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GPQA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대학원 수준 물리 문제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전문 지식 및 과학적 추론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다국어 이해 및 추론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언어 간 이해와 추론 전이 능력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MMLU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57개 분야 대학 수준 질문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광범위한 지식과 이해력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023360"/>
            <a:ext cx="76809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4023360"/>
            <a:ext cx="64008" cy="594360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406908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영어: huggingface.co/spaces/open-llm-leaderboard/open_llm_leaderboard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한국어: huggingface.co/spaces/upstage/open-ko-llm-leaderboard  |  aihub.or.kr/leaderboard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Hugging Face — AI 모델의 GitHub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14300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115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 Face란?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48132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모델, 데이터셋,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앱을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공유하는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오픈소스 플랫폼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"AI의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GitHub"이라고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불림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(huggingface.co)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수십만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개의 사전학습 모델 제공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BERT, GPT, LLaMA 등 모두 여기서 다운로드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00584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4300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115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48132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Models: 사전학습 모델 검색/다운로드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Datasets: 학습용 데이터셋 공유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Spaces: Gradio/Streamlit 데모 앱 호스팅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 라이브러리: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pip install transformers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거의 모든 NLP/CV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모델을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3줄 코드로 사용 가능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3840480" cy="21076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06324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0358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예시 — 감정 분석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40156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transformers import pipeline</a:t>
            </a:r>
            <a:endParaRPr lang="en-US" sz="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= pipeline(</a:t>
            </a:r>
            <a:endParaRPr lang="en-US" sz="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"sentiment-analysis",</a:t>
            </a:r>
            <a:endParaRPr lang="en-US" sz="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model="</a:t>
            </a:r>
            <a:r>
              <a:rPr lang="en-US" sz="8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nlptown</a:t>
            </a: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8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</a:t>
            </a: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-base-multilingual"</a:t>
            </a:r>
            <a:endParaRPr lang="en-US" sz="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= classifier(  "이 영화 정말 좋았어!")</a:t>
            </a:r>
            <a:endParaRPr lang="en-US" sz="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print(result) # [{'label':'5 stars','score':0.89}]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17720" y="2926079"/>
            <a:ext cx="3840480" cy="210769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06324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66360" y="30358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예시 — 텍스트 생성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340156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from transformers import pipeline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generator = pipeline( "text-generation",  model="gpt2")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result = generator(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  "인공지능의 </a:t>
            </a:r>
            <a:r>
              <a:rPr lang="en-US" sz="800" dirty="0" err="1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미래는</a:t>
            </a:r>
            <a:r>
              <a:rPr lang="en-US" sz="8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",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  max_length=50,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  num_return_sequences=1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print(result[0]   # ['</a:t>
            </a:r>
            <a:r>
              <a:rPr lang="en-US" sz="800" dirty="0" err="1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generated_text</a:t>
            </a:r>
            <a:r>
              <a:rPr lang="en-US" sz="8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'])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최신 트렌드 — AI Agent, 멀티모달, 추론 모델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09728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371600"/>
            <a:ext cx="2240280" cy="2545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도구(Tool)를 사용하여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스스로 계획하고 실행하는 시스템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웹 검색, 코드 실행,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읽기/쓰기, API 호출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Code, ChatGPT Code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Interpreter 등이 대표적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"AI가 생각만 하는 게 아니라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행동하는 단계"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73552" y="100584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10712" y="109728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2" name="Text 10"/>
          <p:cNvSpPr/>
          <p:nvPr/>
        </p:nvSpPr>
        <p:spPr>
          <a:xfrm>
            <a:off x="3410712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22192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멀티모달 AI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56432" y="1371600"/>
            <a:ext cx="2240280" cy="2766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텍스트, 이미지, 음성, </a:t>
            </a:r>
            <a:r>
              <a:rPr lang="en-US" sz="9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영상을</a:t>
            </a: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</a:t>
            </a: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처리하는</a:t>
            </a: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GPT-4V: 이미지 입력 가능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Gemini: 텍스트+이미지+영상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CLIP: 텍스트-이미지 연결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DALL-E, Stable Diffusion: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텍스트 → 이미지 생성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미디어 연구에서의 의미: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뉴스 영상의 텍스트+이미지를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동시에 분석 가능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100584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09728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추론 모델 (o1, o3)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1371600"/>
            <a:ext cx="2240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o1, o3 시리즈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GPT: 빠른 직관적 응답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추론 모델: 깊이 생각한 후 응답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of Thought를 내재화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"생각하는 시간"을 가진 뒤 답변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수학, 과학, </a:t>
            </a:r>
            <a:r>
              <a:rPr lang="en-US" sz="9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코딩</a:t>
            </a: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등 </a:t>
            </a:r>
            <a:r>
              <a:rPr lang="en-US" sz="9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복잡한</a:t>
            </a: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추론 과제에서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인간 전문가 수준 도달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Test-time Compute: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추론 시 더 많은 연산을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사용할수록 성능 향상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1988</Words>
  <Application>Microsoft Office PowerPoint</Application>
  <PresentationFormat>화면 슬라이드 쇼(16:9)</PresentationFormat>
  <Paragraphs>402</Paragraphs>
  <Slides>14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맑은 고딕</vt:lpstr>
      <vt:lpstr>Arial</vt:lpstr>
      <vt:lpstr>Arial Black</vt:lpstr>
      <vt:lpstr>Calibri</vt:lpstr>
      <vt:lpstr>Calibri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GPT와 LLM</dc:title>
  <dc:subject>PptxGenJS Presentation</dc:subject>
  <dc:creator>이종혁</dc:creator>
  <cp:lastModifiedBy>jh</cp:lastModifiedBy>
  <cp:revision>18</cp:revision>
  <dcterms:created xsi:type="dcterms:W3CDTF">2026-04-05T07:44:14Z</dcterms:created>
  <dcterms:modified xsi:type="dcterms:W3CDTF">2026-04-19T12:54:56Z</dcterms:modified>
</cp:coreProperties>
</file>