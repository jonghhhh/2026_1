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5"/>
  </p:notesMasterIdLst>
  <p:sldIdLst>
    <p:sldId id="256" r:id="rId2"/>
    <p:sldId id="274" r:id="rId3"/>
    <p:sldId id="257" r:id="rId4"/>
    <p:sldId id="275" r:id="rId5"/>
    <p:sldId id="276" r:id="rId6"/>
    <p:sldId id="277" r:id="rId7"/>
    <p:sldId id="278" r:id="rId8"/>
    <p:sldId id="279" r:id="rId9"/>
    <p:sldId id="285" r:id="rId10"/>
    <p:sldId id="280" r:id="rId11"/>
    <p:sldId id="281" r:id="rId12"/>
    <p:sldId id="282" r:id="rId13"/>
    <p:sldId id="283" r:id="rId14"/>
    <p:sldId id="284" r:id="rId15"/>
    <p:sldId id="265" r:id="rId16"/>
    <p:sldId id="266" r:id="rId17"/>
    <p:sldId id="267" r:id="rId18"/>
    <p:sldId id="286" r:id="rId19"/>
    <p:sldId id="287" r:id="rId20"/>
    <p:sldId id="288" r:id="rId21"/>
    <p:sldId id="289" r:id="rId22"/>
    <p:sldId id="271" r:id="rId23"/>
    <p:sldId id="272" r:id="rId24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77073" autoAdjust="0"/>
  </p:normalViewPr>
  <p:slideViewPr>
    <p:cSldViewPr snapToGrid="0" snapToObjects="1">
      <p:cViewPr varScale="1">
        <p:scale>
          <a:sx n="102" d="100"/>
          <a:sy n="102" d="100"/>
        </p:scale>
        <p:origin x="120" y="2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0842496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2374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자연어추론</a:t>
            </a:r>
            <a:r>
              <a:rPr lang="en-US" altLang="ko-KR" dirty="0"/>
              <a:t>(Natural Language Inference):</a:t>
            </a:r>
          </a:p>
          <a:p>
            <a:pPr algn="l">
              <a:buFont typeface="+mj-lt"/>
              <a:buAutoNum type="arabicPeriod"/>
            </a:pPr>
            <a:r>
              <a:rPr lang="en-US" altLang="ko-KR" b="1" i="0" dirty="0">
                <a:solidFill>
                  <a:srgbClr val="0D0D0D"/>
                </a:solidFill>
                <a:effectLst/>
                <a:latin typeface="Söhne"/>
              </a:rPr>
              <a:t>Entailment (</a:t>
            </a:r>
            <a:r>
              <a:rPr lang="ko-KR" altLang="en-US" b="1" i="0" dirty="0">
                <a:solidFill>
                  <a:srgbClr val="0D0D0D"/>
                </a:solidFill>
                <a:effectLst/>
                <a:latin typeface="Söhne"/>
              </a:rPr>
              <a:t>포함</a:t>
            </a:r>
            <a:r>
              <a:rPr lang="en-US" altLang="ko-KR" b="1" i="0" dirty="0">
                <a:solidFill>
                  <a:srgbClr val="0D0D0D"/>
                </a:solidFill>
                <a:effectLst/>
                <a:latin typeface="Söhne"/>
              </a:rPr>
              <a:t>)</a:t>
            </a:r>
            <a:r>
              <a:rPr lang="en-US" altLang="ko-KR" b="0" i="0" dirty="0">
                <a:solidFill>
                  <a:srgbClr val="0D0D0D"/>
                </a:solidFill>
                <a:effectLst/>
                <a:latin typeface="Söhne"/>
              </a:rPr>
              <a:t>: </a:t>
            </a:r>
            <a:r>
              <a:rPr lang="ko-KR" altLang="en-US" b="0" i="0" dirty="0">
                <a:solidFill>
                  <a:srgbClr val="0D0D0D"/>
                </a:solidFill>
                <a:effectLst/>
                <a:latin typeface="Söhne"/>
              </a:rPr>
              <a:t>첫 번째 문장이 두 번째 문장을 포함하는 경우</a:t>
            </a:r>
            <a:r>
              <a:rPr lang="en-US" altLang="ko-KR" b="0" i="0" dirty="0">
                <a:solidFill>
                  <a:srgbClr val="0D0D0D"/>
                </a:solidFill>
                <a:effectLst/>
                <a:latin typeface="Söhne"/>
              </a:rPr>
              <a:t>.</a:t>
            </a:r>
          </a:p>
          <a:p>
            <a:pPr algn="l">
              <a:buFont typeface="+mj-lt"/>
              <a:buAutoNum type="arabicPeriod"/>
            </a:pPr>
            <a:r>
              <a:rPr lang="en-US" altLang="ko-KR" b="1" i="0" dirty="0">
                <a:solidFill>
                  <a:srgbClr val="0D0D0D"/>
                </a:solidFill>
                <a:effectLst/>
                <a:latin typeface="Söhne"/>
              </a:rPr>
              <a:t>Contradiction (</a:t>
            </a:r>
            <a:r>
              <a:rPr lang="ko-KR" altLang="en-US" b="1" i="0" dirty="0">
                <a:solidFill>
                  <a:srgbClr val="0D0D0D"/>
                </a:solidFill>
                <a:effectLst/>
                <a:latin typeface="Söhne"/>
              </a:rPr>
              <a:t>모순</a:t>
            </a:r>
            <a:r>
              <a:rPr lang="en-US" altLang="ko-KR" b="1" i="0" dirty="0">
                <a:solidFill>
                  <a:srgbClr val="0D0D0D"/>
                </a:solidFill>
                <a:effectLst/>
                <a:latin typeface="Söhne"/>
              </a:rPr>
              <a:t>)</a:t>
            </a:r>
            <a:r>
              <a:rPr lang="en-US" altLang="ko-KR" b="0" i="0" dirty="0">
                <a:solidFill>
                  <a:srgbClr val="0D0D0D"/>
                </a:solidFill>
                <a:effectLst/>
                <a:latin typeface="Söhne"/>
              </a:rPr>
              <a:t>: </a:t>
            </a:r>
            <a:r>
              <a:rPr lang="ko-KR" altLang="en-US" b="0" i="0" dirty="0">
                <a:solidFill>
                  <a:srgbClr val="0D0D0D"/>
                </a:solidFill>
                <a:effectLst/>
                <a:latin typeface="Söhne"/>
              </a:rPr>
              <a:t>첫 번째 문장이 두 번째 문장을 부정하는 경우</a:t>
            </a:r>
            <a:r>
              <a:rPr lang="en-US" altLang="ko-KR" b="0" i="0" dirty="0">
                <a:solidFill>
                  <a:srgbClr val="0D0D0D"/>
                </a:solidFill>
                <a:effectLst/>
                <a:latin typeface="Söhne"/>
              </a:rPr>
              <a:t>.</a:t>
            </a:r>
          </a:p>
          <a:p>
            <a:pPr algn="l">
              <a:buFont typeface="+mj-lt"/>
              <a:buAutoNum type="arabicPeriod"/>
            </a:pPr>
            <a:r>
              <a:rPr lang="en-US" altLang="ko-KR" b="1" i="0" dirty="0">
                <a:solidFill>
                  <a:srgbClr val="0D0D0D"/>
                </a:solidFill>
                <a:effectLst/>
                <a:latin typeface="Söhne"/>
              </a:rPr>
              <a:t>Neutral (</a:t>
            </a:r>
            <a:r>
              <a:rPr lang="ko-KR" altLang="en-US" b="1" i="0" dirty="0">
                <a:solidFill>
                  <a:srgbClr val="0D0D0D"/>
                </a:solidFill>
                <a:effectLst/>
                <a:latin typeface="Söhne"/>
              </a:rPr>
              <a:t>중립</a:t>
            </a:r>
            <a:r>
              <a:rPr lang="en-US" altLang="ko-KR" b="1" i="0" dirty="0">
                <a:solidFill>
                  <a:srgbClr val="0D0D0D"/>
                </a:solidFill>
                <a:effectLst/>
                <a:latin typeface="Söhne"/>
              </a:rPr>
              <a:t>)</a:t>
            </a:r>
            <a:r>
              <a:rPr lang="en-US" altLang="ko-KR" b="0" i="0" dirty="0">
                <a:solidFill>
                  <a:srgbClr val="0D0D0D"/>
                </a:solidFill>
                <a:effectLst/>
                <a:latin typeface="Söhne"/>
              </a:rPr>
              <a:t>: </a:t>
            </a:r>
            <a:r>
              <a:rPr lang="ko-KR" altLang="en-US" b="0" i="0" dirty="0">
                <a:solidFill>
                  <a:srgbClr val="0D0D0D"/>
                </a:solidFill>
                <a:effectLst/>
                <a:latin typeface="Söhne"/>
              </a:rPr>
              <a:t>두 문장이 서로 포함하거나 모순되지 않는 경우</a:t>
            </a:r>
            <a:endParaRPr lang="en-US" altLang="ko-KR" b="0" i="0" dirty="0">
              <a:solidFill>
                <a:srgbClr val="0D0D0D"/>
              </a:solidFill>
              <a:effectLst/>
              <a:latin typeface="Söhne"/>
            </a:endParaRP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8808275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200" dirty="0" err="1">
                <a:solidFill>
                  <a:srgbClr val="0891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nlptown</a:t>
            </a:r>
            <a:r>
              <a:rPr lang="en-US" altLang="ko-KR" sz="1200" dirty="0">
                <a:solidFill>
                  <a:srgbClr val="0891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</a:t>
            </a:r>
            <a:r>
              <a:rPr lang="en-US" altLang="ko-KR" sz="1200" dirty="0" err="1">
                <a:solidFill>
                  <a:srgbClr val="0891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bert</a:t>
            </a:r>
            <a:r>
              <a:rPr lang="en-US" altLang="ko-KR" sz="1200" dirty="0">
                <a:solidFill>
                  <a:srgbClr val="0891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-base-multilingual-uncased-sentiment</a:t>
            </a:r>
            <a:endParaRPr lang="en-US" altLang="ko-KR" sz="1200" dirty="0"/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ko-KR" dirty="0"/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dirty="0"/>
              <a:t>1</a:t>
            </a:r>
            <a:r>
              <a:rPr lang="ko-KR" altLang="en-US" dirty="0"/>
              <a:t>점</a:t>
            </a:r>
            <a:r>
              <a:rPr lang="en-US" altLang="ko-KR" dirty="0"/>
              <a:t>(</a:t>
            </a:r>
            <a:r>
              <a:rPr lang="ko-KR" altLang="en-US" dirty="0"/>
              <a:t>매우 부정</a:t>
            </a:r>
            <a:r>
              <a:rPr lang="en-US" altLang="ko-KR" dirty="0"/>
              <a:t>)~5</a:t>
            </a:r>
            <a:r>
              <a:rPr lang="ko-KR" altLang="en-US" dirty="0"/>
              <a:t>점</a:t>
            </a:r>
            <a:r>
              <a:rPr lang="en-US" altLang="ko-KR" dirty="0"/>
              <a:t>(</a:t>
            </a:r>
            <a:r>
              <a:rPr lang="ko-KR" altLang="en-US" dirty="0"/>
              <a:t>매우 긍정</a:t>
            </a:r>
            <a:r>
              <a:rPr lang="en-US" altLang="ko-KR" dirty="0"/>
              <a:t>) </a:t>
            </a:r>
            <a:r>
              <a:rPr lang="ko-KR" altLang="en-US" dirty="0"/>
              <a:t>중 **</a:t>
            </a:r>
            <a:r>
              <a:rPr lang="en-US" altLang="ko-KR" dirty="0"/>
              <a:t>5</a:t>
            </a:r>
            <a:r>
              <a:rPr lang="ko-KR" altLang="en-US" dirty="0"/>
              <a:t>점</a:t>
            </a:r>
            <a:r>
              <a:rPr lang="en-US" altLang="ko-KR" dirty="0"/>
              <a:t>(</a:t>
            </a:r>
            <a:r>
              <a:rPr lang="ko-KR" altLang="en-US" dirty="0"/>
              <a:t>매우 긍정</a:t>
            </a:r>
            <a:r>
              <a:rPr lang="en-US" altLang="ko-KR" dirty="0"/>
              <a:t>)</a:t>
            </a:r>
          </a:p>
          <a:p>
            <a:r>
              <a:rPr lang="ko-KR" altLang="en-US" b="1" dirty="0"/>
              <a:t>한국어 성능은 </a:t>
            </a:r>
            <a:r>
              <a:rPr lang="en-US" altLang="ko-KR" b="1" dirty="0"/>
              <a:t>"</a:t>
            </a:r>
            <a:r>
              <a:rPr lang="ko-KR" altLang="en-US" b="1" dirty="0"/>
              <a:t>참고용</a:t>
            </a:r>
            <a:r>
              <a:rPr lang="en-US" altLang="ko-KR" b="1" dirty="0"/>
              <a:t>" </a:t>
            </a:r>
            <a:r>
              <a:rPr lang="ko-KR" altLang="en-US" b="1" dirty="0"/>
              <a:t>수준입니다</a:t>
            </a:r>
            <a:r>
              <a:rPr lang="en-US" altLang="ko-KR" b="1" dirty="0"/>
              <a:t>.</a:t>
            </a:r>
            <a:r>
              <a:rPr lang="ko-KR" altLang="en-US" dirty="0"/>
              <a:t> 이 모델</a:t>
            </a:r>
            <a:r>
              <a:rPr lang="en-US" altLang="ko-KR" dirty="0"/>
              <a:t>(</a:t>
            </a:r>
            <a:r>
              <a:rPr lang="en-US" altLang="ko-KR" dirty="0" err="1"/>
              <a:t>nlptown</a:t>
            </a:r>
            <a:r>
              <a:rPr lang="en-US" altLang="ko-KR" dirty="0"/>
              <a:t>/</a:t>
            </a:r>
            <a:r>
              <a:rPr lang="en-US" altLang="ko-KR" dirty="0" err="1"/>
              <a:t>bert</a:t>
            </a:r>
            <a:r>
              <a:rPr lang="en-US" altLang="ko-KR" dirty="0"/>
              <a:t>-base-multilingual-uncased-sentiment)</a:t>
            </a:r>
            <a:r>
              <a:rPr lang="ko-KR" altLang="en-US" dirty="0"/>
              <a:t>은 영어</a:t>
            </a:r>
            <a:r>
              <a:rPr lang="en-US" altLang="ko-KR" dirty="0"/>
              <a:t>, </a:t>
            </a:r>
            <a:r>
              <a:rPr lang="ko-KR" altLang="en-US" dirty="0"/>
              <a:t>네덜란드어</a:t>
            </a:r>
            <a:r>
              <a:rPr lang="en-US" altLang="ko-KR" dirty="0"/>
              <a:t>, </a:t>
            </a:r>
            <a:r>
              <a:rPr lang="ko-KR" altLang="en-US" dirty="0"/>
              <a:t>독일어</a:t>
            </a:r>
            <a:r>
              <a:rPr lang="en-US" altLang="ko-KR" dirty="0"/>
              <a:t>, </a:t>
            </a:r>
            <a:r>
              <a:rPr lang="ko-KR" altLang="en-US" dirty="0"/>
              <a:t>프랑스어</a:t>
            </a:r>
            <a:r>
              <a:rPr lang="en-US" altLang="ko-KR" dirty="0"/>
              <a:t>, </a:t>
            </a:r>
            <a:r>
              <a:rPr lang="ko-KR" altLang="en-US" dirty="0"/>
              <a:t>스페인어</a:t>
            </a:r>
            <a:r>
              <a:rPr lang="en-US" altLang="ko-KR" dirty="0"/>
              <a:t>, </a:t>
            </a:r>
            <a:r>
              <a:rPr lang="ko-KR" altLang="en-US" dirty="0"/>
              <a:t>이탈리아어 </a:t>
            </a:r>
            <a:r>
              <a:rPr lang="en-US" altLang="ko-KR" dirty="0"/>
              <a:t>6</a:t>
            </a:r>
            <a:r>
              <a:rPr lang="ko-KR" altLang="en-US" dirty="0"/>
              <a:t>개 언어의 제품 리뷰로 학습됐고</a:t>
            </a:r>
            <a:r>
              <a:rPr lang="en-US" altLang="ko-KR" dirty="0"/>
              <a:t>, </a:t>
            </a:r>
            <a:r>
              <a:rPr lang="ko-KR" altLang="en-US" dirty="0"/>
              <a:t>한국어는 학습 데이터에 포함되지 않았습니다</a:t>
            </a:r>
            <a:r>
              <a:rPr lang="en-US" altLang="ko-KR" dirty="0"/>
              <a:t>. </a:t>
            </a:r>
            <a:r>
              <a:rPr lang="ko-KR" altLang="en-US" dirty="0"/>
              <a:t>다국어 </a:t>
            </a:r>
            <a:r>
              <a:rPr lang="en-US" altLang="ko-KR" dirty="0"/>
              <a:t>BERT</a:t>
            </a:r>
            <a:r>
              <a:rPr lang="ko-KR" altLang="en-US" dirty="0"/>
              <a:t>의 공유 </a:t>
            </a:r>
            <a:r>
              <a:rPr lang="ko-KR" altLang="en-US" dirty="0" err="1"/>
              <a:t>임베딩</a:t>
            </a:r>
            <a:r>
              <a:rPr lang="ko-KR" altLang="en-US" dirty="0"/>
              <a:t> 공간 덕분에 한국어도 어느 정도 작동하지만</a:t>
            </a:r>
            <a:r>
              <a:rPr lang="en-US" altLang="ko-KR" dirty="0"/>
              <a:t>, </a:t>
            </a:r>
            <a:r>
              <a:rPr lang="ko-KR" altLang="en-US" dirty="0"/>
              <a:t>미묘한 한국어 표현</a:t>
            </a:r>
            <a:r>
              <a:rPr lang="en-US" altLang="ko-KR" dirty="0"/>
              <a:t>(</a:t>
            </a:r>
            <a:r>
              <a:rPr lang="ko-KR" altLang="en-US" dirty="0"/>
              <a:t>반어법</a:t>
            </a:r>
            <a:r>
              <a:rPr lang="en-US" altLang="ko-KR" dirty="0"/>
              <a:t>, </a:t>
            </a:r>
            <a:r>
              <a:rPr lang="ko-KR" altLang="en-US" dirty="0"/>
              <a:t>줄임말</a:t>
            </a:r>
            <a:r>
              <a:rPr lang="en-US" altLang="ko-KR" dirty="0"/>
              <a:t>, </a:t>
            </a:r>
            <a:r>
              <a:rPr lang="ko-KR" altLang="en-US" dirty="0"/>
              <a:t>신조어 등</a:t>
            </a:r>
            <a:r>
              <a:rPr lang="en-US" altLang="ko-KR" dirty="0"/>
              <a:t>)</a:t>
            </a:r>
            <a:r>
              <a:rPr lang="ko-KR" altLang="en-US" dirty="0"/>
              <a:t>은 잘 못 잡습니다</a:t>
            </a:r>
            <a:r>
              <a:rPr lang="en-US" altLang="ko-KR" dirty="0"/>
              <a:t>.</a:t>
            </a:r>
          </a:p>
          <a:p>
            <a:r>
              <a:rPr lang="en-US" altLang="ko-KR" b="1" dirty="0" err="1"/>
              <a:t>max_length</a:t>
            </a:r>
            <a:r>
              <a:rPr lang="ko-KR" altLang="en-US" b="1" dirty="0"/>
              <a:t>는 </a:t>
            </a:r>
            <a:r>
              <a:rPr lang="en-US" altLang="ko-KR" b="1" dirty="0"/>
              <a:t>512 </a:t>
            </a:r>
            <a:r>
              <a:rPr lang="ko-KR" altLang="en-US" b="1" dirty="0"/>
              <a:t>토큰</a:t>
            </a:r>
            <a:r>
              <a:rPr lang="ko-KR" altLang="en-US" dirty="0"/>
              <a:t>입니다</a:t>
            </a:r>
            <a:r>
              <a:rPr lang="en-US" altLang="ko-KR" dirty="0"/>
              <a:t>. BERT </a:t>
            </a:r>
            <a:r>
              <a:rPr lang="ko-KR" altLang="en-US" dirty="0"/>
              <a:t>기본 제한이 </a:t>
            </a:r>
            <a:r>
              <a:rPr lang="en-US" altLang="ko-KR" dirty="0"/>
              <a:t>512</a:t>
            </a:r>
            <a:r>
              <a:rPr lang="ko-KR" altLang="en-US" dirty="0"/>
              <a:t>이고</a:t>
            </a:r>
            <a:r>
              <a:rPr lang="en-US" altLang="ko-KR" dirty="0"/>
              <a:t>, </a:t>
            </a:r>
            <a:r>
              <a:rPr lang="ko-KR" altLang="en-US" dirty="0"/>
              <a:t>한국어는 영어보다 토큰화 효율이 낮아서</a:t>
            </a:r>
            <a:r>
              <a:rPr lang="en-US" altLang="ko-KR" dirty="0"/>
              <a:t>(</a:t>
            </a:r>
            <a:r>
              <a:rPr lang="ko-KR" altLang="en-US" dirty="0"/>
              <a:t>한 글자가 </a:t>
            </a:r>
            <a:r>
              <a:rPr lang="en-US" altLang="ko-KR" dirty="0"/>
              <a:t>2~3 </a:t>
            </a:r>
            <a:r>
              <a:rPr lang="ko-KR" altLang="en-US" dirty="0"/>
              <a:t>토큰으로 쪼개지는 경우가 많음</a:t>
            </a:r>
            <a:r>
              <a:rPr lang="en-US" altLang="ko-KR" dirty="0"/>
              <a:t>) </a:t>
            </a:r>
            <a:r>
              <a:rPr lang="ko-KR" altLang="en-US" dirty="0"/>
              <a:t>실질적으로 </a:t>
            </a:r>
            <a:r>
              <a:rPr lang="ko-KR" altLang="en-US" b="1" dirty="0"/>
              <a:t>한국어 약 </a:t>
            </a:r>
            <a:r>
              <a:rPr lang="en-US" altLang="ko-KR" b="1" dirty="0"/>
              <a:t>200~300</a:t>
            </a:r>
            <a:r>
              <a:rPr lang="ko-KR" altLang="en-US" b="1" dirty="0"/>
              <a:t>자</a:t>
            </a:r>
            <a:r>
              <a:rPr lang="ko-KR" altLang="en-US" dirty="0"/>
              <a:t> 정도가 한계입니다</a:t>
            </a:r>
            <a:r>
              <a:rPr lang="en-US" altLang="ko-KR" dirty="0"/>
              <a:t>. </a:t>
            </a:r>
            <a:r>
              <a:rPr lang="ko-KR" altLang="en-US" dirty="0"/>
              <a:t>그 이상은 잘립니다</a:t>
            </a:r>
            <a:r>
              <a:rPr lang="en-US" altLang="ko-KR" dirty="0"/>
              <a:t>.</a:t>
            </a:r>
          </a:p>
          <a:p>
            <a:r>
              <a:rPr lang="ko-KR" altLang="en-US" b="1" dirty="0"/>
              <a:t>한국어 감성 분석을 제대로 하려면</a:t>
            </a:r>
            <a:r>
              <a:rPr lang="ko-KR" altLang="en-US" dirty="0"/>
              <a:t> </a:t>
            </a:r>
            <a:r>
              <a:rPr lang="en-US" altLang="ko-KR" dirty="0" err="1"/>
              <a:t>beomi</a:t>
            </a:r>
            <a:r>
              <a:rPr lang="en-US" altLang="ko-KR" dirty="0"/>
              <a:t>/KcELECTRA-base-v2022</a:t>
            </a:r>
            <a:r>
              <a:rPr lang="ko-KR" altLang="en-US" dirty="0"/>
              <a:t>를 </a:t>
            </a:r>
            <a:r>
              <a:rPr lang="en-US" altLang="ko-KR" dirty="0"/>
              <a:t>NSMC(</a:t>
            </a:r>
            <a:r>
              <a:rPr lang="ko-KR" altLang="en-US" dirty="0"/>
              <a:t>네이버 영화 리뷰 </a:t>
            </a:r>
            <a:r>
              <a:rPr lang="en-US" altLang="ko-KR" dirty="0"/>
              <a:t>20</a:t>
            </a:r>
            <a:r>
              <a:rPr lang="ko-KR" altLang="en-US" dirty="0"/>
              <a:t>만 건</a:t>
            </a:r>
            <a:r>
              <a:rPr lang="en-US" altLang="ko-KR" dirty="0"/>
              <a:t>)</a:t>
            </a:r>
            <a:r>
              <a:rPr lang="ko-KR" altLang="en-US" dirty="0"/>
              <a:t>로 </a:t>
            </a:r>
            <a:r>
              <a:rPr lang="ko-KR" altLang="en-US" dirty="0" err="1"/>
              <a:t>파인튜닝하는</a:t>
            </a:r>
            <a:r>
              <a:rPr lang="ko-KR" altLang="en-US" dirty="0"/>
              <a:t> 것이 훨씬 정확합니다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1</a:t>
            </a:r>
            <a:r>
              <a:rPr lang="ko-KR" altLang="en-US" dirty="0"/>
              <a:t>점</a:t>
            </a:r>
            <a:r>
              <a:rPr lang="en-US" altLang="ko-KR" dirty="0"/>
              <a:t>(</a:t>
            </a:r>
            <a:r>
              <a:rPr lang="ko-KR" altLang="en-US" dirty="0"/>
              <a:t>매우 부정</a:t>
            </a:r>
            <a:r>
              <a:rPr lang="en-US" altLang="ko-KR" dirty="0"/>
              <a:t>)~5</a:t>
            </a:r>
            <a:r>
              <a:rPr lang="ko-KR" altLang="en-US" dirty="0"/>
              <a:t>점</a:t>
            </a:r>
            <a:r>
              <a:rPr lang="en-US" altLang="ko-KR" dirty="0"/>
              <a:t>(</a:t>
            </a:r>
            <a:r>
              <a:rPr lang="ko-KR" altLang="en-US" dirty="0"/>
              <a:t>매우 긍정</a:t>
            </a:r>
            <a:r>
              <a:rPr lang="en-US" altLang="ko-KR" dirty="0"/>
              <a:t>) </a:t>
            </a:r>
            <a:r>
              <a:rPr lang="ko-KR" altLang="en-US" dirty="0"/>
              <a:t>중 **</a:t>
            </a:r>
            <a:r>
              <a:rPr lang="en-US" altLang="ko-KR" dirty="0"/>
              <a:t>5</a:t>
            </a:r>
            <a:r>
              <a:rPr lang="ko-KR" altLang="en-US" dirty="0"/>
              <a:t>점</a:t>
            </a:r>
            <a:r>
              <a:rPr lang="en-US" altLang="ko-KR" dirty="0"/>
              <a:t>(</a:t>
            </a:r>
            <a:r>
              <a:rPr lang="ko-KR" altLang="en-US" dirty="0"/>
              <a:t>매우 긍정</a:t>
            </a:r>
            <a:r>
              <a:rPr lang="en-US" altLang="ko-KR" dirty="0"/>
              <a:t>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9057610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E86BB63-2EFC-4E21-8027-411B30DC46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14D224A-DE9E-4D61-B5D7-5DE6B499B76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B18EE58-8FE5-4E9A-B30C-F3CE3149CE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FAC843-EA5E-42BA-AA50-BC0A817A12D3}" type="datetimeFigureOut">
              <a:rPr lang="ko-KR" altLang="en-US" smtClean="0"/>
              <a:t>2026-04-14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C819D74-6504-4290-B47C-C03C04B89D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D6795D8-7CCC-4EFD-B625-C99BADEB04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E7B2CC-B70C-4356-A010-9F6996B153A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374879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5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011680"/>
            <a:ext cx="9144000" cy="7315"/>
          </a:xfrm>
          <a:prstGeom prst="rect">
            <a:avLst/>
          </a:prstGeom>
          <a:solidFill>
            <a:srgbClr val="5A7FBF">
              <a:alpha val="4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914400"/>
            <a:ext cx="7680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Transformer와 BERT</a:t>
            </a:r>
            <a:endParaRPr lang="en-US" sz="4200" dirty="0"/>
          </a:p>
        </p:txBody>
      </p:sp>
      <p:sp>
        <p:nvSpPr>
          <p:cNvPr id="4" name="Text 2"/>
          <p:cNvSpPr/>
          <p:nvPr/>
        </p:nvSpPr>
        <p:spPr>
          <a:xfrm>
            <a:off x="731520" y="173736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8899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Attention Is All You Need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31520" y="233172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B0C4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자연어 처리의 패러다임을 바꾼 구조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31520" y="420624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 err="1">
                <a:solidFill>
                  <a:srgbClr val="7788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이종혁</a:t>
            </a:r>
            <a:r>
              <a:rPr lang="en-US" sz="1200" dirty="0">
                <a:solidFill>
                  <a:srgbClr val="7788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</a:t>
            </a:r>
            <a:r>
              <a:rPr lang="en-US" altLang="ko-KR" sz="1200" dirty="0" err="1">
                <a:solidFill>
                  <a:srgbClr val="7788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경희대학교</a:t>
            </a:r>
            <a:r>
              <a:rPr lang="en-US" altLang="ko-KR" sz="1200" dirty="0">
                <a:solidFill>
                  <a:srgbClr val="7788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altLang="ko-KR" sz="1200" dirty="0" err="1">
                <a:solidFill>
                  <a:srgbClr val="7788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미디어학과</a:t>
            </a:r>
            <a:r>
              <a:rPr lang="en-US" altLang="ko-KR" sz="1200" dirty="0">
                <a:solidFill>
                  <a:srgbClr val="7788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) 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Shape 0">
            <a:extLst>
              <a:ext uri="{FF2B5EF4-FFF2-40B4-BE49-F238E27FC236}">
                <a16:creationId xmlns:a16="http://schemas.microsoft.com/office/drawing/2014/main" id="{2C2F07F6-E625-4E02-85C8-E98E480E2095}"/>
              </a:ext>
            </a:extLst>
          </p:cNvPr>
          <p:cNvSpPr/>
          <p:nvPr/>
        </p:nvSpPr>
        <p:spPr>
          <a:xfrm>
            <a:off x="0" y="-1"/>
            <a:ext cx="9144000" cy="2571751"/>
          </a:xfrm>
          <a:prstGeom prst="rect">
            <a:avLst/>
          </a:prstGeom>
          <a:solidFill>
            <a:srgbClr val="2B3A67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914400"/>
            <a:ext cx="7680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chemeClr val="bg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Transformer</a:t>
            </a:r>
            <a:endParaRPr lang="en-US" sz="4800" dirty="0">
              <a:solidFill>
                <a:schemeClr val="bg1"/>
              </a:solidFill>
            </a:endParaRPr>
          </a:p>
        </p:txBody>
      </p:sp>
      <p:sp>
        <p:nvSpPr>
          <p:cNvPr id="6" name="Text 4"/>
          <p:cNvSpPr/>
          <p:nvPr/>
        </p:nvSpPr>
        <p:spPr>
          <a:xfrm>
            <a:off x="822960" y="1906992"/>
            <a:ext cx="34781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인코더-디코더 구조 · Attention · Self-Attention · Multi-Head Attention</a:t>
            </a:r>
            <a:endParaRPr lang="en-US" sz="1400" dirty="0">
              <a:solidFill>
                <a:schemeClr val="bg1"/>
              </a:solidFill>
            </a:endParaRPr>
          </a:p>
        </p:txBody>
      </p:sp>
      <p:pic>
        <p:nvPicPr>
          <p:cNvPr id="17" name="Picture 6" descr="https://wikidocs.net/images/page/31379/transformer_attention_overview.PNG">
            <a:extLst>
              <a:ext uri="{FF2B5EF4-FFF2-40B4-BE49-F238E27FC236}">
                <a16:creationId xmlns:a16="http://schemas.microsoft.com/office/drawing/2014/main" id="{C225DCCA-E043-48F7-81C5-03BED2D3ACE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0" y="811763"/>
            <a:ext cx="4419144" cy="39429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2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2B3A67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09728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왜 Transformer가 필요한가? — RNN의 한계 극복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57200" y="1005840"/>
            <a:ext cx="822960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6350">
            <a:solidFill>
              <a:srgbClr val="D8DCE3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40080" y="1051560"/>
            <a:ext cx="7863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10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RNN/LSTM은 시퀀스를 순차적으로 처리 → 병렬 처리 불가능(느림), 긴 문장에서 정보 손실.</a:t>
            </a:r>
            <a:endParaRPr lang="en-US" sz="105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0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Seq2Seq의 Context Vector 병목 문제: 아무리 긴 문장도 하나의 벡터로 압축 → 정보 소실.</a:t>
            </a:r>
            <a:endParaRPr lang="en-US" sz="105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0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2017년 Google "Attention Is All You Need" 논문: RNN 없이 Attention만으로 시퀀스 처리 → Transformer 탄생.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457200" y="2286000"/>
            <a:ext cx="3840480" cy="2468880"/>
          </a:xfrm>
          <a:prstGeom prst="roundRect">
            <a:avLst>
              <a:gd name="adj" fmla="val 2963"/>
            </a:avLst>
          </a:prstGeom>
          <a:solidFill>
            <a:srgbClr val="FFFFFF"/>
          </a:solidFill>
          <a:ln w="6350">
            <a:solidFill>
              <a:srgbClr val="D8DCE3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594360" y="2423160"/>
            <a:ext cx="320040" cy="320040"/>
          </a:xfrm>
          <a:prstGeom prst="ellipse">
            <a:avLst/>
          </a:prstGeom>
          <a:solidFill>
            <a:srgbClr val="2B3A67"/>
          </a:solidFill>
          <a:ln/>
        </p:spPr>
      </p:sp>
      <p:sp>
        <p:nvSpPr>
          <p:cNvPr id="9" name="Text 7"/>
          <p:cNvSpPr/>
          <p:nvPr/>
        </p:nvSpPr>
        <p:spPr>
          <a:xfrm>
            <a:off x="594360" y="242316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005840" y="2395728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RNN의 문제점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40080" y="2761488"/>
            <a:ext cx="3288108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순차 처리: 단어를 하나씩 </a:t>
            </a:r>
            <a:r>
              <a:rPr lang="en-US" sz="1000" dirty="0" err="1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순서대로</a:t>
            </a: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000" dirty="0" err="1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처리</a:t>
            </a: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→ 병렬 처리 불가 → GPU 활용 제한</a:t>
            </a:r>
            <a:endParaRPr lang="en-US" sz="1000" dirty="0"/>
          </a:p>
          <a:p>
            <a:pPr marL="0" indent="0">
              <a:lnSpc>
                <a:spcPct val="150000"/>
              </a:lnSpc>
              <a:buNone/>
            </a:pPr>
            <a:endParaRPr lang="en-US" sz="10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장기 의존성: 문장이 길면 초기 </a:t>
            </a:r>
            <a:r>
              <a:rPr lang="en-US" sz="1000" dirty="0" err="1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단어</a:t>
            </a: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000" dirty="0" err="1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정보가</a:t>
            </a: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뒤로 갈수록 사라짐 (LSTM으로도 완전 해결 안 됨)</a:t>
            </a:r>
            <a:endParaRPr lang="en-US" sz="1000" dirty="0"/>
          </a:p>
          <a:p>
            <a:pPr marL="0" indent="0">
              <a:lnSpc>
                <a:spcPct val="150000"/>
              </a:lnSpc>
              <a:buNone/>
            </a:pPr>
            <a:endParaRPr lang="en-US" sz="10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Context Vector 병목: Seq2Seq에서 긴 문장을 하나의 벡터로 압축 → 손실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617720" y="2286000"/>
            <a:ext cx="3840480" cy="2468880"/>
          </a:xfrm>
          <a:prstGeom prst="roundRect">
            <a:avLst>
              <a:gd name="adj" fmla="val 2963"/>
            </a:avLst>
          </a:prstGeom>
          <a:solidFill>
            <a:srgbClr val="FFFFFF"/>
          </a:solidFill>
          <a:ln w="6350">
            <a:solidFill>
              <a:srgbClr val="D8DCE3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754880" y="2423160"/>
            <a:ext cx="320040" cy="320040"/>
          </a:xfrm>
          <a:prstGeom prst="ellipse">
            <a:avLst/>
          </a:prstGeom>
          <a:solidFill>
            <a:srgbClr val="2B3A67"/>
          </a:solidFill>
          <a:ln/>
        </p:spPr>
      </p:sp>
      <p:sp>
        <p:nvSpPr>
          <p:cNvPr id="14" name="Text 12"/>
          <p:cNvSpPr/>
          <p:nvPr/>
        </p:nvSpPr>
        <p:spPr>
          <a:xfrm>
            <a:off x="4754880" y="242316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166360" y="2395728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Transformer의 해결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800600" y="2761488"/>
            <a:ext cx="347472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Self-Attention: 모든 단어 간 </a:t>
            </a:r>
            <a:r>
              <a:rPr lang="en-US" sz="1000" dirty="0" err="1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관계를</a:t>
            </a: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한 번에 계산 → 병렬 처리 가능</a:t>
            </a:r>
            <a:endParaRPr lang="en-US" sz="1000" dirty="0"/>
          </a:p>
          <a:p>
            <a:pPr marL="0" indent="0">
              <a:lnSpc>
                <a:spcPct val="150000"/>
              </a:lnSpc>
              <a:buNone/>
            </a:pPr>
            <a:endParaRPr lang="en-US" sz="10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거리 무관: 문장 내 아무리 </a:t>
            </a:r>
            <a:r>
              <a:rPr lang="en-US" sz="1000" dirty="0" err="1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멀리</a:t>
            </a: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000" dirty="0" err="1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떨어진</a:t>
            </a: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000" dirty="0" err="1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단어도</a:t>
            </a: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직접 관계를 파악</a:t>
            </a:r>
            <a:endParaRPr lang="en-US" sz="1000" dirty="0"/>
          </a:p>
          <a:p>
            <a:pPr marL="0" indent="0">
              <a:lnSpc>
                <a:spcPct val="150000"/>
              </a:lnSpc>
              <a:buNone/>
            </a:pPr>
            <a:endParaRPr lang="en-US" sz="10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인코더-디코더 유지: Seq2Seq </a:t>
            </a:r>
            <a:r>
              <a:rPr lang="en-US" sz="1000" dirty="0" err="1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구조는</a:t>
            </a: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000" dirty="0" err="1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유지하되</a:t>
            </a: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RNN을 Attention으로 대체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큰 그림 — 인코더와 디코더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57200" y="9601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Transformer는 번역기라고 생각하면 됩니다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1463040"/>
            <a:ext cx="3931920" cy="237744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1463040"/>
            <a:ext cx="54864" cy="237744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8" name="Shape 6"/>
          <p:cNvSpPr/>
          <p:nvPr/>
        </p:nvSpPr>
        <p:spPr>
          <a:xfrm>
            <a:off x="685800" y="1627632"/>
            <a:ext cx="411480" cy="411480"/>
          </a:xfrm>
          <a:prstGeom prst="ellipse">
            <a:avLst/>
          </a:prstGeom>
          <a:solidFill>
            <a:srgbClr val="3B82F6">
              <a:alpha val="15000"/>
            </a:srgbClr>
          </a:solidFill>
          <a:ln/>
        </p:spPr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8096" y="1709928"/>
            <a:ext cx="246888" cy="246888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234440" y="1627632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인코더 (Encoder) — "읽는 뇌"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685800" y="2148840"/>
            <a:ext cx="34747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입력 문장을 깊이 이해하는 역할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입력 시퀀스를 문맥화된 표현으로 변환</a:t>
            </a:r>
            <a:endParaRPr lang="en-US" sz="1200" dirty="0"/>
          </a:p>
          <a:p>
            <a:pPr marL="0" indent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같은 구조를 6층 반복</a:t>
            </a:r>
            <a:endParaRPr lang="en-US" sz="1200" dirty="0"/>
          </a:p>
          <a:p>
            <a:pPr marL="0" indent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전체 입력을 동시에 처리 (병렬)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4754880" y="1463040"/>
            <a:ext cx="3931920" cy="237744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4754880" y="1463040"/>
            <a:ext cx="54864" cy="237744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4" name="Shape 11"/>
          <p:cNvSpPr/>
          <p:nvPr/>
        </p:nvSpPr>
        <p:spPr>
          <a:xfrm>
            <a:off x="4983480" y="1627632"/>
            <a:ext cx="411480" cy="411480"/>
          </a:xfrm>
          <a:prstGeom prst="ellipse">
            <a:avLst/>
          </a:prstGeom>
          <a:solidFill>
            <a:srgbClr val="7C3AED">
              <a:alpha val="15000"/>
            </a:srgbClr>
          </a:solidFill>
          <a:ln/>
        </p:spPr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65776" y="1709928"/>
            <a:ext cx="246888" cy="246888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5532120" y="1627632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디코더 (Decoder) — "쓰는 뇌"</a:t>
            </a:r>
            <a:endParaRPr lang="en-US" sz="1400" dirty="0"/>
          </a:p>
        </p:txBody>
      </p:sp>
      <p:sp>
        <p:nvSpPr>
          <p:cNvPr id="17" name="Text 13"/>
          <p:cNvSpPr/>
          <p:nvPr/>
        </p:nvSpPr>
        <p:spPr>
          <a:xfrm>
            <a:off x="4983480" y="2148840"/>
            <a:ext cx="34747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이해한 내용으로 출력을 생성하는 역할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인코더 출력을 참조하며 시퀀스 생성</a:t>
            </a:r>
            <a:endParaRPr lang="en-US" sz="1200" dirty="0"/>
          </a:p>
          <a:p>
            <a:pPr marL="0" indent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한 단어씩 순서대로 출력</a:t>
            </a:r>
            <a:endParaRPr lang="en-US" sz="1200" dirty="0"/>
          </a:p>
          <a:p>
            <a:pPr marL="0" indent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미래 단어는 볼 수 없음 (마스킹)</a:t>
            </a:r>
            <a:endParaRPr lang="en-US" sz="1200" dirty="0"/>
          </a:p>
        </p:txBody>
      </p:sp>
      <p:sp>
        <p:nvSpPr>
          <p:cNvPr id="18" name="Shape 14"/>
          <p:cNvSpPr/>
          <p:nvPr/>
        </p:nvSpPr>
        <p:spPr>
          <a:xfrm>
            <a:off x="457200" y="4069080"/>
            <a:ext cx="8229600" cy="777240"/>
          </a:xfrm>
          <a:prstGeom prst="rect">
            <a:avLst/>
          </a:prstGeom>
          <a:solidFill>
            <a:srgbClr val="F0F4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ko-KR" altLang="en-US" dirty="0"/>
          </a:p>
        </p:txBody>
      </p:sp>
      <p:sp>
        <p:nvSpPr>
          <p:cNvPr id="19" name="Shape 15"/>
          <p:cNvSpPr/>
          <p:nvPr/>
        </p:nvSpPr>
        <p:spPr>
          <a:xfrm>
            <a:off x="457200" y="4069080"/>
            <a:ext cx="54864" cy="77724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21" name="Text 16"/>
          <p:cNvSpPr/>
          <p:nvPr/>
        </p:nvSpPr>
        <p:spPr>
          <a:xfrm>
            <a:off x="685800" y="4114800"/>
            <a:ext cx="7772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비유: 인코더는 통역사의 듣기 모드(원문을 완벽히 이해), 디코더는 말하기 모드(이해한 내용을 한 단어씩 전달)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입력 임베딩 + 위치 인코딩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57200" y="1005840"/>
            <a:ext cx="8229600" cy="137160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85800" y="10972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임베딩 (Embedding)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85800" y="1463040"/>
            <a:ext cx="7772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각 </a:t>
            </a:r>
            <a:r>
              <a:rPr lang="en-US" sz="1200" dirty="0" err="1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단어</a:t>
            </a: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</a:t>
            </a:r>
            <a:r>
              <a:rPr lang="ko-KR" alt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토큰</a:t>
            </a: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)를 512차원의 숫자 </a:t>
            </a:r>
            <a:r>
              <a:rPr lang="en-US" sz="1200" dirty="0" err="1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벡터로</a:t>
            </a: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변환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"나는" → [0.12, -0.34, 0.56, ...] (512개 숫자)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2606040"/>
            <a:ext cx="8229600" cy="137160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85800" y="269748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위치 인코딩 (Positional Encoding)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685800" y="3063240"/>
            <a:ext cx="7772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"나는 학생입니다"에서 순서 정보가 사라지는 문제 해결.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각 위치에 고유한 신호를 더해줍니다.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모델이 "나는"이 첫 번째, "학생입니다"가 두 번째라는 것을 알 수 있음.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57200" y="4206240"/>
            <a:ext cx="8229600" cy="685800"/>
          </a:xfrm>
          <a:prstGeom prst="rect">
            <a:avLst/>
          </a:prstGeom>
          <a:solidFill>
            <a:srgbClr val="F0F4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57200" y="4206240"/>
            <a:ext cx="54864" cy="68580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13" name="Text 11"/>
          <p:cNvSpPr/>
          <p:nvPr/>
        </p:nvSpPr>
        <p:spPr>
          <a:xfrm>
            <a:off x="685800" y="4224528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주요 크기   |   임베딩 차원 (d_model): 512   |   어텐션 헤드: 8개   |   인코더/디코더 층: 각 6개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어텐션 (Attention) 메커니즘 — Q, K, V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핵심 아이디어: </a:t>
            </a:r>
            <a:r>
              <a:rPr lang="en-US" sz="13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"출력을 생성할 때, 입력의 어디에 주목해야 하는가?"를 학습으로 결정하는 메커니즘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463040"/>
            <a:ext cx="2606040" cy="219456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1463040"/>
            <a:ext cx="54864" cy="219456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8" name="Shape 6"/>
          <p:cNvSpPr/>
          <p:nvPr/>
        </p:nvSpPr>
        <p:spPr>
          <a:xfrm>
            <a:off x="658368" y="1627632"/>
            <a:ext cx="411480" cy="411480"/>
          </a:xfrm>
          <a:prstGeom prst="ellipse">
            <a:avLst/>
          </a:prstGeom>
          <a:solidFill>
            <a:srgbClr val="3B82F6">
              <a:alpha val="15000"/>
            </a:srgbClr>
          </a:solidFill>
          <a:ln/>
        </p:spPr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0664" y="1709928"/>
            <a:ext cx="246888" cy="246888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170432" y="1627632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Query (Q) — 질문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658368" y="2057400"/>
            <a:ext cx="21945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"나는 누구와 관련이 있을까?"</a:t>
            </a:r>
            <a:endParaRPr lang="en-US" sz="1050" dirty="0"/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카페 손님이 "아이스 아메리카노 있어요?"라고 질문하는 것.</a:t>
            </a:r>
            <a:endParaRPr lang="en-US" sz="1050" dirty="0"/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입력 벡터 × W_Q로 생성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3273552" y="1463040"/>
            <a:ext cx="2606040" cy="219456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3273552" y="1463040"/>
            <a:ext cx="54864" cy="219456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4" name="Shape 11"/>
          <p:cNvSpPr/>
          <p:nvPr/>
        </p:nvSpPr>
        <p:spPr>
          <a:xfrm>
            <a:off x="3474720" y="1627632"/>
            <a:ext cx="411480" cy="411480"/>
          </a:xfrm>
          <a:prstGeom prst="ellipse">
            <a:avLst/>
          </a:prstGeom>
          <a:solidFill>
            <a:srgbClr val="7C3AED">
              <a:alpha val="15000"/>
            </a:srgbClr>
          </a:solidFill>
          <a:ln/>
        </p:spPr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57016" y="1709928"/>
            <a:ext cx="246888" cy="246888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3986784" y="1627632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(K) — 열쇠</a:t>
            </a:r>
            <a:endParaRPr lang="en-US" sz="1300" dirty="0"/>
          </a:p>
        </p:txBody>
      </p:sp>
      <p:sp>
        <p:nvSpPr>
          <p:cNvPr id="17" name="Text 13"/>
          <p:cNvSpPr/>
          <p:nvPr/>
        </p:nvSpPr>
        <p:spPr>
          <a:xfrm>
            <a:off x="3474720" y="2057400"/>
            <a:ext cx="21945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"나는 이런 정보를 갖고 있어"</a:t>
            </a:r>
            <a:endParaRPr lang="en-US" sz="1050" dirty="0"/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카페 메뉴판의 각 항목이 자기 소개하는 것.</a:t>
            </a:r>
            <a:endParaRPr lang="en-US" sz="1050" dirty="0"/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입력 벡터 × W_K로 생성</a:t>
            </a:r>
            <a:endParaRPr lang="en-US" sz="1050" dirty="0"/>
          </a:p>
        </p:txBody>
      </p:sp>
      <p:sp>
        <p:nvSpPr>
          <p:cNvPr id="18" name="Shape 14"/>
          <p:cNvSpPr/>
          <p:nvPr/>
        </p:nvSpPr>
        <p:spPr>
          <a:xfrm>
            <a:off x="6080760" y="1463040"/>
            <a:ext cx="2606040" cy="219456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6080760" y="1463040"/>
            <a:ext cx="54864" cy="219456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20" name="Shape 16"/>
          <p:cNvSpPr/>
          <p:nvPr/>
        </p:nvSpPr>
        <p:spPr>
          <a:xfrm>
            <a:off x="6281928" y="1627632"/>
            <a:ext cx="411480" cy="411480"/>
          </a:xfrm>
          <a:prstGeom prst="ellipse">
            <a:avLst/>
          </a:prstGeom>
          <a:solidFill>
            <a:srgbClr val="0891B2">
              <a:alpha val="15000"/>
            </a:srgbClr>
          </a:solidFill>
          <a:ln/>
        </p:spPr>
      </p:sp>
      <p:pic>
        <p:nvPicPr>
          <p:cNvPr id="2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64224" y="1709928"/>
            <a:ext cx="246888" cy="246888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6793992" y="1627632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Value (V) — 실제 값</a:t>
            </a:r>
            <a:endParaRPr lang="en-US" sz="1300" dirty="0"/>
          </a:p>
        </p:txBody>
      </p:sp>
      <p:sp>
        <p:nvSpPr>
          <p:cNvPr id="23" name="Text 18"/>
          <p:cNvSpPr/>
          <p:nvPr/>
        </p:nvSpPr>
        <p:spPr>
          <a:xfrm>
            <a:off x="6281928" y="2057400"/>
            <a:ext cx="21945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"내 실제 정보는 이거야"</a:t>
            </a:r>
            <a:endParaRPr lang="en-US" sz="1050" dirty="0"/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메뉴 항목의 실제 내용물(커피 자체). Q와 K가 매칭되면 전달됨.</a:t>
            </a:r>
            <a:endParaRPr lang="en-US" sz="1050" dirty="0"/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입력 벡터 × W_V로 생성</a:t>
            </a:r>
            <a:endParaRPr lang="en-US" sz="1050" dirty="0"/>
          </a:p>
        </p:txBody>
      </p:sp>
      <p:sp>
        <p:nvSpPr>
          <p:cNvPr id="24" name="Shape 19"/>
          <p:cNvSpPr/>
          <p:nvPr/>
        </p:nvSpPr>
        <p:spPr>
          <a:xfrm>
            <a:off x="457200" y="3886200"/>
            <a:ext cx="8229600" cy="594360"/>
          </a:xfrm>
          <a:prstGeom prst="rect">
            <a:avLst/>
          </a:prstGeom>
          <a:solidFill>
            <a:srgbClr val="FFF7ED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5" name="Shape 20"/>
          <p:cNvSpPr/>
          <p:nvPr/>
        </p:nvSpPr>
        <p:spPr>
          <a:xfrm>
            <a:off x="457200" y="3886200"/>
            <a:ext cx="54864" cy="59436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26" name="Text 21"/>
          <p:cNvSpPr/>
          <p:nvPr/>
        </p:nvSpPr>
        <p:spPr>
          <a:xfrm>
            <a:off x="685800" y="3913632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중요: W_Q, W_K, W_V는 모두 </a:t>
            </a:r>
            <a:r>
              <a:rPr lang="en-US" sz="1150" dirty="0" err="1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학습으로</a:t>
            </a:r>
            <a:r>
              <a:rPr lang="en-US" sz="11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50" dirty="0" err="1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결정</a:t>
            </a:r>
            <a:r>
              <a:rPr lang="en-US" sz="11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모델이 훈련하면서 "어떤 관계를 봐야 잘 하는지" </a:t>
            </a:r>
            <a:r>
              <a:rPr lang="en-US" sz="1150" dirty="0" err="1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스스로</a:t>
            </a:r>
            <a:r>
              <a:rPr lang="en-US" sz="11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ko-KR" altLang="en-US" sz="11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학습</a:t>
            </a:r>
            <a:r>
              <a:rPr lang="en-US" sz="11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Attention 계산 4단계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15376" y="855472"/>
            <a:ext cx="5127441" cy="70866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15376" y="855472"/>
            <a:ext cx="45719" cy="70866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7" name="Shape 5"/>
          <p:cNvSpPr/>
          <p:nvPr/>
        </p:nvSpPr>
        <p:spPr>
          <a:xfrm>
            <a:off x="416544" y="1020064"/>
            <a:ext cx="319833" cy="393700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8" name="Text 6"/>
          <p:cNvSpPr/>
          <p:nvPr/>
        </p:nvSpPr>
        <p:spPr>
          <a:xfrm>
            <a:off x="416544" y="1020064"/>
            <a:ext cx="319833" cy="393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038336" y="946912"/>
            <a:ext cx="2238829" cy="2755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Q와 K의 내적 → 유사도 점수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038336" y="1239520"/>
            <a:ext cx="498939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"학생입니다"의 Q와 모든 단어의 K를 내적.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값이 클수록 관련이 깊음 → "이 단어가 다른 단어와 얼마나 관련 있는가?"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215376" y="1815592"/>
            <a:ext cx="5127441" cy="70866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15376" y="1815592"/>
            <a:ext cx="45719" cy="70866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3" name="Shape 11"/>
          <p:cNvSpPr/>
          <p:nvPr/>
        </p:nvSpPr>
        <p:spPr>
          <a:xfrm>
            <a:off x="416544" y="1980184"/>
            <a:ext cx="319833" cy="393700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14" name="Text 12"/>
          <p:cNvSpPr/>
          <p:nvPr/>
        </p:nvSpPr>
        <p:spPr>
          <a:xfrm>
            <a:off x="416544" y="1980184"/>
            <a:ext cx="319833" cy="393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038336" y="1907032"/>
            <a:ext cx="2238829" cy="2755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√d_k로 나누기 → 스케일링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038336" y="2199640"/>
            <a:ext cx="498939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d_k=64일 때 √64=8로 나눔.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값이 너무 크면 Softmax가 한 곳에만 몰림 → 적당한 크기로 조절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215376" y="2775712"/>
            <a:ext cx="5127441" cy="70866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215376" y="2775712"/>
            <a:ext cx="45719" cy="70866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19" name="Shape 17"/>
          <p:cNvSpPr/>
          <p:nvPr/>
        </p:nvSpPr>
        <p:spPr>
          <a:xfrm>
            <a:off x="416544" y="2940304"/>
            <a:ext cx="319833" cy="393700"/>
          </a:xfrm>
          <a:prstGeom prst="ellipse">
            <a:avLst/>
          </a:prstGeom>
          <a:solidFill>
            <a:srgbClr val="059669"/>
          </a:solidFill>
          <a:ln/>
        </p:spPr>
      </p:sp>
      <p:sp>
        <p:nvSpPr>
          <p:cNvPr id="20" name="Text 18"/>
          <p:cNvSpPr/>
          <p:nvPr/>
        </p:nvSpPr>
        <p:spPr>
          <a:xfrm>
            <a:off x="416544" y="2940304"/>
            <a:ext cx="319833" cy="393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038336" y="2867152"/>
            <a:ext cx="2238829" cy="2755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Softmax → 확률 분포로 변환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38336" y="3159760"/>
            <a:ext cx="498939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모든 점수의 합이 1이 되는 확률로 변환.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"나는"=0.3, "학생입니다"=0.7 → 어디에 얼마나 주목할지 결정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215376" y="3735832"/>
            <a:ext cx="5127441" cy="70866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215376" y="3735832"/>
            <a:ext cx="45719" cy="70866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25" name="Shape 23"/>
          <p:cNvSpPr/>
          <p:nvPr/>
        </p:nvSpPr>
        <p:spPr>
          <a:xfrm>
            <a:off x="416544" y="3900424"/>
            <a:ext cx="319833" cy="393700"/>
          </a:xfrm>
          <a:prstGeom prst="ellipse">
            <a:avLst/>
          </a:prstGeom>
          <a:solidFill>
            <a:srgbClr val="D97706"/>
          </a:solidFill>
          <a:ln/>
        </p:spPr>
      </p:sp>
      <p:sp>
        <p:nvSpPr>
          <p:cNvPr id="26" name="Text 24"/>
          <p:cNvSpPr/>
          <p:nvPr/>
        </p:nvSpPr>
        <p:spPr>
          <a:xfrm>
            <a:off x="416544" y="3900424"/>
            <a:ext cx="319833" cy="393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1038336" y="3827272"/>
            <a:ext cx="2238829" cy="2755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가중치로 V를 곱해서 합산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1038336" y="4119880"/>
            <a:ext cx="498939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0.3×V("나는") + 0.7×V("학생입니다")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관련 정보가 반영된 새로운 벡터 탄생!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4549329" y="4050285"/>
            <a:ext cx="4477657" cy="27432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0" name="Text 28"/>
          <p:cNvSpPr/>
          <p:nvPr/>
        </p:nvSpPr>
        <p:spPr>
          <a:xfrm>
            <a:off x="4549329" y="4050285"/>
            <a:ext cx="447765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Attention(Q,K,V) = Softmax(Q·K^T / √d_k) × V</a:t>
            </a:r>
            <a:endParaRPr lang="en-US" sz="1400" dirty="0"/>
          </a:p>
        </p:txBody>
      </p:sp>
      <p:pic>
        <p:nvPicPr>
          <p:cNvPr id="31" name="Picture 2" descr="https://wikidocs.net/images/page/22893/%EC%BF%BC%EB%A6%AC.PNG">
            <a:extLst>
              <a:ext uri="{FF2B5EF4-FFF2-40B4-BE49-F238E27FC236}">
                <a16:creationId xmlns:a16="http://schemas.microsoft.com/office/drawing/2014/main" id="{7121C5ED-80CA-482D-8D65-6F98E099C7D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81387" y="1292862"/>
            <a:ext cx="3662613" cy="23733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셀프 어텐션 (Self-Attention) — 문장 내부의 관계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57200" y="1005840"/>
            <a:ext cx="3017520" cy="155448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005840"/>
            <a:ext cx="45719" cy="155448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7" name="Text 5"/>
          <p:cNvSpPr/>
          <p:nvPr/>
        </p:nvSpPr>
        <p:spPr>
          <a:xfrm>
            <a:off x="685800" y="1078992"/>
            <a:ext cx="266664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일반 Attention (Encoder-Decoder)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85800" y="1463040"/>
            <a:ext cx="266664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= 디코더에서, K·V = 인코더에서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"번역할 때 원문의 어디를 볼까?"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두 개의 다른 시퀀스 간의 관계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591099" y="987313"/>
            <a:ext cx="3017520" cy="155448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591099" y="987313"/>
            <a:ext cx="45719" cy="155448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11" name="Text 9"/>
          <p:cNvSpPr/>
          <p:nvPr/>
        </p:nvSpPr>
        <p:spPr>
          <a:xfrm>
            <a:off x="3819699" y="1060465"/>
            <a:ext cx="266664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Self-Attention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819699" y="1444513"/>
            <a:ext cx="266664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Q, K, V 모두 같은 시퀀스에서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"이 문장 내에서 단어 간 관계는?"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한 문장 안의 모든 관계를 스스로 파악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57200" y="2921735"/>
            <a:ext cx="1999984" cy="86868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57200" y="2921735"/>
            <a:ext cx="45719" cy="86868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19" name="Text 17"/>
          <p:cNvSpPr/>
          <p:nvPr/>
        </p:nvSpPr>
        <p:spPr>
          <a:xfrm>
            <a:off x="640080" y="2985743"/>
            <a:ext cx="168419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거리 무관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40080" y="3260063"/>
            <a:ext cx="1684197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아무리 멀리 떨어진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단어도 직접 연결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2594345" y="2949130"/>
            <a:ext cx="1999984" cy="86868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2594345" y="2949130"/>
            <a:ext cx="45719" cy="86868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23" name="Text 21"/>
          <p:cNvSpPr/>
          <p:nvPr/>
        </p:nvSpPr>
        <p:spPr>
          <a:xfrm>
            <a:off x="2777225" y="3013138"/>
            <a:ext cx="168419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병렬 처리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2777225" y="3287458"/>
            <a:ext cx="1684197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모든 단어 쌍의 관계를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동시에 계산 (GPU 활용)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611873" y="2921735"/>
            <a:ext cx="1999984" cy="86868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634733" y="2931737"/>
            <a:ext cx="45719" cy="86868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27" name="Text 25"/>
          <p:cNvSpPr/>
          <p:nvPr/>
        </p:nvSpPr>
        <p:spPr>
          <a:xfrm>
            <a:off x="4817613" y="2995745"/>
            <a:ext cx="168419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해석 가능성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4817613" y="3270065"/>
            <a:ext cx="1684197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가중치 시각화로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모델의 주목점 확인</a:t>
            </a:r>
            <a:endParaRPr lang="en-US" sz="1000" dirty="0"/>
          </a:p>
        </p:txBody>
      </p:sp>
      <p:pic>
        <p:nvPicPr>
          <p:cNvPr id="29" name="Picture 2" descr="https://wikidocs.net/images/page/31379/transformer10.png">
            <a:extLst>
              <a:ext uri="{FF2B5EF4-FFF2-40B4-BE49-F238E27FC236}">
                <a16:creationId xmlns:a16="http://schemas.microsoft.com/office/drawing/2014/main" id="{68BBDBA2-B87C-48CA-8775-4A0747D6FFB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65581" y="1331991"/>
            <a:ext cx="2190581" cy="21566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BA13EF9-67CA-45AA-8D3F-2F80F8E03C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7808" y="96566"/>
            <a:ext cx="2913602" cy="789385"/>
          </a:xfrm>
        </p:spPr>
        <p:txBody>
          <a:bodyPr>
            <a:normAutofit fontScale="90000"/>
          </a:bodyPr>
          <a:lstStyle/>
          <a:p>
            <a:r>
              <a:rPr lang="ko-KR" altLang="en-US" dirty="0" err="1"/>
              <a:t>셀프어텐션</a:t>
            </a:r>
            <a:r>
              <a:rPr lang="en-US" altLang="ko-KR" dirty="0"/>
              <a:t>(</a:t>
            </a:r>
            <a:endParaRPr lang="ko-KR" altLang="en-US" dirty="0"/>
          </a:p>
        </p:txBody>
      </p:sp>
      <p:pic>
        <p:nvPicPr>
          <p:cNvPr id="16386" name="Picture 2" descr="https://jalammar.github.io/images/t/transformer_self_attention_vectors.png">
            <a:extLst>
              <a:ext uri="{FF2B5EF4-FFF2-40B4-BE49-F238E27FC236}">
                <a16:creationId xmlns:a16="http://schemas.microsoft.com/office/drawing/2014/main" id="{753E7529-260D-4570-9D95-081928EA028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7809" y="1850379"/>
            <a:ext cx="2567438" cy="19295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388" name="Picture 4" descr="https://jalammar.github.io/images/t/self-attention-output.png">
            <a:extLst>
              <a:ext uri="{FF2B5EF4-FFF2-40B4-BE49-F238E27FC236}">
                <a16:creationId xmlns:a16="http://schemas.microsoft.com/office/drawing/2014/main" id="{55904337-C474-4B74-882A-E7B195EB17E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87823" y="1732645"/>
            <a:ext cx="2913602" cy="24494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390" name="Picture 6" descr="https://jalammar.github.io/images/t/self-attention-matrix-calculation-2.png">
            <a:extLst>
              <a:ext uri="{FF2B5EF4-FFF2-40B4-BE49-F238E27FC236}">
                <a16:creationId xmlns:a16="http://schemas.microsoft.com/office/drawing/2014/main" id="{6042638B-9BF9-4443-9CB1-E0923A19413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06538" y="2464164"/>
            <a:ext cx="2567438" cy="1003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97E6D88D-17C2-47A6-A3CC-7D7050B1339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31466" y="4314825"/>
            <a:ext cx="4900613" cy="828675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0550019B-581A-4FB3-BCEF-9348B6461CFB}"/>
              </a:ext>
            </a:extLst>
          </p:cNvPr>
          <p:cNvSpPr txBox="1"/>
          <p:nvPr/>
        </p:nvSpPr>
        <p:spPr>
          <a:xfrm>
            <a:off x="184608" y="1088632"/>
            <a:ext cx="2913602" cy="9771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#1</a:t>
            </a:r>
          </a:p>
          <a:p>
            <a:r>
              <a:rPr lang="en-US" altLang="ko-KR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</a:t>
            </a:r>
            <a:r>
              <a:rPr lang="ko-KR" altLang="en-US" sz="1100" dirty="0">
                <a:solidFill>
                  <a:srgbClr val="2D3748"/>
                </a:solidFill>
                <a:latin typeface="Calibri" pitchFamily="34" charset="0"/>
                <a:cs typeface="Calibri" pitchFamily="34" charset="-120"/>
              </a:rPr>
              <a:t>한 문장을 구성하는 단어</a:t>
            </a:r>
            <a:r>
              <a:rPr lang="en-US" altLang="ko-KR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</a:t>
            </a:r>
            <a:r>
              <a:rPr lang="ko-KR" altLang="en-US" sz="1100" dirty="0">
                <a:solidFill>
                  <a:srgbClr val="2D3748"/>
                </a:solidFill>
                <a:latin typeface="Calibri" pitchFamily="34" charset="0"/>
                <a:cs typeface="Calibri" pitchFamily="34" charset="-120"/>
              </a:rPr>
              <a:t>토큰</a:t>
            </a:r>
            <a:r>
              <a:rPr lang="en-US" altLang="ko-KR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</a:t>
            </a:r>
            <a:r>
              <a:rPr lang="ko-KR" altLang="en-US" sz="1100" dirty="0">
                <a:solidFill>
                  <a:srgbClr val="2D3748"/>
                </a:solidFill>
                <a:latin typeface="Calibri" pitchFamily="34" charset="0"/>
                <a:cs typeface="Calibri" pitchFamily="34" charset="-120"/>
              </a:rPr>
              <a:t>별로 </a:t>
            </a:r>
            <a:r>
              <a:rPr lang="en-US" altLang="ko-KR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</a:t>
            </a:r>
            <a:r>
              <a:rPr lang="ko-KR" altLang="en-US" sz="1100" dirty="0">
                <a:solidFill>
                  <a:srgbClr val="2D3748"/>
                </a:solidFill>
                <a:latin typeface="Calibri" pitchFamily="34" charset="0"/>
                <a:cs typeface="Calibri" pitchFamily="34" charset="-120"/>
              </a:rPr>
              <a:t>에서 </a:t>
            </a:r>
            <a:r>
              <a:rPr lang="en-US" altLang="ko-KR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Q,K,V </a:t>
            </a:r>
            <a:r>
              <a:rPr lang="ko-KR" altLang="en-US" sz="1100" dirty="0">
                <a:solidFill>
                  <a:srgbClr val="2D3748"/>
                </a:solidFill>
                <a:latin typeface="Calibri" pitchFamily="34" charset="0"/>
                <a:cs typeface="Calibri" pitchFamily="34" charset="-120"/>
              </a:rPr>
              <a:t>행렬 만들기</a:t>
            </a:r>
            <a:endParaRPr lang="en-US" altLang="ko-KR" sz="1100" dirty="0">
              <a:solidFill>
                <a:srgbClr val="2D3748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r>
              <a:rPr lang="en-US" altLang="ko-KR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-Q, K, V weights</a:t>
            </a:r>
            <a:r>
              <a:rPr lang="ko-KR" altLang="en-US" sz="1100" dirty="0">
                <a:solidFill>
                  <a:srgbClr val="2D3748"/>
                </a:solidFill>
                <a:latin typeface="Calibri" pitchFamily="34" charset="0"/>
                <a:cs typeface="Calibri" pitchFamily="34" charset="-120"/>
              </a:rPr>
              <a:t>는 업데이트될 파라미터</a:t>
            </a:r>
            <a:endParaRPr lang="en-US" altLang="ko-KR" sz="1100" dirty="0">
              <a:solidFill>
                <a:srgbClr val="2D3748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endParaRPr lang="ko-KR" altLang="en-US" sz="135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FA8B3EC-FD94-4DFA-BA23-32E7FC3CEBC3}"/>
              </a:ext>
            </a:extLst>
          </p:cNvPr>
          <p:cNvSpPr txBox="1"/>
          <p:nvPr/>
        </p:nvSpPr>
        <p:spPr>
          <a:xfrm>
            <a:off x="460264" y="4427920"/>
            <a:ext cx="3471203" cy="7617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#3</a:t>
            </a:r>
          </a:p>
          <a:p>
            <a:r>
              <a:rPr lang="en-US" altLang="ko-KR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-Multi-head </a:t>
            </a:r>
            <a:r>
              <a:rPr lang="ko-KR" altLang="en-US" sz="1100" dirty="0">
                <a:solidFill>
                  <a:srgbClr val="2D3748"/>
                </a:solidFill>
                <a:latin typeface="Calibri" pitchFamily="34" charset="0"/>
                <a:cs typeface="Calibri" pitchFamily="34" charset="-120"/>
              </a:rPr>
              <a:t>수만큼 나타난 </a:t>
            </a:r>
            <a:r>
              <a:rPr lang="en-US" altLang="ko-KR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attention score </a:t>
            </a:r>
            <a:r>
              <a:rPr lang="ko-KR" altLang="en-US" sz="1100" dirty="0">
                <a:solidFill>
                  <a:srgbClr val="2D3748"/>
                </a:solidFill>
                <a:latin typeface="Calibri" pitchFamily="34" charset="0"/>
                <a:cs typeface="Calibri" pitchFamily="34" charset="-120"/>
              </a:rPr>
              <a:t>벡터들을 붙여 본래 </a:t>
            </a:r>
            <a:r>
              <a:rPr lang="en-US" altLang="ko-KR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embedding </a:t>
            </a:r>
            <a:r>
              <a:rPr lang="ko-KR" altLang="en-US" sz="1100" dirty="0">
                <a:solidFill>
                  <a:srgbClr val="2D3748"/>
                </a:solidFill>
                <a:latin typeface="Calibri" pitchFamily="34" charset="0"/>
                <a:cs typeface="Calibri" pitchFamily="34" charset="-120"/>
              </a:rPr>
              <a:t>차원의 벡터로 만듦</a:t>
            </a:r>
            <a:r>
              <a:rPr lang="en-US" altLang="ko-KR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</a:p>
          <a:p>
            <a:endParaRPr lang="ko-KR" altLang="en-US" sz="105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8E80858-5011-4F79-9701-8EB4CBB63D51}"/>
              </a:ext>
            </a:extLst>
          </p:cNvPr>
          <p:cNvSpPr txBox="1"/>
          <p:nvPr/>
        </p:nvSpPr>
        <p:spPr>
          <a:xfrm>
            <a:off x="3162893" y="777240"/>
            <a:ext cx="5939624" cy="9387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#2</a:t>
            </a:r>
          </a:p>
          <a:p>
            <a:r>
              <a:rPr lang="en-US" altLang="ko-KR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</a:t>
            </a:r>
            <a:r>
              <a:rPr lang="ko-KR" altLang="en-US" sz="1100" dirty="0">
                <a:solidFill>
                  <a:srgbClr val="2D3748"/>
                </a:solidFill>
                <a:latin typeface="Calibri" pitchFamily="34" charset="0"/>
                <a:cs typeface="Calibri" pitchFamily="34" charset="-120"/>
              </a:rPr>
              <a:t>각 단어별로 모든 단어들에 대해 </a:t>
            </a:r>
            <a:r>
              <a:rPr lang="en-US" altLang="ko-KR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Q,K </a:t>
            </a:r>
            <a:r>
              <a:rPr lang="ko-KR" altLang="en-US" sz="1100" dirty="0">
                <a:solidFill>
                  <a:srgbClr val="2D3748"/>
                </a:solidFill>
                <a:latin typeface="Calibri" pitchFamily="34" charset="0"/>
                <a:cs typeface="Calibri" pitchFamily="34" charset="-120"/>
              </a:rPr>
              <a:t>내적 값 산출</a:t>
            </a:r>
            <a:endParaRPr lang="en-US" altLang="ko-KR" sz="1100" dirty="0">
              <a:solidFill>
                <a:srgbClr val="2D3748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r>
              <a:rPr lang="en-US" altLang="ko-KR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</a:t>
            </a:r>
            <a:r>
              <a:rPr lang="ko-KR" altLang="en-US" sz="1100" dirty="0">
                <a:solidFill>
                  <a:srgbClr val="2D3748"/>
                </a:solidFill>
                <a:latin typeface="Calibri" pitchFamily="34" charset="0"/>
                <a:cs typeface="Calibri" pitchFamily="34" charset="-120"/>
              </a:rPr>
              <a:t>이를 </a:t>
            </a:r>
            <a:r>
              <a:rPr lang="en-US" altLang="ko-KR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multi-head </a:t>
            </a:r>
            <a:r>
              <a:rPr lang="ko-KR" altLang="en-US" sz="1100" dirty="0">
                <a:solidFill>
                  <a:srgbClr val="2D3748"/>
                </a:solidFill>
                <a:latin typeface="Calibri" pitchFamily="34" charset="0"/>
                <a:cs typeface="Calibri" pitchFamily="34" charset="-120"/>
              </a:rPr>
              <a:t>수</a:t>
            </a:r>
            <a:r>
              <a:rPr lang="en-US" altLang="ko-KR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(8)</a:t>
            </a:r>
            <a:r>
              <a:rPr lang="ko-KR" altLang="en-US" sz="1100" dirty="0">
                <a:solidFill>
                  <a:srgbClr val="2D3748"/>
                </a:solidFill>
                <a:latin typeface="Calibri" pitchFamily="34" charset="0"/>
                <a:cs typeface="Calibri" pitchFamily="34" charset="-120"/>
              </a:rPr>
              <a:t>로 나눠 </a:t>
            </a:r>
            <a:r>
              <a:rPr lang="en-US" altLang="ko-KR" sz="1100" dirty="0" err="1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softmax</a:t>
            </a:r>
            <a:r>
              <a:rPr lang="en-US" altLang="ko-KR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ko-KR" altLang="en-US" sz="1100" dirty="0">
                <a:solidFill>
                  <a:srgbClr val="2D3748"/>
                </a:solidFill>
                <a:latin typeface="Calibri" pitchFamily="34" charset="0"/>
                <a:cs typeface="Calibri" pitchFamily="34" charset="-120"/>
              </a:rPr>
              <a:t>산출</a:t>
            </a:r>
            <a:r>
              <a:rPr lang="en-US" altLang="ko-KR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</a:t>
            </a:r>
          </a:p>
          <a:p>
            <a:r>
              <a:rPr lang="en-US" altLang="ko-KR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</a:t>
            </a:r>
            <a:r>
              <a:rPr lang="ko-KR" altLang="en-US" sz="1100" dirty="0">
                <a:solidFill>
                  <a:srgbClr val="2D3748"/>
                </a:solidFill>
                <a:latin typeface="Calibri" pitchFamily="34" charset="0"/>
                <a:cs typeface="Calibri" pitchFamily="34" charset="-120"/>
              </a:rPr>
              <a:t>이를 가중치로 </a:t>
            </a:r>
            <a:r>
              <a:rPr lang="en-US" altLang="ko-KR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</a:t>
            </a:r>
            <a:r>
              <a:rPr lang="ko-KR" altLang="en-US" sz="1100" dirty="0">
                <a:solidFill>
                  <a:srgbClr val="2D3748"/>
                </a:solidFill>
                <a:latin typeface="Calibri" pitchFamily="34" charset="0"/>
                <a:cs typeface="Calibri" pitchFamily="34" charset="-120"/>
              </a:rPr>
              <a:t>에 곱한 뒤  모든 단어의 결과 벡터를 더하면 해당 단어의 </a:t>
            </a:r>
            <a:r>
              <a:rPr lang="en-US" altLang="ko-KR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attention score </a:t>
            </a:r>
            <a:r>
              <a:rPr lang="ko-KR" altLang="en-US" sz="1100" dirty="0">
                <a:solidFill>
                  <a:srgbClr val="2D3748"/>
                </a:solidFill>
                <a:latin typeface="Calibri" pitchFamily="34" charset="0"/>
                <a:cs typeface="Calibri" pitchFamily="34" charset="-120"/>
              </a:rPr>
              <a:t>도출</a:t>
            </a:r>
            <a:endParaRPr lang="en-US" altLang="ko-KR" sz="1100" dirty="0">
              <a:solidFill>
                <a:srgbClr val="2D3748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r>
              <a:rPr lang="en-US" altLang="ko-KR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</a:t>
            </a:r>
            <a:r>
              <a:rPr lang="ko-KR" altLang="en-US" sz="1100" dirty="0">
                <a:solidFill>
                  <a:srgbClr val="2D3748"/>
                </a:solidFill>
                <a:latin typeface="Calibri" pitchFamily="34" charset="0"/>
                <a:cs typeface="Calibri" pitchFamily="34" charset="-120"/>
              </a:rPr>
              <a:t>이 수치는 단어 자신과 다른 모든 단어와의 관계를 반영 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79EE67F-18AE-4F84-BB2C-C82551D40C54}"/>
              </a:ext>
            </a:extLst>
          </p:cNvPr>
          <p:cNvSpPr txBox="1"/>
          <p:nvPr/>
        </p:nvSpPr>
        <p:spPr>
          <a:xfrm>
            <a:off x="6909728" y="6154"/>
            <a:ext cx="2320260" cy="1962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675" b="1" dirty="0"/>
              <a:t>https://jalammar.github.io/illustrated-transformer/</a:t>
            </a:r>
            <a:endParaRPr lang="ko-KR" altLang="en-US" sz="675" b="1" dirty="0"/>
          </a:p>
        </p:txBody>
      </p:sp>
      <p:sp>
        <p:nvSpPr>
          <p:cNvPr id="11" name="Shape 0">
            <a:extLst>
              <a:ext uri="{FF2B5EF4-FFF2-40B4-BE49-F238E27FC236}">
                <a16:creationId xmlns:a16="http://schemas.microsoft.com/office/drawing/2014/main" id="{CBAC262A-3D14-4E14-8547-DBEFAA862B38}"/>
              </a:ext>
            </a:extLst>
          </p:cNvPr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12" name="Text 1">
            <a:extLst>
              <a:ext uri="{FF2B5EF4-FFF2-40B4-BE49-F238E27FC236}">
                <a16:creationId xmlns:a16="http://schemas.microsoft.com/office/drawing/2014/main" id="{53777E3B-766C-48E5-AA06-1772CC8462B7}"/>
              </a:ext>
            </a:extLst>
          </p:cNvPr>
          <p:cNvSpPr/>
          <p:nvPr/>
        </p:nvSpPr>
        <p:spPr>
          <a:xfrm>
            <a:off x="457200" y="13716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&lt;</a:t>
            </a:r>
            <a:r>
              <a:rPr lang="ko-KR" alt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부록</a:t>
            </a:r>
            <a:r>
              <a:rPr lang="en-US" altLang="ko-KR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&gt; </a:t>
            </a:r>
            <a:r>
              <a:rPr lang="en-US" sz="2200" b="1" dirty="0" err="1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셀프</a:t>
            </a: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어텐션 (Self-Attention) — </a:t>
            </a:r>
            <a:r>
              <a:rPr lang="ko-KR" alt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계산</a:t>
            </a:r>
            <a:endParaRPr lang="en-US" sz="2200" dirty="0"/>
          </a:p>
        </p:txBody>
      </p:sp>
    </p:spTree>
    <p:extLst>
      <p:ext uri="{BB962C8B-B14F-4D97-AF65-F5344CB8AC3E}">
        <p14:creationId xmlns:p14="http://schemas.microsoft.com/office/powerpoint/2010/main" val="126821630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멀티 헤드 어텐션 (Multi-Head Attention)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57200" y="96012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왜 여러 개의 헤드가 필요한가?  하나의 헤드는 하나의 관점만 포착. 언어에는 여러 종류의 관계가 </a:t>
            </a:r>
            <a:r>
              <a:rPr lang="en-US" sz="1200" dirty="0" err="1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동시에</a:t>
            </a: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존재</a:t>
            </a: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1463040"/>
            <a:ext cx="8229600" cy="868680"/>
          </a:xfrm>
          <a:prstGeom prst="rect">
            <a:avLst/>
          </a:prstGeom>
          <a:solidFill>
            <a:srgbClr val="F0F4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85800" y="15087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예: "철수가 어제 학교에서 영희에게 책을 줬다"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85800" y="182880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헤드1: 주어-동사 (철수-줬다)  |  헤드2: 의미적 (영희-줬다)  |  헤드3: 위치 (학교-줬다)  |  헤드4: 시간 (어제-줬다)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57200" y="2560320"/>
            <a:ext cx="2606040" cy="210312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57200" y="2560320"/>
            <a:ext cx="54864" cy="210312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1" name="Shape 9"/>
          <p:cNvSpPr/>
          <p:nvPr/>
        </p:nvSpPr>
        <p:spPr>
          <a:xfrm>
            <a:off x="621792" y="2697480"/>
            <a:ext cx="384048" cy="384048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12" name="Text 10"/>
          <p:cNvSpPr/>
          <p:nvPr/>
        </p:nvSpPr>
        <p:spPr>
          <a:xfrm>
            <a:off x="621792" y="26974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①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097280" y="2715768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분할 (Split)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21792" y="3154680"/>
            <a:ext cx="22860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Q, K, V를 8개 헤드로 분할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512차원 ÷ 8 = 각 64차원</a:t>
            </a:r>
            <a:endParaRPr lang="en-US" sz="1050" dirty="0"/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각 헤드가 서로 다른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부분 공간(subspace)에서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독립적으로 Attention 계산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3291840" y="2560320"/>
            <a:ext cx="2606040" cy="210312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291840" y="2560320"/>
            <a:ext cx="54864" cy="210312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7" name="Shape 15"/>
          <p:cNvSpPr/>
          <p:nvPr/>
        </p:nvSpPr>
        <p:spPr>
          <a:xfrm>
            <a:off x="3456432" y="2697480"/>
            <a:ext cx="384048" cy="384048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18" name="Text 16"/>
          <p:cNvSpPr/>
          <p:nvPr/>
        </p:nvSpPr>
        <p:spPr>
          <a:xfrm>
            <a:off x="3456432" y="26974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②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3931920" y="2715768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병렬 Attention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3456432" y="3154680"/>
            <a:ext cx="22860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8개 헤드가 동시에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각자의 Attention 수행</a:t>
            </a:r>
            <a:endParaRPr lang="en-US" sz="1050" dirty="0"/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각 헤드는 다른 패턴 학습: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문법적, 의미적, 위치적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관계 등을 각각 담당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6126480" y="2560320"/>
            <a:ext cx="2606040" cy="210312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126480" y="2560320"/>
            <a:ext cx="54864" cy="210312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23" name="Shape 21"/>
          <p:cNvSpPr/>
          <p:nvPr/>
        </p:nvSpPr>
        <p:spPr>
          <a:xfrm>
            <a:off x="6291072" y="2697480"/>
            <a:ext cx="384048" cy="384048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24" name="Text 22"/>
          <p:cNvSpPr/>
          <p:nvPr/>
        </p:nvSpPr>
        <p:spPr>
          <a:xfrm>
            <a:off x="6291072" y="26974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③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6766560" y="2715768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합치기 (Concat+Linear)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6291072" y="3154680"/>
            <a:ext cx="22860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8개 출력(각 64차원)을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이어붙여 → 512차원</a:t>
            </a:r>
            <a:endParaRPr lang="en-US" sz="1050" dirty="0"/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선형 변환(Projection)을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한 번 더 거쳐 최종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Multi-Head Attention 출력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457200" y="4754880"/>
            <a:ext cx="8229600" cy="3200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28" name="Text 26"/>
          <p:cNvSpPr/>
          <p:nvPr/>
        </p:nvSpPr>
        <p:spPr>
          <a:xfrm>
            <a:off x="457200" y="47548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MultiHead(Q,K,V) = Concat(head_1, …, head_8) × W_O    |    head_i = Attention(Q·W_Qi, K·W_Ki, V·W_Vi)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인코더 내부 구조 — 6층 반복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57200" y="1005840"/>
            <a:ext cx="3714278" cy="77724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005840"/>
            <a:ext cx="54864" cy="77724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7" name="Shape 5"/>
          <p:cNvSpPr/>
          <p:nvPr/>
        </p:nvSpPr>
        <p:spPr>
          <a:xfrm>
            <a:off x="658368" y="1143000"/>
            <a:ext cx="438912" cy="438912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8" name="Text 6"/>
          <p:cNvSpPr/>
          <p:nvPr/>
        </p:nvSpPr>
        <p:spPr>
          <a:xfrm>
            <a:off x="658368" y="114300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280160" y="1078992"/>
            <a:ext cx="2838419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Multi-Head Self-Attention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280160" y="1371600"/>
            <a:ext cx="283841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모든 단어가 서로를 바라보며 관계 파악.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8개 헤드가 각각 다른 관점으로 분석.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57200" y="1920240"/>
            <a:ext cx="3661379" cy="77724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57200" y="1920240"/>
            <a:ext cx="54864" cy="77724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13" name="Shape 11"/>
          <p:cNvSpPr/>
          <p:nvPr/>
        </p:nvSpPr>
        <p:spPr>
          <a:xfrm>
            <a:off x="658368" y="2057400"/>
            <a:ext cx="438912" cy="438912"/>
          </a:xfrm>
          <a:prstGeom prst="ellipse">
            <a:avLst/>
          </a:prstGeom>
          <a:solidFill>
            <a:srgbClr val="059669"/>
          </a:solidFill>
          <a:ln/>
        </p:spPr>
      </p:sp>
      <p:sp>
        <p:nvSpPr>
          <p:cNvPr id="14" name="Text 12"/>
          <p:cNvSpPr/>
          <p:nvPr/>
        </p:nvSpPr>
        <p:spPr>
          <a:xfrm>
            <a:off x="658368" y="205740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280160" y="1993392"/>
            <a:ext cx="2838419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Add &amp; Norm (잔차 연결 + 정규화)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280160" y="2286000"/>
            <a:ext cx="283841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Add: 원래 입력을 다시 더해 정보 손실 방지.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Norm: 숫자 스케일을 일정하게 맞춰 안정화.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57200" y="2834640"/>
            <a:ext cx="3661379" cy="77724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57200" y="2834640"/>
            <a:ext cx="54864" cy="77724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9" name="Shape 17"/>
          <p:cNvSpPr/>
          <p:nvPr/>
        </p:nvSpPr>
        <p:spPr>
          <a:xfrm>
            <a:off x="658368" y="2971800"/>
            <a:ext cx="438912" cy="438912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20" name="Text 18"/>
          <p:cNvSpPr/>
          <p:nvPr/>
        </p:nvSpPr>
        <p:spPr>
          <a:xfrm>
            <a:off x="658368" y="297180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1280160" y="2907792"/>
            <a:ext cx="2838419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Position-wise FFNN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280160" y="3200400"/>
            <a:ext cx="283841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각 단어의 표현을 개별적으로 풍부하게.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512→2048→512 확장/축소, 비선형 패턴 학습.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457200" y="3749040"/>
            <a:ext cx="3661379" cy="77724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57200" y="3749040"/>
            <a:ext cx="54864" cy="77724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25" name="Shape 23"/>
          <p:cNvSpPr/>
          <p:nvPr/>
        </p:nvSpPr>
        <p:spPr>
          <a:xfrm>
            <a:off x="658368" y="3886200"/>
            <a:ext cx="438912" cy="438912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26" name="Text 24"/>
          <p:cNvSpPr/>
          <p:nvPr/>
        </p:nvSpPr>
        <p:spPr>
          <a:xfrm>
            <a:off x="658368" y="388620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1280160" y="3822192"/>
            <a:ext cx="2838419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Add &amp; Norm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1280160" y="4114800"/>
            <a:ext cx="283841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FFNN 결과에도 잔차 연결 + 정규화 적용.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매 단계마다 반복하여 학습 안정성 확보.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457200" y="4709160"/>
            <a:ext cx="8229600" cy="320040"/>
          </a:xfrm>
          <a:prstGeom prst="rect">
            <a:avLst/>
          </a:prstGeom>
          <a:solidFill>
            <a:srgbClr val="F0F4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685800" y="470916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1층: 단어 수준의 관계 파악  →  6층: 문장 전체의 의미와 뉘앙스까지 이해 (점점 깊은 이해로)</a:t>
            </a:r>
            <a:endParaRPr lang="en-US" sz="1100" dirty="0"/>
          </a:p>
        </p:txBody>
      </p:sp>
      <p:pic>
        <p:nvPicPr>
          <p:cNvPr id="31" name="Picture 6" descr="https://wikidocs.net/images/page/31379/transformer_attention_overview.PNG">
            <a:extLst>
              <a:ext uri="{FF2B5EF4-FFF2-40B4-BE49-F238E27FC236}">
                <a16:creationId xmlns:a16="http://schemas.microsoft.com/office/drawing/2014/main" id="{ED5139EC-BAB7-4D1D-93D8-12A66327C9E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0" y="960120"/>
            <a:ext cx="4005073" cy="35735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디코더 내부 구조 — 6층 반복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57200" y="873252"/>
            <a:ext cx="4343400" cy="566928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873252"/>
            <a:ext cx="54864" cy="566928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7" name="Shape 5"/>
          <p:cNvSpPr/>
          <p:nvPr/>
        </p:nvSpPr>
        <p:spPr>
          <a:xfrm>
            <a:off x="621792" y="946404"/>
            <a:ext cx="365760" cy="365760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8" name="Text 6"/>
          <p:cNvSpPr/>
          <p:nvPr/>
        </p:nvSpPr>
        <p:spPr>
          <a:xfrm>
            <a:off x="621792" y="94640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143000" y="918972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출력 임베딩 + 위치 인코딩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234440" y="1160646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지금까지 생성한 출력 단어들을 벡터로 변환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57200" y="1531620"/>
            <a:ext cx="4343400" cy="566928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57200" y="1531620"/>
            <a:ext cx="54864" cy="566928"/>
          </a:xfrm>
          <a:prstGeom prst="rect">
            <a:avLst/>
          </a:prstGeom>
          <a:solidFill>
            <a:srgbClr val="E11D48"/>
          </a:solidFill>
          <a:ln/>
        </p:spPr>
      </p:sp>
      <p:sp>
        <p:nvSpPr>
          <p:cNvPr id="13" name="Shape 11"/>
          <p:cNvSpPr/>
          <p:nvPr/>
        </p:nvSpPr>
        <p:spPr>
          <a:xfrm>
            <a:off x="621792" y="1604772"/>
            <a:ext cx="365760" cy="365760"/>
          </a:xfrm>
          <a:prstGeom prst="ellipse">
            <a:avLst/>
          </a:prstGeom>
          <a:solidFill>
            <a:srgbClr val="E11D48"/>
          </a:solidFill>
          <a:ln/>
        </p:spPr>
      </p:sp>
      <p:sp>
        <p:nvSpPr>
          <p:cNvPr id="14" name="Text 12"/>
          <p:cNvSpPr/>
          <p:nvPr/>
        </p:nvSpPr>
        <p:spPr>
          <a:xfrm>
            <a:off x="621792" y="160477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143000" y="157734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Masked Multi-Head Self-Attention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234440" y="1819014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미래 단어를 못 보게 마스킹 (시험에서 뒷문제 답 못 보는 것)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57200" y="2189988"/>
            <a:ext cx="4343400" cy="566928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57200" y="2189988"/>
            <a:ext cx="54864" cy="566928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19" name="Shape 17"/>
          <p:cNvSpPr/>
          <p:nvPr/>
        </p:nvSpPr>
        <p:spPr>
          <a:xfrm>
            <a:off x="621792" y="2263140"/>
            <a:ext cx="365760" cy="365760"/>
          </a:xfrm>
          <a:prstGeom prst="ellipse">
            <a:avLst/>
          </a:prstGeom>
          <a:solidFill>
            <a:srgbClr val="059669"/>
          </a:solidFill>
          <a:ln/>
        </p:spPr>
      </p:sp>
      <p:sp>
        <p:nvSpPr>
          <p:cNvPr id="20" name="Text 18"/>
          <p:cNvSpPr/>
          <p:nvPr/>
        </p:nvSpPr>
        <p:spPr>
          <a:xfrm>
            <a:off x="621792" y="22631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1143000" y="2235708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Add &amp; Norm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234440" y="2477382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잔차 연결 + 정규화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457200" y="2848356"/>
            <a:ext cx="4343400" cy="566928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57200" y="2848356"/>
            <a:ext cx="54864" cy="566928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25" name="Shape 23"/>
          <p:cNvSpPr/>
          <p:nvPr/>
        </p:nvSpPr>
        <p:spPr>
          <a:xfrm>
            <a:off x="621792" y="2921508"/>
            <a:ext cx="365760" cy="365760"/>
          </a:xfrm>
          <a:prstGeom prst="ellipse">
            <a:avLst/>
          </a:prstGeom>
          <a:solidFill>
            <a:srgbClr val="D97706"/>
          </a:solidFill>
          <a:ln/>
        </p:spPr>
      </p:sp>
      <p:sp>
        <p:nvSpPr>
          <p:cNvPr id="26" name="Text 24"/>
          <p:cNvSpPr/>
          <p:nvPr/>
        </p:nvSpPr>
        <p:spPr>
          <a:xfrm>
            <a:off x="621792" y="292150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1143000" y="2894076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Encoder-Decoder Attention (cross-attention)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1234440" y="313575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Q=디코더, K·V=인코더 출력. "원문 어디를 참고할까?" 핵심!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457200" y="3506724"/>
            <a:ext cx="4343400" cy="566928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57200" y="3506724"/>
            <a:ext cx="54864" cy="566928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31" name="Shape 29"/>
          <p:cNvSpPr/>
          <p:nvPr/>
        </p:nvSpPr>
        <p:spPr>
          <a:xfrm>
            <a:off x="621792" y="3579876"/>
            <a:ext cx="365760" cy="365760"/>
          </a:xfrm>
          <a:prstGeom prst="ellipse">
            <a:avLst/>
          </a:prstGeom>
          <a:solidFill>
            <a:srgbClr val="059669"/>
          </a:solidFill>
          <a:ln/>
        </p:spPr>
      </p:sp>
      <p:sp>
        <p:nvSpPr>
          <p:cNvPr id="32" name="Text 30"/>
          <p:cNvSpPr/>
          <p:nvPr/>
        </p:nvSpPr>
        <p:spPr>
          <a:xfrm>
            <a:off x="621792" y="357987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1143000" y="3552444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Add &amp; Norm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1234440" y="3794118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잔차 연결 + 정규화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457200" y="4165092"/>
            <a:ext cx="4343400" cy="566928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457200" y="4165092"/>
            <a:ext cx="54864" cy="566928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37" name="Shape 35"/>
          <p:cNvSpPr/>
          <p:nvPr/>
        </p:nvSpPr>
        <p:spPr>
          <a:xfrm>
            <a:off x="621792" y="4238244"/>
            <a:ext cx="365760" cy="365760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38" name="Text 36"/>
          <p:cNvSpPr/>
          <p:nvPr/>
        </p:nvSpPr>
        <p:spPr>
          <a:xfrm>
            <a:off x="621792" y="423824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6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1143000" y="4210812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Position-wise FFNN + Add &amp; Norm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1234440" y="4452486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각 단어 표현을 풍부하게 + 안정화</a:t>
            </a:r>
            <a:endParaRPr lang="en-US" sz="1050" dirty="0"/>
          </a:p>
        </p:txBody>
      </p:sp>
      <p:sp>
        <p:nvSpPr>
          <p:cNvPr id="41" name="Shape 39"/>
          <p:cNvSpPr/>
          <p:nvPr/>
        </p:nvSpPr>
        <p:spPr>
          <a:xfrm>
            <a:off x="457200" y="4663440"/>
            <a:ext cx="8229600" cy="365760"/>
          </a:xfrm>
          <a:prstGeom prst="rect">
            <a:avLst/>
          </a:prstGeom>
          <a:solidFill>
            <a:srgbClr val="FFF7ED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457200" y="4663440"/>
            <a:ext cx="54864" cy="36576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43" name="Text 41"/>
          <p:cNvSpPr/>
          <p:nvPr/>
        </p:nvSpPr>
        <p:spPr>
          <a:xfrm>
            <a:off x="685800" y="466344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디코더의 핵심 차이: Masked Attention(미래를 가림) + Encoder-Decoder Attention(</a:t>
            </a:r>
            <a:r>
              <a:rPr lang="en-US" sz="1100" b="1" dirty="0" err="1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인코더에게</a:t>
            </a: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물어봄)</a:t>
            </a:r>
            <a:endParaRPr lang="en-US" sz="1100" dirty="0"/>
          </a:p>
        </p:txBody>
      </p:sp>
      <p:pic>
        <p:nvPicPr>
          <p:cNvPr id="44" name="Picture 6" descr="https://wikidocs.net/images/page/31379/transformer_attention_overview.PNG">
            <a:extLst>
              <a:ext uri="{FF2B5EF4-FFF2-40B4-BE49-F238E27FC236}">
                <a16:creationId xmlns:a16="http://schemas.microsoft.com/office/drawing/2014/main" id="{9449056E-F940-4D94-97F6-1D13C6CE98B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88410" y="960120"/>
            <a:ext cx="3915524" cy="34936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전체 흐름 — 번역 예시로 보기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57200" y="960120"/>
            <a:ext cx="8229600" cy="502920"/>
          </a:xfrm>
          <a:prstGeom prst="rect">
            <a:avLst/>
          </a:prstGeom>
          <a:solidFill>
            <a:srgbClr val="F0F4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85800" y="96012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입력: "나는, 학생입니다"    →    출력: "I am a student"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1691640"/>
            <a:ext cx="1005840" cy="64008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1691640"/>
            <a:ext cx="1005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한국어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입력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463040" y="1691640"/>
            <a:ext cx="20116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1664208" y="1691640"/>
            <a:ext cx="1005840" cy="64008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1" name="Text 9"/>
          <p:cNvSpPr/>
          <p:nvPr/>
        </p:nvSpPr>
        <p:spPr>
          <a:xfrm>
            <a:off x="1664208" y="1691640"/>
            <a:ext cx="1005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임베딩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+위치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2670048" y="1691640"/>
            <a:ext cx="20116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2871216" y="1691640"/>
            <a:ext cx="1005840" cy="64008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14" name="Text 12"/>
          <p:cNvSpPr/>
          <p:nvPr/>
        </p:nvSpPr>
        <p:spPr>
          <a:xfrm>
            <a:off x="2871216" y="1691640"/>
            <a:ext cx="1005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인코더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×6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3877056" y="1691640"/>
            <a:ext cx="20116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078224" y="1691640"/>
            <a:ext cx="1005840" cy="64008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17" name="Text 15"/>
          <p:cNvSpPr/>
          <p:nvPr/>
        </p:nvSpPr>
        <p:spPr>
          <a:xfrm>
            <a:off x="4078224" y="1691640"/>
            <a:ext cx="1005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문맥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벡터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5084064" y="1691640"/>
            <a:ext cx="20116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5285232" y="1691640"/>
            <a:ext cx="1005840" cy="64008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20" name="Text 18"/>
          <p:cNvSpPr/>
          <p:nvPr/>
        </p:nvSpPr>
        <p:spPr>
          <a:xfrm>
            <a:off x="5285232" y="1691640"/>
            <a:ext cx="1005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디코더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×6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6291072" y="1691640"/>
            <a:ext cx="20116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6492240" y="1691640"/>
            <a:ext cx="1005840" cy="64008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23" name="Text 21"/>
          <p:cNvSpPr/>
          <p:nvPr/>
        </p:nvSpPr>
        <p:spPr>
          <a:xfrm>
            <a:off x="6492240" y="1691640"/>
            <a:ext cx="1005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Dense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+Softmax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7498080" y="1691640"/>
            <a:ext cx="20116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7699248" y="1691640"/>
            <a:ext cx="1005840" cy="64008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26" name="Text 24"/>
          <p:cNvSpPr/>
          <p:nvPr/>
        </p:nvSpPr>
        <p:spPr>
          <a:xfrm>
            <a:off x="7699248" y="1691640"/>
            <a:ext cx="1005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영어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출력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594360" y="2651760"/>
            <a:ext cx="320040" cy="320040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28" name="Text 26"/>
          <p:cNvSpPr/>
          <p:nvPr/>
        </p:nvSpPr>
        <p:spPr>
          <a:xfrm>
            <a:off x="594360" y="265176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1051560" y="2606040"/>
            <a:ext cx="7498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각 한국어 단어 → 임베딩 + 위치 인코딩으로 512차원 벡터 변환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594360" y="3154680"/>
            <a:ext cx="320040" cy="320040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31" name="Text 29"/>
          <p:cNvSpPr/>
          <p:nvPr/>
        </p:nvSpPr>
        <p:spPr>
          <a:xfrm>
            <a:off x="594360" y="315468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1051560" y="3108960"/>
            <a:ext cx="7498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인코더 6층 통과 → 각 단어가 문맥을 풍부하게 담은 벡터로 변환됨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594360" y="3657600"/>
            <a:ext cx="320040" cy="320040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34" name="Text 32"/>
          <p:cNvSpPr/>
          <p:nvPr/>
        </p:nvSpPr>
        <p:spPr>
          <a:xfrm>
            <a:off x="594360" y="365760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1051560" y="3611880"/>
            <a:ext cx="7498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디코더에 &lt;sos&gt; 입력 → 인코더 출력 참조 → "I" 생성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594360" y="4160520"/>
            <a:ext cx="320040" cy="320040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37" name="Text 35"/>
          <p:cNvSpPr/>
          <p:nvPr/>
        </p:nvSpPr>
        <p:spPr>
          <a:xfrm>
            <a:off x="594360" y="416052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1051560" y="4114800"/>
            <a:ext cx="7498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디코더에 &lt;sos&gt;, I 입력 → "am" 생성 → 반복 → "a" → "student" → &lt;eos&gt;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457200" y="4572000"/>
            <a:ext cx="8229600" cy="457200"/>
          </a:xfrm>
          <a:prstGeom prst="rect">
            <a:avLst/>
          </a:prstGeom>
          <a:solidFill>
            <a:srgbClr val="1B2A4A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40" name="Text 38"/>
          <p:cNvSpPr/>
          <p:nvPr/>
        </p:nvSpPr>
        <p:spPr>
          <a:xfrm>
            <a:off x="685800" y="457200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핵심: 인코더는 입력 전체를 동시에 이해하고, 디코더는 하나씩 생성하며 필요할 때 인코더에게 물어본다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Shape 0">
            <a:extLst>
              <a:ext uri="{FF2B5EF4-FFF2-40B4-BE49-F238E27FC236}">
                <a16:creationId xmlns:a16="http://schemas.microsoft.com/office/drawing/2014/main" id="{2C2F07F6-E625-4E02-85C8-E98E480E2095}"/>
              </a:ext>
            </a:extLst>
          </p:cNvPr>
          <p:cNvSpPr/>
          <p:nvPr/>
        </p:nvSpPr>
        <p:spPr>
          <a:xfrm>
            <a:off x="0" y="-1"/>
            <a:ext cx="9144000" cy="2571751"/>
          </a:xfrm>
          <a:prstGeom prst="rect">
            <a:avLst/>
          </a:prstGeom>
          <a:solidFill>
            <a:srgbClr val="2B3A67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914400"/>
            <a:ext cx="7680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altLang="ko-KR" sz="4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BERT</a:t>
            </a:r>
          </a:p>
          <a:p>
            <a:pPr marL="0" indent="0">
              <a:buNone/>
            </a:pPr>
            <a:r>
              <a:rPr lang="en-US" altLang="ko-KR" sz="16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Bidirectional Encoder Representations from Transformers</a:t>
            </a:r>
            <a:endParaRPr lang="en-US" sz="1600" dirty="0">
              <a:solidFill>
                <a:schemeClr val="bg1"/>
              </a:solidFill>
            </a:endParaRPr>
          </a:p>
        </p:txBody>
      </p:sp>
      <p:pic>
        <p:nvPicPr>
          <p:cNvPr id="5" name="Picture 2" descr="https://wikidocs.net/images/page/35594/BERT.PNG">
            <a:extLst>
              <a:ext uri="{FF2B5EF4-FFF2-40B4-BE49-F238E27FC236}">
                <a16:creationId xmlns:a16="http://schemas.microsoft.com/office/drawing/2014/main" id="{0BF1D875-5F29-4018-A69F-2B2A78E8B0C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11935" y="657224"/>
            <a:ext cx="933450" cy="12573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Shape 19">
            <a:extLst>
              <a:ext uri="{FF2B5EF4-FFF2-40B4-BE49-F238E27FC236}">
                <a16:creationId xmlns:a16="http://schemas.microsoft.com/office/drawing/2014/main" id="{77262052-FE6F-4D2C-8859-BA9AF3817731}"/>
              </a:ext>
            </a:extLst>
          </p:cNvPr>
          <p:cNvSpPr/>
          <p:nvPr/>
        </p:nvSpPr>
        <p:spPr>
          <a:xfrm>
            <a:off x="411480" y="2650779"/>
            <a:ext cx="8229600" cy="793447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6350">
            <a:solidFill>
              <a:srgbClr val="D8DCE3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9" name="Text 21">
            <a:extLst>
              <a:ext uri="{FF2B5EF4-FFF2-40B4-BE49-F238E27FC236}">
                <a16:creationId xmlns:a16="http://schemas.microsoft.com/office/drawing/2014/main" id="{4E56BE01-6E9F-4F9E-871B-90D355938EA3}"/>
              </a:ext>
            </a:extLst>
          </p:cNvPr>
          <p:cNvSpPr/>
          <p:nvPr/>
        </p:nvSpPr>
        <p:spPr>
          <a:xfrm>
            <a:off x="594360" y="2650779"/>
            <a:ext cx="7772400" cy="746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2018년 Google이 공개. Transformer의 인코더를 여러 개 쌓아 올린 구조.</a:t>
            </a:r>
            <a:endParaRPr lang="en-US" sz="10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위키피디아(25억 단어) + BooksCorpus(8억 단어)로 사전 훈련 → 특정 과제에 Fine-tuning하면 NLP 최고 성능.</a:t>
            </a:r>
            <a:endParaRPr lang="en-US" sz="10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핵심: 양방향(Bidirectional) 문맥 이해 — 좌→우, 우→좌 양쪽 문맥을 동시에 활용.</a:t>
            </a:r>
            <a:endParaRPr lang="en-US" sz="1000" dirty="0"/>
          </a:p>
        </p:txBody>
      </p:sp>
      <p:sp>
        <p:nvSpPr>
          <p:cNvPr id="10" name="Shape 3">
            <a:extLst>
              <a:ext uri="{FF2B5EF4-FFF2-40B4-BE49-F238E27FC236}">
                <a16:creationId xmlns:a16="http://schemas.microsoft.com/office/drawing/2014/main" id="{08F5F8AF-8036-47A7-AD30-3FAE77854126}"/>
              </a:ext>
            </a:extLst>
          </p:cNvPr>
          <p:cNvSpPr/>
          <p:nvPr/>
        </p:nvSpPr>
        <p:spPr>
          <a:xfrm>
            <a:off x="411480" y="3613525"/>
            <a:ext cx="8229600" cy="1429458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6350">
            <a:solidFill>
              <a:srgbClr val="D8DCE3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1" name="Text 4">
            <a:extLst>
              <a:ext uri="{FF2B5EF4-FFF2-40B4-BE49-F238E27FC236}">
                <a16:creationId xmlns:a16="http://schemas.microsoft.com/office/drawing/2014/main" id="{887DE51E-B805-4524-A0E6-C5091FE3EA46}"/>
              </a:ext>
            </a:extLst>
          </p:cNvPr>
          <p:cNvSpPr/>
          <p:nvPr/>
        </p:nvSpPr>
        <p:spPr>
          <a:xfrm>
            <a:off x="548640" y="3796871"/>
            <a:ext cx="7772400" cy="2274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B3A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Transformer에서 BERT와 GPT로</a:t>
            </a:r>
            <a:endParaRPr lang="en-US" sz="1400" dirty="0"/>
          </a:p>
        </p:txBody>
      </p:sp>
      <p:sp>
        <p:nvSpPr>
          <p:cNvPr id="12" name="Shape 5">
            <a:extLst>
              <a:ext uri="{FF2B5EF4-FFF2-40B4-BE49-F238E27FC236}">
                <a16:creationId xmlns:a16="http://schemas.microsoft.com/office/drawing/2014/main" id="{39DF9FDE-6CD2-4E7C-A0CC-614BC97A49C0}"/>
              </a:ext>
            </a:extLst>
          </p:cNvPr>
          <p:cNvSpPr/>
          <p:nvPr/>
        </p:nvSpPr>
        <p:spPr>
          <a:xfrm>
            <a:off x="685800" y="4162165"/>
            <a:ext cx="320040" cy="227414"/>
          </a:xfrm>
          <a:prstGeom prst="ellipse">
            <a:avLst/>
          </a:prstGeom>
          <a:solidFill>
            <a:srgbClr val="2B3A67"/>
          </a:solidFill>
          <a:ln/>
        </p:spPr>
      </p:sp>
      <p:sp>
        <p:nvSpPr>
          <p:cNvPr id="13" name="Text 6">
            <a:extLst>
              <a:ext uri="{FF2B5EF4-FFF2-40B4-BE49-F238E27FC236}">
                <a16:creationId xmlns:a16="http://schemas.microsoft.com/office/drawing/2014/main" id="{A9F2F809-889C-403A-9A08-F5218F30A461}"/>
              </a:ext>
            </a:extLst>
          </p:cNvPr>
          <p:cNvSpPr/>
          <p:nvPr/>
        </p:nvSpPr>
        <p:spPr>
          <a:xfrm>
            <a:off x="685800" y="4162165"/>
            <a:ext cx="320040" cy="2274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200" dirty="0"/>
          </a:p>
        </p:txBody>
      </p:sp>
      <p:sp>
        <p:nvSpPr>
          <p:cNvPr id="14" name="Text 7">
            <a:extLst>
              <a:ext uri="{FF2B5EF4-FFF2-40B4-BE49-F238E27FC236}">
                <a16:creationId xmlns:a16="http://schemas.microsoft.com/office/drawing/2014/main" id="{771FC6AA-17C7-44D5-8151-F622EE5DBE83}"/>
              </a:ext>
            </a:extLst>
          </p:cNvPr>
          <p:cNvSpPr/>
          <p:nvPr/>
        </p:nvSpPr>
        <p:spPr>
          <a:xfrm>
            <a:off x="1097280" y="4134733"/>
            <a:ext cx="2103120" cy="1949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Transformer (2017)</a:t>
            </a:r>
            <a:endParaRPr lang="en-US" sz="1100" dirty="0"/>
          </a:p>
        </p:txBody>
      </p:sp>
      <p:sp>
        <p:nvSpPr>
          <p:cNvPr id="15" name="Text 8">
            <a:extLst>
              <a:ext uri="{FF2B5EF4-FFF2-40B4-BE49-F238E27FC236}">
                <a16:creationId xmlns:a16="http://schemas.microsoft.com/office/drawing/2014/main" id="{5EA0AE99-288E-48BB-B7E5-8E0C8E15709A}"/>
              </a:ext>
            </a:extLst>
          </p:cNvPr>
          <p:cNvSpPr/>
          <p:nvPr/>
        </p:nvSpPr>
        <p:spPr>
          <a:xfrm>
            <a:off x="1097280" y="4436485"/>
            <a:ext cx="2103120" cy="3898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인코더 + 디코더</a:t>
            </a:r>
            <a:endParaRPr lang="en-US" sz="9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번역 등 시퀀스 변환 과제</a:t>
            </a:r>
            <a:endParaRPr lang="en-US" sz="9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"입력 → 출력" 구조</a:t>
            </a:r>
            <a:endParaRPr lang="en-US" sz="900" dirty="0"/>
          </a:p>
        </p:txBody>
      </p:sp>
      <p:sp>
        <p:nvSpPr>
          <p:cNvPr id="17" name="Text 9">
            <a:extLst>
              <a:ext uri="{FF2B5EF4-FFF2-40B4-BE49-F238E27FC236}">
                <a16:creationId xmlns:a16="http://schemas.microsoft.com/office/drawing/2014/main" id="{B317ED23-9181-44EF-887B-033E13A7C53D}"/>
              </a:ext>
            </a:extLst>
          </p:cNvPr>
          <p:cNvSpPr/>
          <p:nvPr/>
        </p:nvSpPr>
        <p:spPr>
          <a:xfrm>
            <a:off x="3246120" y="4345045"/>
            <a:ext cx="274320" cy="1949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3A7BD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00" dirty="0"/>
          </a:p>
        </p:txBody>
      </p:sp>
      <p:sp>
        <p:nvSpPr>
          <p:cNvPr id="18" name="Shape 10">
            <a:extLst>
              <a:ext uri="{FF2B5EF4-FFF2-40B4-BE49-F238E27FC236}">
                <a16:creationId xmlns:a16="http://schemas.microsoft.com/office/drawing/2014/main" id="{FE72843C-B20B-42E1-BDCB-0E8DDF20748C}"/>
              </a:ext>
            </a:extLst>
          </p:cNvPr>
          <p:cNvSpPr/>
          <p:nvPr/>
        </p:nvSpPr>
        <p:spPr>
          <a:xfrm>
            <a:off x="3611880" y="4162165"/>
            <a:ext cx="320040" cy="227414"/>
          </a:xfrm>
          <a:prstGeom prst="ellipse">
            <a:avLst/>
          </a:prstGeom>
          <a:solidFill>
            <a:srgbClr val="2B3A67"/>
          </a:solidFill>
          <a:ln/>
        </p:spPr>
      </p:sp>
      <p:sp>
        <p:nvSpPr>
          <p:cNvPr id="19" name="Text 11">
            <a:extLst>
              <a:ext uri="{FF2B5EF4-FFF2-40B4-BE49-F238E27FC236}">
                <a16:creationId xmlns:a16="http://schemas.microsoft.com/office/drawing/2014/main" id="{C56D6361-7A13-4A42-9B88-D9D43DB535B8}"/>
              </a:ext>
            </a:extLst>
          </p:cNvPr>
          <p:cNvSpPr/>
          <p:nvPr/>
        </p:nvSpPr>
        <p:spPr>
          <a:xfrm>
            <a:off x="3611880" y="4162165"/>
            <a:ext cx="320040" cy="2274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200" dirty="0"/>
          </a:p>
        </p:txBody>
      </p:sp>
      <p:sp>
        <p:nvSpPr>
          <p:cNvPr id="20" name="Text 12">
            <a:extLst>
              <a:ext uri="{FF2B5EF4-FFF2-40B4-BE49-F238E27FC236}">
                <a16:creationId xmlns:a16="http://schemas.microsoft.com/office/drawing/2014/main" id="{1BAAA6DD-F797-4B7E-B20F-5973FC1EF0B8}"/>
              </a:ext>
            </a:extLst>
          </p:cNvPr>
          <p:cNvSpPr/>
          <p:nvPr/>
        </p:nvSpPr>
        <p:spPr>
          <a:xfrm>
            <a:off x="4023360" y="4134733"/>
            <a:ext cx="2103120" cy="1949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BERT (2018)</a:t>
            </a:r>
            <a:endParaRPr lang="en-US" sz="1100" dirty="0"/>
          </a:p>
        </p:txBody>
      </p:sp>
      <p:sp>
        <p:nvSpPr>
          <p:cNvPr id="21" name="Text 13">
            <a:extLst>
              <a:ext uri="{FF2B5EF4-FFF2-40B4-BE49-F238E27FC236}">
                <a16:creationId xmlns:a16="http://schemas.microsoft.com/office/drawing/2014/main" id="{D8668ADB-FF10-44BD-91F2-C895F39CBDA0}"/>
              </a:ext>
            </a:extLst>
          </p:cNvPr>
          <p:cNvSpPr/>
          <p:nvPr/>
        </p:nvSpPr>
        <p:spPr>
          <a:xfrm>
            <a:off x="4023360" y="4436485"/>
            <a:ext cx="2103120" cy="3898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인코더만 사용</a:t>
            </a:r>
            <a:endParaRPr lang="en-US" sz="9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양방향으로 문맥 이해</a:t>
            </a:r>
            <a:endParaRPr lang="en-US" sz="9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"입력을 이해" 하는 모델</a:t>
            </a:r>
            <a:endParaRPr lang="en-US" sz="900" dirty="0"/>
          </a:p>
        </p:txBody>
      </p:sp>
      <p:sp>
        <p:nvSpPr>
          <p:cNvPr id="22" name="Text 14">
            <a:extLst>
              <a:ext uri="{FF2B5EF4-FFF2-40B4-BE49-F238E27FC236}">
                <a16:creationId xmlns:a16="http://schemas.microsoft.com/office/drawing/2014/main" id="{E5BCE01C-2BA7-4021-B8B5-EA6664D6CF0B}"/>
              </a:ext>
            </a:extLst>
          </p:cNvPr>
          <p:cNvSpPr/>
          <p:nvPr/>
        </p:nvSpPr>
        <p:spPr>
          <a:xfrm>
            <a:off x="6172200" y="4345045"/>
            <a:ext cx="274320" cy="1949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3A7BD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00" dirty="0"/>
          </a:p>
        </p:txBody>
      </p:sp>
      <p:sp>
        <p:nvSpPr>
          <p:cNvPr id="23" name="Shape 15">
            <a:extLst>
              <a:ext uri="{FF2B5EF4-FFF2-40B4-BE49-F238E27FC236}">
                <a16:creationId xmlns:a16="http://schemas.microsoft.com/office/drawing/2014/main" id="{D20EBE1E-AEC1-4575-B282-18844BCD3009}"/>
              </a:ext>
            </a:extLst>
          </p:cNvPr>
          <p:cNvSpPr/>
          <p:nvPr/>
        </p:nvSpPr>
        <p:spPr>
          <a:xfrm>
            <a:off x="6537960" y="4162165"/>
            <a:ext cx="320040" cy="227414"/>
          </a:xfrm>
          <a:prstGeom prst="ellipse">
            <a:avLst/>
          </a:prstGeom>
          <a:solidFill>
            <a:srgbClr val="2B3A67"/>
          </a:solidFill>
          <a:ln/>
        </p:spPr>
      </p:sp>
      <p:sp>
        <p:nvSpPr>
          <p:cNvPr id="24" name="Text 16">
            <a:extLst>
              <a:ext uri="{FF2B5EF4-FFF2-40B4-BE49-F238E27FC236}">
                <a16:creationId xmlns:a16="http://schemas.microsoft.com/office/drawing/2014/main" id="{FBEFF1FF-C0C0-4D39-8865-EB2F2BAA2159}"/>
              </a:ext>
            </a:extLst>
          </p:cNvPr>
          <p:cNvSpPr/>
          <p:nvPr/>
        </p:nvSpPr>
        <p:spPr>
          <a:xfrm>
            <a:off x="6537960" y="4162165"/>
            <a:ext cx="320040" cy="2274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200" dirty="0"/>
          </a:p>
        </p:txBody>
      </p:sp>
      <p:sp>
        <p:nvSpPr>
          <p:cNvPr id="25" name="Text 17">
            <a:extLst>
              <a:ext uri="{FF2B5EF4-FFF2-40B4-BE49-F238E27FC236}">
                <a16:creationId xmlns:a16="http://schemas.microsoft.com/office/drawing/2014/main" id="{71A133D2-A8BE-431F-B7AF-99222E3B436B}"/>
              </a:ext>
            </a:extLst>
          </p:cNvPr>
          <p:cNvSpPr/>
          <p:nvPr/>
        </p:nvSpPr>
        <p:spPr>
          <a:xfrm>
            <a:off x="6949440" y="4134733"/>
            <a:ext cx="1828800" cy="1949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GPT (2018~)</a:t>
            </a:r>
            <a:endParaRPr lang="en-US" sz="1100" dirty="0"/>
          </a:p>
        </p:txBody>
      </p:sp>
      <p:sp>
        <p:nvSpPr>
          <p:cNvPr id="26" name="Text 18">
            <a:extLst>
              <a:ext uri="{FF2B5EF4-FFF2-40B4-BE49-F238E27FC236}">
                <a16:creationId xmlns:a16="http://schemas.microsoft.com/office/drawing/2014/main" id="{A8AAD232-E406-4021-8001-E0D929CCAB7C}"/>
              </a:ext>
            </a:extLst>
          </p:cNvPr>
          <p:cNvSpPr/>
          <p:nvPr/>
        </p:nvSpPr>
        <p:spPr>
          <a:xfrm>
            <a:off x="6949440" y="4436485"/>
            <a:ext cx="1828800" cy="3898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디코더만 사용</a:t>
            </a:r>
            <a:endParaRPr lang="en-US" sz="9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단방향(좌→우) 생성</a:t>
            </a:r>
            <a:endParaRPr lang="en-US" sz="9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"텍스트를 생성" 하는 모델</a:t>
            </a:r>
            <a:endParaRPr lang="en-US" sz="900" dirty="0"/>
          </a:p>
        </p:txBody>
      </p:sp>
    </p:spTree>
    <p:extLst>
      <p:ext uri="{BB962C8B-B14F-4D97-AF65-F5344CB8AC3E}">
        <p14:creationId xmlns:p14="http://schemas.microsoft.com/office/powerpoint/2010/main" val="84769751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0F2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2B3A67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09728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BERT 구조 — 인코더 스택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108066" y="895281"/>
            <a:ext cx="2701636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6350">
            <a:solidFill>
              <a:srgbClr val="D8DCE3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45226" y="1032441"/>
            <a:ext cx="320040" cy="320040"/>
          </a:xfrm>
          <a:prstGeom prst="ellipse">
            <a:avLst/>
          </a:prstGeom>
          <a:solidFill>
            <a:srgbClr val="2B3A67"/>
          </a:solidFill>
          <a:ln/>
        </p:spPr>
      </p:sp>
      <p:sp>
        <p:nvSpPr>
          <p:cNvPr id="7" name="Text 5"/>
          <p:cNvSpPr/>
          <p:nvPr/>
        </p:nvSpPr>
        <p:spPr>
          <a:xfrm>
            <a:off x="245226" y="1032441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005840" y="1115568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BERT-Base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290946" y="1370769"/>
            <a:ext cx="2518756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 = 12 (인코더 층 수)</a:t>
            </a:r>
            <a:endParaRPr lang="en-US" sz="10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 = 768 (임베딩 차원, d_model)</a:t>
            </a:r>
            <a:endParaRPr lang="en-US" sz="10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= 12 (셀프 어텐션 헤드 수)</a:t>
            </a:r>
            <a:endParaRPr lang="en-US" sz="10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파라미터 수: 1억 1천만 개 (110M)</a:t>
            </a:r>
            <a:endParaRPr lang="en-US" sz="10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초기 Transformer(L=6, D=512, A=8)</a:t>
            </a:r>
            <a:r>
              <a:rPr lang="en-US" sz="1000" dirty="0" err="1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보다</a:t>
            </a: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큰 규모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864490" y="886968"/>
            <a:ext cx="2810834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6350">
            <a:solidFill>
              <a:srgbClr val="D8DCE3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001650" y="1024128"/>
            <a:ext cx="320040" cy="320040"/>
          </a:xfrm>
          <a:prstGeom prst="ellipse">
            <a:avLst/>
          </a:prstGeom>
          <a:solidFill>
            <a:srgbClr val="2B3A67"/>
          </a:solidFill>
          <a:ln/>
        </p:spPr>
      </p:sp>
      <p:sp>
        <p:nvSpPr>
          <p:cNvPr id="12" name="Text 10"/>
          <p:cNvSpPr/>
          <p:nvPr/>
        </p:nvSpPr>
        <p:spPr>
          <a:xfrm>
            <a:off x="3001650" y="1024128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413130" y="996696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BERT-Large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047370" y="1362456"/>
            <a:ext cx="34747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 = 24 (인코더 층 수)</a:t>
            </a:r>
            <a:endParaRPr lang="en-US" sz="10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 = 1024 (임베딩 차원)</a:t>
            </a:r>
            <a:endParaRPr lang="en-US" sz="10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= 16 (셀프 어텐션 헤드 수)</a:t>
            </a:r>
            <a:endParaRPr lang="en-US" sz="10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파라미터 수: 3억 4천만 개 (340M)</a:t>
            </a:r>
            <a:endParaRPr lang="en-US" sz="10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BERT-Base보다 3배 큰 규모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108066" y="3044121"/>
            <a:ext cx="2701636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6350">
            <a:solidFill>
              <a:srgbClr val="D8DCE3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245226" y="3181281"/>
            <a:ext cx="320040" cy="320040"/>
          </a:xfrm>
          <a:prstGeom prst="ellipse">
            <a:avLst/>
          </a:prstGeom>
          <a:solidFill>
            <a:srgbClr val="2B3A67"/>
          </a:solidFill>
          <a:ln/>
        </p:spPr>
      </p:sp>
      <p:sp>
        <p:nvSpPr>
          <p:cNvPr id="17" name="Text 15"/>
          <p:cNvSpPr/>
          <p:nvPr/>
        </p:nvSpPr>
        <p:spPr>
          <a:xfrm>
            <a:off x="245226" y="3181281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005840" y="3264408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입력 구성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290946" y="3519609"/>
            <a:ext cx="2465857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최대 시퀀스 길이: 512 토큰</a:t>
            </a:r>
            <a:endParaRPr lang="en-US" sz="10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두 문장까지 </a:t>
            </a:r>
            <a:r>
              <a:rPr lang="en-US" sz="1000" dirty="0" err="1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입력</a:t>
            </a: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000" dirty="0" err="1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가능</a:t>
            </a:r>
            <a:endParaRPr lang="en-US" sz="10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특수 </a:t>
            </a:r>
            <a:r>
              <a:rPr lang="en-US" sz="1000" dirty="0" err="1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토큰</a:t>
            </a: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 [CLS] = 문장 시작 (</a:t>
            </a:r>
            <a:r>
              <a:rPr lang="en-US" sz="1000" dirty="0" err="1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분류용</a:t>
            </a: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), [SEP] = 문장 구분/끝</a:t>
            </a:r>
            <a:endParaRPr lang="en-US" sz="10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3가지 임베딩의 합: </a:t>
            </a:r>
            <a:r>
              <a:rPr lang="en-US" sz="1000" dirty="0" err="1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토큰</a:t>
            </a: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임베딩 + </a:t>
            </a:r>
            <a:r>
              <a:rPr lang="en-US" sz="1000" dirty="0" err="1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세그먼트</a:t>
            </a: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000" dirty="0" err="1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임베딩</a:t>
            </a: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+ 위치 임베딩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2864490" y="3035808"/>
            <a:ext cx="2810835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6350">
            <a:solidFill>
              <a:srgbClr val="D8DCE3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001650" y="3172968"/>
            <a:ext cx="320040" cy="320040"/>
          </a:xfrm>
          <a:prstGeom prst="ellipse">
            <a:avLst/>
          </a:prstGeom>
          <a:solidFill>
            <a:srgbClr val="2B3A67"/>
          </a:solidFill>
          <a:ln/>
        </p:spPr>
      </p:sp>
      <p:sp>
        <p:nvSpPr>
          <p:cNvPr id="22" name="Text 20"/>
          <p:cNvSpPr/>
          <p:nvPr/>
        </p:nvSpPr>
        <p:spPr>
          <a:xfrm>
            <a:off x="3001650" y="3172968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3413130" y="3145536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WordPiece 토크나이징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3047370" y="3511296"/>
            <a:ext cx="2627955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단어보다 작은 단위(서브워드)로 </a:t>
            </a:r>
            <a:r>
              <a:rPr lang="en-US" sz="1000" dirty="0" err="1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분리</a:t>
            </a:r>
            <a:endParaRPr lang="en-US" sz="10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자주 등장하는 단어: </a:t>
            </a:r>
            <a:r>
              <a:rPr lang="en-US" sz="1000" dirty="0" err="1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그대로</a:t>
            </a: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000" dirty="0" err="1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유지</a:t>
            </a: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  "here", the"</a:t>
            </a:r>
            <a:endParaRPr lang="en-US" sz="10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000" dirty="0" err="1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드문</a:t>
            </a: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단어: </a:t>
            </a:r>
            <a:r>
              <a:rPr lang="en-US" sz="1000" dirty="0" err="1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서브워드로</a:t>
            </a: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000" dirty="0" err="1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분리</a:t>
            </a: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 "embeddings" → "em", "##bed",  "##ding", "##s“ → OOV(미등록 단어) 문제 해결</a:t>
            </a:r>
            <a:endParaRPr lang="en-US" sz="1000" dirty="0"/>
          </a:p>
        </p:txBody>
      </p:sp>
      <p:pic>
        <p:nvPicPr>
          <p:cNvPr id="26" name="Picture 2" descr="https://wikidocs.net/images/page/35594/bartbase%EC%99%80large.PNG">
            <a:extLst>
              <a:ext uri="{FF2B5EF4-FFF2-40B4-BE49-F238E27FC236}">
                <a16:creationId xmlns:a16="http://schemas.microsoft.com/office/drawing/2014/main" id="{538CAE41-FD08-441D-832E-484F0C32C66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66764" y="947629"/>
            <a:ext cx="3297888" cy="16575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9" name="Picture 2" descr="https://wikidocs.net/images/page/115055/%EA%B7%B8%EB%A6%BC7.PNG">
            <a:extLst>
              <a:ext uri="{FF2B5EF4-FFF2-40B4-BE49-F238E27FC236}">
                <a16:creationId xmlns:a16="http://schemas.microsoft.com/office/drawing/2014/main" id="{2B704134-3A61-4C5C-85D7-169A58EA9F3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65400" y="3074122"/>
            <a:ext cx="3199252" cy="15010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0F2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2B3A67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09728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BERT 사전학습 (1) — 마스크드 언어 모델 (MLM)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57200" y="1005840"/>
            <a:ext cx="8229600" cy="3749040"/>
          </a:xfrm>
          <a:prstGeom prst="roundRect">
            <a:avLst>
              <a:gd name="adj" fmla="val 1951"/>
            </a:avLst>
          </a:prstGeom>
          <a:solidFill>
            <a:srgbClr val="FFFFFF"/>
          </a:solidFill>
          <a:ln w="6350">
            <a:solidFill>
              <a:srgbClr val="D8DCE3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40080" y="105156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B3A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Masked Language Model (MLM)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141732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입력 단어의 15%를 무작위로 선택하여 가려진 단어를 예측하도록 학습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640080" y="1920240"/>
            <a:ext cx="4007490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6350">
            <a:solidFill>
              <a:srgbClr val="D8DCE3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40080" y="1920240"/>
            <a:ext cx="64008" cy="731520"/>
          </a:xfrm>
          <a:prstGeom prst="rect">
            <a:avLst/>
          </a:prstGeom>
          <a:solidFill>
            <a:srgbClr val="3A7BD5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2011680"/>
            <a:ext cx="3525579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예시: "나는 [MASK]에 가서 국어와 [MASK]를 공부했다" → 모델이 "학교"와 "수학"을 맞추도록 학습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731520" y="2880360"/>
            <a:ext cx="320040" cy="320040"/>
          </a:xfrm>
          <a:prstGeom prst="ellipse">
            <a:avLst/>
          </a:prstGeom>
          <a:solidFill>
            <a:srgbClr val="2B3A67"/>
          </a:solidFill>
          <a:ln/>
        </p:spPr>
      </p:sp>
      <p:sp>
        <p:nvSpPr>
          <p:cNvPr id="12" name="Text 10"/>
          <p:cNvSpPr/>
          <p:nvPr/>
        </p:nvSpPr>
        <p:spPr>
          <a:xfrm>
            <a:off x="731520" y="288036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143000" y="285292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80% → [MASK]로 변경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143000" y="3154680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실제로 마스킹 처리</a:t>
            </a:r>
            <a:endParaRPr lang="en-US" sz="950" dirty="0"/>
          </a:p>
          <a:p>
            <a:pPr marL="0" indent="0">
              <a:lnSpc>
                <a:spcPct val="130000"/>
              </a:lnSpc>
              <a:buNone/>
            </a:pPr>
            <a:endParaRPr lang="en-US" sz="9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9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"나는 [MASK]에 가서..."</a:t>
            </a:r>
            <a:endParaRPr lang="en-US" sz="950" dirty="0"/>
          </a:p>
          <a:p>
            <a:pPr marL="0" indent="0">
              <a:lnSpc>
                <a:spcPct val="130000"/>
              </a:lnSpc>
              <a:buNone/>
            </a:pPr>
            <a:endParaRPr lang="en-US" sz="9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9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모델이 빈칸을 채우는</a:t>
            </a:r>
            <a:endParaRPr lang="en-US" sz="9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9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핵심 학습 방식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3474720" y="2880360"/>
            <a:ext cx="320040" cy="320040"/>
          </a:xfrm>
          <a:prstGeom prst="ellipse">
            <a:avLst/>
          </a:prstGeom>
          <a:solidFill>
            <a:srgbClr val="2B3A67"/>
          </a:solidFill>
          <a:ln/>
        </p:spPr>
      </p:sp>
      <p:sp>
        <p:nvSpPr>
          <p:cNvPr id="16" name="Text 14"/>
          <p:cNvSpPr/>
          <p:nvPr/>
        </p:nvSpPr>
        <p:spPr>
          <a:xfrm>
            <a:off x="3474720" y="288036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886200" y="285292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10% → 랜덤 단어로 변경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886200" y="3154680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다른 단어로 교체</a:t>
            </a:r>
            <a:endParaRPr lang="en-US" sz="950" dirty="0"/>
          </a:p>
          <a:p>
            <a:pPr marL="0" indent="0">
              <a:lnSpc>
                <a:spcPct val="130000"/>
              </a:lnSpc>
              <a:buNone/>
            </a:pPr>
            <a:endParaRPr lang="en-US" sz="9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9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"나는 바나나에 가서..."</a:t>
            </a:r>
            <a:endParaRPr lang="en-US" sz="950" dirty="0"/>
          </a:p>
          <a:p>
            <a:pPr marL="0" indent="0">
              <a:lnSpc>
                <a:spcPct val="130000"/>
              </a:lnSpc>
              <a:buNone/>
            </a:pPr>
            <a:endParaRPr lang="en-US" sz="9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9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모델이 잘못된 단어를 감지하고</a:t>
            </a:r>
            <a:endParaRPr lang="en-US" sz="9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9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올바른 단어를 추론하도록 학습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6217920" y="2880360"/>
            <a:ext cx="320040" cy="320040"/>
          </a:xfrm>
          <a:prstGeom prst="ellipse">
            <a:avLst/>
          </a:prstGeom>
          <a:solidFill>
            <a:srgbClr val="2B3A67"/>
          </a:solidFill>
          <a:ln/>
        </p:spPr>
      </p:sp>
      <p:sp>
        <p:nvSpPr>
          <p:cNvPr id="20" name="Text 18"/>
          <p:cNvSpPr/>
          <p:nvPr/>
        </p:nvSpPr>
        <p:spPr>
          <a:xfrm>
            <a:off x="6217920" y="288036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629400" y="285292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10% → 그대로 유지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629400" y="3154680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원래 단어 유지</a:t>
            </a:r>
            <a:endParaRPr lang="en-US" sz="950" dirty="0"/>
          </a:p>
          <a:p>
            <a:pPr marL="0" indent="0">
              <a:lnSpc>
                <a:spcPct val="130000"/>
              </a:lnSpc>
              <a:buNone/>
            </a:pPr>
            <a:endParaRPr lang="en-US" sz="9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9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"나는 학교에 가서..."</a:t>
            </a:r>
            <a:endParaRPr lang="en-US" sz="950" dirty="0"/>
          </a:p>
          <a:p>
            <a:pPr marL="0" indent="0">
              <a:lnSpc>
                <a:spcPct val="130000"/>
              </a:lnSpc>
              <a:buNone/>
            </a:pPr>
            <a:endParaRPr lang="en-US" sz="9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9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[MASK] 토큰에만 의존하지 않고</a:t>
            </a:r>
            <a:endParaRPr lang="en-US" sz="9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9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실제 문맥에서도 학습하도록 유도</a:t>
            </a:r>
            <a:endParaRPr lang="en-US" sz="950" dirty="0"/>
          </a:p>
        </p:txBody>
      </p:sp>
      <p:pic>
        <p:nvPicPr>
          <p:cNvPr id="24" name="Picture 2" descr="https://wikidocs.net/images/page/115055/%EA%B7%B8%EB%A6%BC8.PNG">
            <a:extLst>
              <a:ext uri="{FF2B5EF4-FFF2-40B4-BE49-F238E27FC236}">
                <a16:creationId xmlns:a16="http://schemas.microsoft.com/office/drawing/2014/main" id="{BB9B2BDC-BAA4-43EE-AE89-04C357DFE93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19351" y="1032954"/>
            <a:ext cx="3334509" cy="15045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0F2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2B3A67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09728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BERT 사전학습 (2) — 다음 문장 예측 (NSP)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57200" y="1005840"/>
            <a:ext cx="4343400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6350">
            <a:solidFill>
              <a:srgbClr val="D8DCE3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40080" y="105156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B3A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 Sentence Prediction (NSP)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1183732"/>
            <a:ext cx="7772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10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두 개의 문장을 주고 두 번째 </a:t>
            </a:r>
            <a:r>
              <a:rPr lang="en-US" sz="1050" dirty="0" err="1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문장이</a:t>
            </a:r>
            <a:r>
              <a:rPr lang="en-US" sz="10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050" dirty="0" err="1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이어지는</a:t>
            </a:r>
            <a:r>
              <a:rPr lang="en-US" sz="10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050" dirty="0" err="1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문장인지</a:t>
            </a:r>
            <a:r>
              <a:rPr lang="en-US" sz="10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050" dirty="0" err="1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맞추는</a:t>
            </a:r>
            <a:r>
              <a:rPr lang="en-US" sz="10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학습.</a:t>
            </a:r>
            <a:endParaRPr lang="en-US" sz="105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0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실제 이어지는 문장 쌍 50% + 무작위로 이어붙인 문장 쌍 50%로 학습.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57200" y="2806717"/>
            <a:ext cx="3840480" cy="2240280"/>
          </a:xfrm>
          <a:prstGeom prst="roundRect">
            <a:avLst>
              <a:gd name="adj" fmla="val 3265"/>
            </a:avLst>
          </a:prstGeom>
          <a:solidFill>
            <a:srgbClr val="FFFFFF"/>
          </a:solidFill>
          <a:ln w="6350">
            <a:solidFill>
              <a:srgbClr val="D8DCE3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594360" y="2943877"/>
            <a:ext cx="320040" cy="320040"/>
          </a:xfrm>
          <a:prstGeom prst="ellipse">
            <a:avLst/>
          </a:prstGeom>
          <a:solidFill>
            <a:srgbClr val="2B3A67"/>
          </a:solidFill>
          <a:ln/>
        </p:spPr>
      </p:sp>
      <p:sp>
        <p:nvSpPr>
          <p:cNvPr id="10" name="Text 8"/>
          <p:cNvSpPr/>
          <p:nvPr/>
        </p:nvSpPr>
        <p:spPr>
          <a:xfrm>
            <a:off x="594360" y="2943877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005840" y="2916445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IsNext (실제 연속 문장)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40080" y="3282205"/>
            <a:ext cx="34747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문장 A: "The man went to the store."</a:t>
            </a:r>
            <a:endParaRPr lang="en-US" sz="10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문장 B: "He bought a gallon of milk."</a:t>
            </a:r>
            <a:endParaRPr lang="en-US" sz="1000" dirty="0"/>
          </a:p>
          <a:p>
            <a:pPr marL="0" indent="0">
              <a:lnSpc>
                <a:spcPct val="150000"/>
              </a:lnSpc>
              <a:buNone/>
            </a:pPr>
            <a:endParaRPr lang="en-US" sz="10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Label: IsNext (연속)</a:t>
            </a:r>
            <a:endParaRPr lang="en-US" sz="1000" dirty="0"/>
          </a:p>
          <a:p>
            <a:pPr marL="0" indent="0">
              <a:lnSpc>
                <a:spcPct val="150000"/>
              </a:lnSpc>
              <a:buNone/>
            </a:pPr>
            <a:endParaRPr lang="en-US" sz="10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두 번째 문장이 첫 번째 문장 뒤에</a:t>
            </a:r>
            <a:endParaRPr lang="en-US" sz="10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자연스럽게 이어지는 경우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617720" y="2806717"/>
            <a:ext cx="3840480" cy="2240280"/>
          </a:xfrm>
          <a:prstGeom prst="roundRect">
            <a:avLst>
              <a:gd name="adj" fmla="val 3265"/>
            </a:avLst>
          </a:prstGeom>
          <a:solidFill>
            <a:srgbClr val="FFFFFF"/>
          </a:solidFill>
          <a:ln w="6350">
            <a:solidFill>
              <a:srgbClr val="D8DCE3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754880" y="2943877"/>
            <a:ext cx="320040" cy="320040"/>
          </a:xfrm>
          <a:prstGeom prst="ellipse">
            <a:avLst/>
          </a:prstGeom>
          <a:solidFill>
            <a:srgbClr val="2B3A67"/>
          </a:solidFill>
          <a:ln/>
        </p:spPr>
      </p:sp>
      <p:sp>
        <p:nvSpPr>
          <p:cNvPr id="15" name="Text 13"/>
          <p:cNvSpPr/>
          <p:nvPr/>
        </p:nvSpPr>
        <p:spPr>
          <a:xfrm>
            <a:off x="4754880" y="2943877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166360" y="2916445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NotNext (무작위 문장)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800600" y="3282205"/>
            <a:ext cx="34747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문장 A: "The man went to the store."</a:t>
            </a:r>
            <a:endParaRPr lang="en-US" sz="10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문장 B: "Penguins are flightless birds."</a:t>
            </a:r>
            <a:endParaRPr lang="en-US" sz="1000" dirty="0"/>
          </a:p>
          <a:p>
            <a:pPr marL="0" indent="0">
              <a:lnSpc>
                <a:spcPct val="150000"/>
              </a:lnSpc>
              <a:buNone/>
            </a:pPr>
            <a:endParaRPr lang="en-US" sz="10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Label: NotNext (불연속)</a:t>
            </a:r>
            <a:endParaRPr lang="en-US" sz="1000" dirty="0"/>
          </a:p>
          <a:p>
            <a:pPr marL="0" indent="0">
              <a:lnSpc>
                <a:spcPct val="150000"/>
              </a:lnSpc>
              <a:buNone/>
            </a:pPr>
            <a:endParaRPr lang="en-US" sz="10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완전히 무관한 문장을</a:t>
            </a:r>
            <a:endParaRPr lang="en-US" sz="10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무작위로 이어붙인 경우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56894" y="1888538"/>
            <a:ext cx="430977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050" dirty="0">
                <a:solidFill>
                  <a:srgbClr val="555555"/>
                </a:solidFill>
                <a:latin typeface="Arial" pitchFamily="34" charset="0"/>
                <a:cs typeface="Arial" pitchFamily="34" charset="-120"/>
              </a:rPr>
              <a:t>이 학습을 </a:t>
            </a:r>
            <a:r>
              <a:rPr lang="en-US" sz="1050" dirty="0" err="1">
                <a:solidFill>
                  <a:srgbClr val="555555"/>
                </a:solidFill>
                <a:latin typeface="Arial" pitchFamily="34" charset="0"/>
                <a:cs typeface="Arial" pitchFamily="34" charset="-120"/>
              </a:rPr>
              <a:t>통해</a:t>
            </a:r>
            <a:r>
              <a:rPr lang="en-US" sz="1050" dirty="0">
                <a:solidFill>
                  <a:srgbClr val="555555"/>
                </a:solidFill>
                <a:latin typeface="Arial" pitchFamily="34" charset="0"/>
                <a:cs typeface="Arial" pitchFamily="34" charset="-120"/>
              </a:rPr>
              <a:t> </a:t>
            </a:r>
            <a:r>
              <a:rPr lang="en-US" sz="1050" dirty="0" err="1">
                <a:solidFill>
                  <a:srgbClr val="555555"/>
                </a:solidFill>
                <a:latin typeface="Arial" pitchFamily="34" charset="0"/>
                <a:cs typeface="Arial" pitchFamily="34" charset="-120"/>
              </a:rPr>
              <a:t>문장</a:t>
            </a:r>
            <a:r>
              <a:rPr lang="en-US" sz="1050" dirty="0">
                <a:solidFill>
                  <a:srgbClr val="555555"/>
                </a:solidFill>
                <a:latin typeface="Arial" pitchFamily="34" charset="0"/>
                <a:cs typeface="Arial" pitchFamily="34" charset="-120"/>
              </a:rPr>
              <a:t> 간 관계를 이해하는 능력을 갖추게 됨 </a:t>
            </a:r>
          </a:p>
          <a:p>
            <a:pPr>
              <a:lnSpc>
                <a:spcPct val="150000"/>
              </a:lnSpc>
            </a:pPr>
            <a:r>
              <a:rPr lang="en-US" sz="1050" dirty="0">
                <a:solidFill>
                  <a:srgbClr val="555555"/>
                </a:solidFill>
                <a:latin typeface="Arial" pitchFamily="34" charset="0"/>
                <a:cs typeface="Arial" pitchFamily="34" charset="-120"/>
              </a:rPr>
              <a:t>→ QA, 자연어 추론 </a:t>
            </a:r>
            <a:r>
              <a:rPr lang="en-US" sz="1050" dirty="0" err="1">
                <a:solidFill>
                  <a:srgbClr val="555555"/>
                </a:solidFill>
                <a:latin typeface="Arial" pitchFamily="34" charset="0"/>
                <a:cs typeface="Arial" pitchFamily="34" charset="-120"/>
              </a:rPr>
              <a:t>등에</a:t>
            </a:r>
            <a:r>
              <a:rPr lang="en-US" sz="1050" dirty="0">
                <a:solidFill>
                  <a:srgbClr val="555555"/>
                </a:solidFill>
                <a:latin typeface="Arial" pitchFamily="34" charset="0"/>
                <a:cs typeface="Arial" pitchFamily="34" charset="-120"/>
              </a:rPr>
              <a:t> </a:t>
            </a:r>
            <a:r>
              <a:rPr lang="en-US" sz="1050" dirty="0" err="1">
                <a:solidFill>
                  <a:srgbClr val="555555"/>
                </a:solidFill>
                <a:latin typeface="Arial" pitchFamily="34" charset="0"/>
                <a:cs typeface="Arial" pitchFamily="34" charset="-120"/>
              </a:rPr>
              <a:t>활용</a:t>
            </a:r>
            <a:endParaRPr lang="en-US" sz="1050" dirty="0">
              <a:solidFill>
                <a:srgbClr val="555555"/>
              </a:solidFill>
              <a:latin typeface="Arial" pitchFamily="34" charset="0"/>
              <a:cs typeface="Arial" pitchFamily="34" charset="-120"/>
            </a:endParaRPr>
          </a:p>
        </p:txBody>
      </p:sp>
      <p:pic>
        <p:nvPicPr>
          <p:cNvPr id="19" name="Picture 2" descr="https://wikidocs.net/images/page/115055/%EA%B7%B8%EB%A6%BC10.PNG">
            <a:extLst>
              <a:ext uri="{FF2B5EF4-FFF2-40B4-BE49-F238E27FC236}">
                <a16:creationId xmlns:a16="http://schemas.microsoft.com/office/drawing/2014/main" id="{79965E77-DA69-4A2A-BEF4-480D581F75D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26859" y="909229"/>
            <a:ext cx="3670953" cy="17786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2B3A67"/>
          </a:solidFill>
          <a:ln/>
        </p:spPr>
      </p:sp>
      <p:sp>
        <p:nvSpPr>
          <p:cNvPr id="3" name="Text 1"/>
          <p:cNvSpPr/>
          <p:nvPr/>
        </p:nvSpPr>
        <p:spPr>
          <a:xfrm>
            <a:off x="272912" y="918202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BERT 파인 튜닝 (Fine-tuning) — 전이학습</a:t>
            </a:r>
            <a:endParaRPr lang="en-US" sz="2400" dirty="0"/>
          </a:p>
        </p:txBody>
      </p:sp>
      <p:pic>
        <p:nvPicPr>
          <p:cNvPr id="22" name="Picture 4" descr="https://wikidocs.net/images/page/115055/apply2.PNG">
            <a:extLst>
              <a:ext uri="{FF2B5EF4-FFF2-40B4-BE49-F238E27FC236}">
                <a16:creationId xmlns:a16="http://schemas.microsoft.com/office/drawing/2014/main" id="{967A25F6-E91E-4A27-9744-3DE980119E8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37195" y="1692774"/>
            <a:ext cx="2094345" cy="13790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3" name="Picture 6" descr="https://wikidocs.net/images/page/115055/apply1.PNG">
            <a:extLst>
              <a:ext uri="{FF2B5EF4-FFF2-40B4-BE49-F238E27FC236}">
                <a16:creationId xmlns:a16="http://schemas.microsoft.com/office/drawing/2014/main" id="{41E2A1D2-2C8B-4294-A79F-0532A101D8C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0080" y="1692774"/>
            <a:ext cx="2094345" cy="12962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4" name="Picture 8" descr="https://wikidocs.net/images/page/115055/apply3.PNG">
            <a:extLst>
              <a:ext uri="{FF2B5EF4-FFF2-40B4-BE49-F238E27FC236}">
                <a16:creationId xmlns:a16="http://schemas.microsoft.com/office/drawing/2014/main" id="{78940425-38AF-4F14-8335-4782C783EDE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4366" y="3543146"/>
            <a:ext cx="3177436" cy="15585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5" name="Picture 10" descr="https://wikidocs.net/images/page/115055/apply4.PNG">
            <a:extLst>
              <a:ext uri="{FF2B5EF4-FFF2-40B4-BE49-F238E27FC236}">
                <a16:creationId xmlns:a16="http://schemas.microsoft.com/office/drawing/2014/main" id="{4AB5DC79-7936-4EBA-8530-6D041056970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51831" y="3473406"/>
            <a:ext cx="3305716" cy="16282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6" name="TextBox 25">
            <a:extLst>
              <a:ext uri="{FF2B5EF4-FFF2-40B4-BE49-F238E27FC236}">
                <a16:creationId xmlns:a16="http://schemas.microsoft.com/office/drawing/2014/main" id="{5F376352-FB41-4C00-93A0-550497DEA7B8}"/>
              </a:ext>
            </a:extLst>
          </p:cNvPr>
          <p:cNvSpPr txBox="1"/>
          <p:nvPr/>
        </p:nvSpPr>
        <p:spPr>
          <a:xfrm>
            <a:off x="640080" y="3100349"/>
            <a:ext cx="69245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 </a:t>
            </a:r>
            <a:r>
              <a:rPr lang="ko-KR" altLang="en-US" sz="1300" b="1" dirty="0">
                <a:solidFill>
                  <a:srgbClr val="2D2D2D"/>
                </a:solidFill>
                <a:latin typeface="Arial" pitchFamily="34" charset="0"/>
                <a:cs typeface="Arial" pitchFamily="34" charset="-120"/>
              </a:rPr>
              <a:t>문장 간 관계 분석</a:t>
            </a:r>
            <a:r>
              <a:rPr lang="en-US" altLang="ko-KR" sz="1300" b="1" dirty="0">
                <a:solidFill>
                  <a:srgbClr val="2D2D2D"/>
                </a:solidFill>
                <a:latin typeface="Arial" pitchFamily="34" charset="0"/>
                <a:cs typeface="Arial" pitchFamily="34" charset="-120"/>
              </a:rPr>
              <a:t>: </a:t>
            </a:r>
            <a:r>
              <a:rPr lang="ko-KR" altLang="en-US" sz="1300" b="1" dirty="0">
                <a:solidFill>
                  <a:srgbClr val="2D2D2D"/>
                </a:solidFill>
                <a:latin typeface="Arial" pitchFamily="34" charset="0"/>
                <a:cs typeface="Arial" pitchFamily="34" charset="-120"/>
              </a:rPr>
              <a:t>자연어 추론                                    </a:t>
            </a:r>
            <a:r>
              <a:rPr lang="en-US" altLang="ko-KR" sz="1300" b="1" dirty="0">
                <a:solidFill>
                  <a:srgbClr val="2D2D2D"/>
                </a:solidFill>
                <a:latin typeface="Arial" pitchFamily="34" charset="0"/>
                <a:cs typeface="Arial" pitchFamily="34" charset="-120"/>
              </a:rPr>
              <a:t> </a:t>
            </a:r>
            <a:r>
              <a:rPr lang="ko-KR" altLang="en-US" sz="1300" b="1" dirty="0">
                <a:solidFill>
                  <a:srgbClr val="2D2D2D"/>
                </a:solidFill>
                <a:latin typeface="Arial" pitchFamily="34" charset="0"/>
                <a:cs typeface="Arial" pitchFamily="34" charset="-120"/>
              </a:rPr>
              <a:t>새로운 내용 생성</a:t>
            </a:r>
            <a:r>
              <a:rPr lang="en-US" altLang="ko-KR" sz="1300" b="1" dirty="0">
                <a:solidFill>
                  <a:srgbClr val="2D2D2D"/>
                </a:solidFill>
                <a:latin typeface="Arial" pitchFamily="34" charset="0"/>
                <a:cs typeface="Arial" pitchFamily="34" charset="-120"/>
              </a:rPr>
              <a:t>: </a:t>
            </a:r>
            <a:r>
              <a:rPr lang="ko-KR" altLang="en-US" sz="1300" b="1" dirty="0">
                <a:solidFill>
                  <a:srgbClr val="2D2D2D"/>
                </a:solidFill>
                <a:latin typeface="Arial" pitchFamily="34" charset="0"/>
                <a:cs typeface="Arial" pitchFamily="34" charset="-120"/>
              </a:rPr>
              <a:t>질의 응답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60FD91AB-8CC8-4AEB-BF88-FBD205B3F672}"/>
              </a:ext>
            </a:extLst>
          </p:cNvPr>
          <p:cNvSpPr txBox="1"/>
          <p:nvPr/>
        </p:nvSpPr>
        <p:spPr>
          <a:xfrm>
            <a:off x="548640" y="1288994"/>
            <a:ext cx="722451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  </a:t>
            </a:r>
            <a:r>
              <a:rPr lang="ko-KR" altLang="en-US" sz="1300" b="1" dirty="0">
                <a:solidFill>
                  <a:srgbClr val="2D2D2D"/>
                </a:solidFill>
                <a:latin typeface="Arial" pitchFamily="34" charset="0"/>
                <a:cs typeface="Arial" pitchFamily="34" charset="-120"/>
              </a:rPr>
              <a:t>한 문장의 성격 분류                                                    단어에 대한 </a:t>
            </a:r>
            <a:r>
              <a:rPr lang="ko-KR" altLang="en-US" sz="1300" b="1" dirty="0" err="1">
                <a:solidFill>
                  <a:srgbClr val="2D2D2D"/>
                </a:solidFill>
                <a:latin typeface="Arial" pitchFamily="34" charset="0"/>
                <a:cs typeface="Arial" pitchFamily="34" charset="-120"/>
              </a:rPr>
              <a:t>태깅</a:t>
            </a:r>
            <a:r>
              <a:rPr lang="en-US" altLang="ko-KR" sz="1300" b="1" dirty="0">
                <a:solidFill>
                  <a:srgbClr val="2D2D2D"/>
                </a:solidFill>
                <a:latin typeface="Arial" pitchFamily="34" charset="0"/>
                <a:cs typeface="Arial" pitchFamily="34" charset="-120"/>
              </a:rPr>
              <a:t>: </a:t>
            </a:r>
            <a:r>
              <a:rPr lang="ko-KR" altLang="en-US" sz="1300" b="1" dirty="0">
                <a:solidFill>
                  <a:srgbClr val="2D2D2D"/>
                </a:solidFill>
                <a:latin typeface="Arial" pitchFamily="34" charset="0"/>
                <a:cs typeface="Arial" pitchFamily="34" charset="-120"/>
              </a:rPr>
              <a:t>개체명이나 품사 분석</a:t>
            </a:r>
            <a:endParaRPr lang="en-US" altLang="ko-KR" sz="1300" b="1" dirty="0">
              <a:solidFill>
                <a:srgbClr val="2D2D2D"/>
              </a:solidFill>
              <a:latin typeface="Arial" pitchFamily="34" charset="0"/>
              <a:cs typeface="Arial" pitchFamily="34" charset="-120"/>
            </a:endParaRPr>
          </a:p>
          <a:p>
            <a:endParaRPr lang="ko-KR" altLang="en-US" dirty="0"/>
          </a:p>
        </p:txBody>
      </p:sp>
      <p:sp>
        <p:nvSpPr>
          <p:cNvPr id="29" name="Shape 7">
            <a:extLst>
              <a:ext uri="{FF2B5EF4-FFF2-40B4-BE49-F238E27FC236}">
                <a16:creationId xmlns:a16="http://schemas.microsoft.com/office/drawing/2014/main" id="{E0BE4F42-E03F-41D6-9241-DA8AE46213AD}"/>
              </a:ext>
            </a:extLst>
          </p:cNvPr>
          <p:cNvSpPr/>
          <p:nvPr/>
        </p:nvSpPr>
        <p:spPr>
          <a:xfrm>
            <a:off x="363785" y="1308828"/>
            <a:ext cx="320040" cy="320040"/>
          </a:xfrm>
          <a:prstGeom prst="ellipse">
            <a:avLst/>
          </a:prstGeom>
          <a:solidFill>
            <a:srgbClr val="2B3A67"/>
          </a:solidFill>
          <a:ln/>
        </p:spPr>
      </p:sp>
      <p:sp>
        <p:nvSpPr>
          <p:cNvPr id="33" name="Text 8">
            <a:extLst>
              <a:ext uri="{FF2B5EF4-FFF2-40B4-BE49-F238E27FC236}">
                <a16:creationId xmlns:a16="http://schemas.microsoft.com/office/drawing/2014/main" id="{122D70AF-4912-45A4-99F3-12136B9590BA}"/>
              </a:ext>
            </a:extLst>
          </p:cNvPr>
          <p:cNvSpPr/>
          <p:nvPr/>
        </p:nvSpPr>
        <p:spPr>
          <a:xfrm>
            <a:off x="363785" y="1308828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200" dirty="0"/>
          </a:p>
        </p:txBody>
      </p:sp>
      <p:sp>
        <p:nvSpPr>
          <p:cNvPr id="34" name="Shape 7">
            <a:extLst>
              <a:ext uri="{FF2B5EF4-FFF2-40B4-BE49-F238E27FC236}">
                <a16:creationId xmlns:a16="http://schemas.microsoft.com/office/drawing/2014/main" id="{8D4AAEFA-CB82-4835-BD08-A71A6F8FD5C3}"/>
              </a:ext>
            </a:extLst>
          </p:cNvPr>
          <p:cNvSpPr/>
          <p:nvPr/>
        </p:nvSpPr>
        <p:spPr>
          <a:xfrm>
            <a:off x="4331790" y="3150282"/>
            <a:ext cx="320040" cy="320040"/>
          </a:xfrm>
          <a:prstGeom prst="ellipse">
            <a:avLst/>
          </a:prstGeom>
          <a:solidFill>
            <a:srgbClr val="2B3A67"/>
          </a:solidFill>
          <a:ln/>
        </p:spPr>
      </p:sp>
      <p:sp>
        <p:nvSpPr>
          <p:cNvPr id="35" name="Text 8">
            <a:extLst>
              <a:ext uri="{FF2B5EF4-FFF2-40B4-BE49-F238E27FC236}">
                <a16:creationId xmlns:a16="http://schemas.microsoft.com/office/drawing/2014/main" id="{8209AFF4-D257-4E49-9837-C8C5AE33AA54}"/>
              </a:ext>
            </a:extLst>
          </p:cNvPr>
          <p:cNvSpPr/>
          <p:nvPr/>
        </p:nvSpPr>
        <p:spPr>
          <a:xfrm>
            <a:off x="4331790" y="3150282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200" dirty="0"/>
          </a:p>
        </p:txBody>
      </p:sp>
      <p:sp>
        <p:nvSpPr>
          <p:cNvPr id="36" name="Shape 7">
            <a:extLst>
              <a:ext uri="{FF2B5EF4-FFF2-40B4-BE49-F238E27FC236}">
                <a16:creationId xmlns:a16="http://schemas.microsoft.com/office/drawing/2014/main" id="{9A426192-42E1-41A8-8119-63CCA6ADBDD9}"/>
              </a:ext>
            </a:extLst>
          </p:cNvPr>
          <p:cNvSpPr/>
          <p:nvPr/>
        </p:nvSpPr>
        <p:spPr>
          <a:xfrm>
            <a:off x="405768" y="3150282"/>
            <a:ext cx="320040" cy="320040"/>
          </a:xfrm>
          <a:prstGeom prst="ellipse">
            <a:avLst/>
          </a:prstGeom>
          <a:solidFill>
            <a:srgbClr val="2B3A67"/>
          </a:solidFill>
          <a:ln/>
        </p:spPr>
      </p:sp>
      <p:sp>
        <p:nvSpPr>
          <p:cNvPr id="37" name="Text 8">
            <a:extLst>
              <a:ext uri="{FF2B5EF4-FFF2-40B4-BE49-F238E27FC236}">
                <a16:creationId xmlns:a16="http://schemas.microsoft.com/office/drawing/2014/main" id="{AFE089FD-86EE-44DB-82C3-2245CFAC3457}"/>
              </a:ext>
            </a:extLst>
          </p:cNvPr>
          <p:cNvSpPr/>
          <p:nvPr/>
        </p:nvSpPr>
        <p:spPr>
          <a:xfrm>
            <a:off x="405768" y="3150282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cs typeface="Arial" pitchFamily="34" charset="-120"/>
              </a:rPr>
              <a:t>3</a:t>
            </a:r>
            <a:endParaRPr lang="en-US" sz="1200" dirty="0"/>
          </a:p>
        </p:txBody>
      </p:sp>
      <p:sp>
        <p:nvSpPr>
          <p:cNvPr id="38" name="Shape 7">
            <a:extLst>
              <a:ext uri="{FF2B5EF4-FFF2-40B4-BE49-F238E27FC236}">
                <a16:creationId xmlns:a16="http://schemas.microsoft.com/office/drawing/2014/main" id="{DC7D7E32-488A-4269-A1C5-C8695409EFBA}"/>
              </a:ext>
            </a:extLst>
          </p:cNvPr>
          <p:cNvSpPr/>
          <p:nvPr/>
        </p:nvSpPr>
        <p:spPr>
          <a:xfrm>
            <a:off x="4161190" y="1351459"/>
            <a:ext cx="320040" cy="320040"/>
          </a:xfrm>
          <a:prstGeom prst="ellipse">
            <a:avLst/>
          </a:prstGeom>
          <a:solidFill>
            <a:srgbClr val="2B3A67"/>
          </a:solidFill>
          <a:ln/>
        </p:spPr>
      </p:sp>
      <p:sp>
        <p:nvSpPr>
          <p:cNvPr id="39" name="Text 8">
            <a:extLst>
              <a:ext uri="{FF2B5EF4-FFF2-40B4-BE49-F238E27FC236}">
                <a16:creationId xmlns:a16="http://schemas.microsoft.com/office/drawing/2014/main" id="{B494066F-A309-46AA-BC38-BE2ACA8441C6}"/>
              </a:ext>
            </a:extLst>
          </p:cNvPr>
          <p:cNvSpPr/>
          <p:nvPr/>
        </p:nvSpPr>
        <p:spPr>
          <a:xfrm>
            <a:off x="4161190" y="1351459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200" dirty="0"/>
          </a:p>
        </p:txBody>
      </p:sp>
      <p:sp>
        <p:nvSpPr>
          <p:cNvPr id="40" name="Shape 3">
            <a:extLst>
              <a:ext uri="{FF2B5EF4-FFF2-40B4-BE49-F238E27FC236}">
                <a16:creationId xmlns:a16="http://schemas.microsoft.com/office/drawing/2014/main" id="{4B05D5F7-B67D-4F03-B1AE-91AB9C7BE9BB}"/>
              </a:ext>
            </a:extLst>
          </p:cNvPr>
          <p:cNvSpPr/>
          <p:nvPr/>
        </p:nvSpPr>
        <p:spPr>
          <a:xfrm>
            <a:off x="272912" y="850308"/>
            <a:ext cx="8390753" cy="373802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6350">
            <a:solidFill>
              <a:srgbClr val="D8DCE3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41" name="Text 4">
            <a:extLst>
              <a:ext uri="{FF2B5EF4-FFF2-40B4-BE49-F238E27FC236}">
                <a16:creationId xmlns:a16="http://schemas.microsoft.com/office/drawing/2014/main" id="{80F4AD8C-7D97-4AEA-A53F-23AF647A8A4F}"/>
              </a:ext>
            </a:extLst>
          </p:cNvPr>
          <p:cNvSpPr/>
          <p:nvPr/>
        </p:nvSpPr>
        <p:spPr>
          <a:xfrm>
            <a:off x="480335" y="654376"/>
            <a:ext cx="8299880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10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전이학습(Transfer Learning): </a:t>
            </a:r>
            <a:r>
              <a:rPr lang="en-US" sz="1050" dirty="0" err="1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사전학습</a:t>
            </a:r>
            <a:r>
              <a:rPr lang="en-US" sz="10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(Pre-training)된 BERT를 </a:t>
            </a:r>
            <a:r>
              <a:rPr lang="en-US" sz="1050" dirty="0" err="1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가져와</a:t>
            </a:r>
            <a:r>
              <a:rPr lang="en-US" sz="10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</a:t>
            </a:r>
            <a:r>
              <a:rPr lang="ko-KR" altLang="en-US" sz="10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맞춤형 </a:t>
            </a:r>
            <a:r>
              <a:rPr lang="en-US" sz="1050" dirty="0" err="1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데이터</a:t>
            </a:r>
            <a:r>
              <a:rPr lang="ko-KR" altLang="en-US" sz="10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로</a:t>
            </a:r>
            <a:r>
              <a:rPr lang="en-US" sz="10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간단한 파인 튜닝(파라미터 재조정)</a:t>
            </a:r>
            <a:r>
              <a:rPr lang="en-US" sz="1050" dirty="0" err="1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만으로</a:t>
            </a:r>
            <a:r>
              <a:rPr lang="en-US" sz="10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ko-KR" altLang="en-US" sz="10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학습</a:t>
            </a:r>
            <a:endParaRPr lang="en-US" sz="1050" dirty="0"/>
          </a:p>
        </p:txBody>
      </p:sp>
      <p:sp>
        <p:nvSpPr>
          <p:cNvPr id="42" name="Text 1">
            <a:extLst>
              <a:ext uri="{FF2B5EF4-FFF2-40B4-BE49-F238E27FC236}">
                <a16:creationId xmlns:a16="http://schemas.microsoft.com/office/drawing/2014/main" id="{E0A49997-96E5-4E89-A3F3-50DC6CA15174}"/>
              </a:ext>
            </a:extLst>
          </p:cNvPr>
          <p:cNvSpPr/>
          <p:nvPr/>
        </p:nvSpPr>
        <p:spPr>
          <a:xfrm>
            <a:off x="548640" y="109728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BERT 파인 튜닝 (Fine-tuning) — 전이학습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65122316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chemeClr val="accent1">
              <a:lumMod val="50000"/>
            </a:schemeClr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BERT vs Sentence-BERT (SBERT)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BERT: </a:t>
            </a: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"이 단어가 이 문맥에서 무슨 뜻이지?" — 단어 수준 이해   |   </a:t>
            </a:r>
            <a:r>
              <a:rPr lang="en-US" sz="1100" b="1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SBERT: </a:t>
            </a: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"이 문장과 저 문장이 얼마나 비슷하지?" — 문장 수준 비교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149251" y="1325880"/>
            <a:ext cx="2913233" cy="2361948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49251" y="1325880"/>
            <a:ext cx="54864" cy="2361948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9" name="Text 6"/>
          <p:cNvSpPr/>
          <p:nvPr/>
        </p:nvSpPr>
        <p:spPr>
          <a:xfrm>
            <a:off x="377851" y="1463040"/>
            <a:ext cx="3017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BERT — 단어 수준 이해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377851" y="1965960"/>
            <a:ext cx="2541050" cy="17218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출력: </a:t>
            </a: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각 단어마다 벡터 1개 (768차원)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문장 전체를 대표하는 벡터가 없음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비유: </a:t>
            </a: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매번 두 사람을 나란히 세워서 비교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비교 방식: </a:t>
            </a: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두 문장을 반드시 함께 입력</a:t>
            </a:r>
            <a:endParaRPr lang="en-US" sz="1100" dirty="0"/>
          </a:p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[CLS] 문장A [SEP] 문장B [SEP]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b="1" dirty="0">
                <a:solidFill>
                  <a:srgbClr val="E11D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1만 건 비교: 수 시간 소요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(5천만 번 추론 필요)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2993035" y="1325880"/>
            <a:ext cx="3017520" cy="2361948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2993035" y="1325880"/>
            <a:ext cx="54864" cy="2361948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5" name="Text 11"/>
          <p:cNvSpPr/>
          <p:nvPr/>
        </p:nvSpPr>
        <p:spPr>
          <a:xfrm>
            <a:off x="3221635" y="1463040"/>
            <a:ext cx="3017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SBERT — 문장 수준 비교</a:t>
            </a:r>
            <a:endParaRPr lang="en-US" sz="1400" dirty="0"/>
          </a:p>
        </p:txBody>
      </p:sp>
      <p:sp>
        <p:nvSpPr>
          <p:cNvPr id="16" name="Text 12"/>
          <p:cNvSpPr/>
          <p:nvPr/>
        </p:nvSpPr>
        <p:spPr>
          <a:xfrm>
            <a:off x="3221635" y="1965960"/>
            <a:ext cx="2709571" cy="16387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출력: </a:t>
            </a: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문장 전체 → 벡터 1개 (지문/fingerprint)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풀링(Pooling)으로 단어벡터를 요약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비유: </a:t>
            </a: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각자 여권사진을 미리 찍어두고 비교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비교 방식: </a:t>
            </a: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각 문장을 독립적으로 인코딩 후</a:t>
            </a:r>
            <a:endParaRPr lang="en-US" sz="1100" dirty="0"/>
          </a:p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코사인 유사도로 즉시 비교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1만 건 비교: 수 초 완료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(벡터 연산만으로 끝)</a:t>
            </a:r>
            <a:endParaRPr lang="en-US" sz="1100" dirty="0"/>
          </a:p>
        </p:txBody>
      </p:sp>
      <p:pic>
        <p:nvPicPr>
          <p:cNvPr id="21" name="그림 20">
            <a:extLst>
              <a:ext uri="{FF2B5EF4-FFF2-40B4-BE49-F238E27FC236}">
                <a16:creationId xmlns:a16="http://schemas.microsoft.com/office/drawing/2014/main" id="{736FF538-E32B-47AA-93E1-D4689E30E2F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60601" y="3173950"/>
            <a:ext cx="4115385" cy="1873182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chemeClr val="accent1">
              <a:lumMod val="50000"/>
            </a:schemeClr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 err="1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허깅페이스</a:t>
            </a:r>
            <a:r>
              <a:rPr lang="en-US" sz="2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BERT </a:t>
            </a:r>
            <a:r>
              <a:rPr lang="en-US" sz="2100" b="1" dirty="0" err="1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모델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7772400" y="137160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1005839"/>
            <a:ext cx="3931920" cy="3217817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005840"/>
            <a:ext cx="54864" cy="3217816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7" name="Text 5"/>
          <p:cNvSpPr/>
          <p:nvPr/>
        </p:nvSpPr>
        <p:spPr>
          <a:xfrm>
            <a:off x="685800" y="1078992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BERT 계열 (transformers)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85800" y="1463040"/>
            <a:ext cx="3294017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0891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nlptown/</a:t>
            </a:r>
            <a:r>
              <a:rPr lang="en-US" sz="1100" dirty="0" err="1">
                <a:solidFill>
                  <a:srgbClr val="0891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bert</a:t>
            </a:r>
            <a:r>
              <a:rPr lang="en-US" sz="1100" dirty="0">
                <a:solidFill>
                  <a:srgbClr val="0891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-base-multilingual-uncased-sentiment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다국어 감성분석 (1~5점)
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0891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beomi/KcELECTRA-base-v2022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한국어 파인튜닝 범용 기반 모델
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0891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klue/roberta-large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한국어 NLU 벤치마크
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0891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dslim/bert-base-NER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영어 개체명 인식
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0891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monologg/koelectra-base-v3-finetuned-korquad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한국어 QA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754880" y="1005840"/>
            <a:ext cx="3931920" cy="3217816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54880" y="1005840"/>
            <a:ext cx="45719" cy="3217816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1" name="Text 9"/>
          <p:cNvSpPr/>
          <p:nvPr/>
        </p:nvSpPr>
        <p:spPr>
          <a:xfrm>
            <a:off x="4983480" y="1078992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SBERT 계열 (sentence-transformers)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983480" y="1463040"/>
            <a:ext cx="34747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7C3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jhgan/ko-sroberta-multitask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한국어 SBERT (추천)
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7C3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snunlp/KR-SBERT-V40K-klueNLI-augSTS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한국어 SBERT (KLUE 학습)
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7C3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all-MiniLM-L6-v2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영어 (빠르고 가벼움, 384차원)
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7C3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all-mpnet-base-v2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영어 고성능 (768차원)
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7C3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intfloat/multilingual-e5-large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다국어 (한국어 포함, 1024차원)</a:t>
            </a:r>
            <a:endParaRPr lang="en-US" sz="11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chemeClr val="accent1">
              <a:lumMod val="50000"/>
            </a:schemeClr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 err="1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허깅페이스</a:t>
            </a:r>
            <a:r>
              <a:rPr lang="en-US" sz="2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BERT </a:t>
            </a:r>
            <a:r>
              <a:rPr lang="en-US" sz="2100" b="1" dirty="0" err="1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모델</a:t>
            </a:r>
            <a:r>
              <a:rPr lang="en-US" sz="2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– </a:t>
            </a:r>
            <a:r>
              <a:rPr lang="ko-KR" altLang="en-US" sz="2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추론</a:t>
            </a:r>
            <a:r>
              <a:rPr lang="en-US" sz="2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</a:t>
            </a:r>
            <a:r>
              <a:rPr lang="ko-KR" altLang="en-US" sz="2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코드</a:t>
            </a:r>
            <a:r>
              <a:rPr lang="en-US" altLang="ko-KR" sz="2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(</a:t>
            </a:r>
            <a:r>
              <a:rPr lang="ko-KR" altLang="en-US" sz="2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사례</a:t>
            </a:r>
            <a:r>
              <a:rPr lang="en-US" altLang="ko-KR" sz="2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)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7772400" y="137160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1005839"/>
            <a:ext cx="3931920" cy="3217817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005840"/>
            <a:ext cx="54864" cy="3217816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7" name="Text 5"/>
          <p:cNvSpPr/>
          <p:nvPr/>
        </p:nvSpPr>
        <p:spPr>
          <a:xfrm>
            <a:off x="685800" y="1078992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BERT 계열 (transformers)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85800" y="1463040"/>
            <a:ext cx="3612823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endParaRPr lang="en-US" sz="1100" dirty="0">
              <a:latin typeface="Consolas" pitchFamily="34" charset="0"/>
              <a:ea typeface="Consolas" pitchFamily="34" charset="-122"/>
              <a:cs typeface="Consolas" pitchFamily="34" charset="-120"/>
            </a:endParaRPr>
          </a:p>
          <a:p>
            <a:pPr marL="0" indent="0">
              <a:buNone/>
            </a:pPr>
            <a:r>
              <a:rPr lang="en-US" sz="1100" dirty="0">
                <a:latin typeface="Consolas" pitchFamily="34" charset="0"/>
                <a:ea typeface="Consolas" pitchFamily="34" charset="-122"/>
                <a:cs typeface="Consolas" pitchFamily="34" charset="-120"/>
              </a:rPr>
              <a:t>from transformers import pipeline</a:t>
            </a:r>
          </a:p>
          <a:p>
            <a:pPr marL="0" indent="0">
              <a:buNone/>
            </a:pPr>
            <a:endParaRPr lang="en-US" sz="1100" dirty="0">
              <a:latin typeface="Consolas" pitchFamily="34" charset="0"/>
              <a:ea typeface="Consolas" pitchFamily="34" charset="-122"/>
              <a:cs typeface="Consolas" pitchFamily="34" charset="-120"/>
            </a:endParaRPr>
          </a:p>
          <a:p>
            <a:pPr marL="0" indent="0">
              <a:buNone/>
            </a:pPr>
            <a:r>
              <a:rPr lang="en-US" sz="1100" dirty="0">
                <a:latin typeface="Consolas" pitchFamily="34" charset="0"/>
                <a:ea typeface="Consolas" pitchFamily="34" charset="-122"/>
                <a:cs typeface="Consolas" pitchFamily="34" charset="-120"/>
              </a:rPr>
              <a:t>classifier = pipeline("sentiment-analysis",</a:t>
            </a:r>
          </a:p>
          <a:p>
            <a:pPr marL="0" indent="0">
              <a:buNone/>
            </a:pPr>
            <a:r>
              <a:rPr lang="en-US" sz="1100" dirty="0">
                <a:latin typeface="Consolas" pitchFamily="34" charset="0"/>
                <a:ea typeface="Consolas" pitchFamily="34" charset="-122"/>
                <a:cs typeface="Consolas" pitchFamily="34" charset="-120"/>
              </a:rPr>
              <a:t>    model="</a:t>
            </a:r>
            <a:r>
              <a:rPr lang="en-US" sz="1100" dirty="0" err="1">
                <a:latin typeface="Consolas" pitchFamily="34" charset="0"/>
                <a:ea typeface="Consolas" pitchFamily="34" charset="-122"/>
                <a:cs typeface="Consolas" pitchFamily="34" charset="-120"/>
              </a:rPr>
              <a:t>nlptown</a:t>
            </a:r>
            <a:r>
              <a:rPr lang="en-US" sz="1100" dirty="0">
                <a:latin typeface="Consolas" pitchFamily="34" charset="0"/>
                <a:ea typeface="Consolas" pitchFamily="34" charset="-122"/>
                <a:cs typeface="Consolas" pitchFamily="34" charset="-120"/>
              </a:rPr>
              <a:t>/</a:t>
            </a:r>
            <a:r>
              <a:rPr lang="en-US" sz="1100" dirty="0" err="1">
                <a:latin typeface="Consolas" pitchFamily="34" charset="0"/>
                <a:ea typeface="Consolas" pitchFamily="34" charset="-122"/>
                <a:cs typeface="Consolas" pitchFamily="34" charset="-120"/>
              </a:rPr>
              <a:t>bert</a:t>
            </a:r>
            <a:r>
              <a:rPr lang="en-US" sz="1100" dirty="0">
                <a:latin typeface="Consolas" pitchFamily="34" charset="0"/>
                <a:ea typeface="Consolas" pitchFamily="34" charset="-122"/>
                <a:cs typeface="Consolas" pitchFamily="34" charset="-120"/>
              </a:rPr>
              <a:t>-base-multilingual-    </a:t>
            </a:r>
          </a:p>
          <a:p>
            <a:pPr marL="0" indent="0">
              <a:buNone/>
            </a:pPr>
            <a:r>
              <a:rPr lang="en-US" sz="1100" dirty="0"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uncased-sentiment")</a:t>
            </a:r>
          </a:p>
          <a:p>
            <a:pPr marL="0" indent="0">
              <a:buNone/>
            </a:pPr>
            <a:endParaRPr lang="en-US" sz="1100" dirty="0">
              <a:latin typeface="Consolas" pitchFamily="34" charset="0"/>
              <a:ea typeface="Consolas" pitchFamily="34" charset="-122"/>
              <a:cs typeface="Consolas" pitchFamily="34" charset="-120"/>
            </a:endParaRPr>
          </a:p>
          <a:p>
            <a:pPr marL="0" indent="0">
              <a:buNone/>
            </a:pPr>
            <a:r>
              <a:rPr lang="en-US" sz="1100" dirty="0">
                <a:latin typeface="Consolas" pitchFamily="34" charset="0"/>
                <a:ea typeface="Consolas" pitchFamily="34" charset="-122"/>
                <a:cs typeface="Consolas" pitchFamily="34" charset="-120"/>
              </a:rPr>
              <a:t>print(classifier("</a:t>
            </a:r>
            <a:r>
              <a:rPr lang="ko-KR" altLang="en-US" sz="1100" dirty="0">
                <a:latin typeface="Consolas" pitchFamily="34" charset="0"/>
                <a:ea typeface="Consolas" pitchFamily="34" charset="-122"/>
                <a:cs typeface="Consolas" pitchFamily="34" charset="-120"/>
              </a:rPr>
              <a:t>이 영화 정말 재미있었어요</a:t>
            </a:r>
            <a:r>
              <a:rPr lang="en-US" altLang="ko-KR" sz="1100" dirty="0">
                <a:latin typeface="Consolas" pitchFamily="34" charset="0"/>
                <a:ea typeface="Consolas" pitchFamily="34" charset="-122"/>
                <a:cs typeface="Consolas" pitchFamily="34" charset="-120"/>
              </a:rPr>
              <a:t>!"))</a:t>
            </a:r>
          </a:p>
          <a:p>
            <a:pPr marL="0" indent="0">
              <a:buNone/>
            </a:pPr>
            <a:r>
              <a:rPr lang="en-US" altLang="ko-KR" sz="1100" dirty="0">
                <a:latin typeface="Consolas" pitchFamily="34" charset="0"/>
                <a:ea typeface="Consolas" pitchFamily="34" charset="-122"/>
                <a:cs typeface="Consolas" pitchFamily="34" charset="-120"/>
              </a:rPr>
              <a:t># [{'</a:t>
            </a:r>
            <a:r>
              <a:rPr lang="en-US" sz="1100" dirty="0">
                <a:latin typeface="Consolas" pitchFamily="34" charset="0"/>
                <a:ea typeface="Consolas" pitchFamily="34" charset="-122"/>
                <a:cs typeface="Consolas" pitchFamily="34" charset="-120"/>
              </a:rPr>
              <a:t>label': '5 stars', 'score': 0.72}]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754880" y="1005840"/>
            <a:ext cx="3931920" cy="3217816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54880" y="1005840"/>
            <a:ext cx="45719" cy="3217816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1" name="Text 9"/>
          <p:cNvSpPr/>
          <p:nvPr/>
        </p:nvSpPr>
        <p:spPr>
          <a:xfrm>
            <a:off x="4983480" y="1078992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SBERT 계열 (sentence-transformers)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983480" y="1463040"/>
            <a:ext cx="37033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endParaRPr lang="en-US" altLang="ko-KR" sz="1100" dirty="0">
              <a:effectLst/>
            </a:endParaRPr>
          </a:p>
          <a:p>
            <a:pPr marL="0" indent="0">
              <a:buNone/>
            </a:pPr>
            <a:r>
              <a:rPr lang="en-US" altLang="ko-KR" sz="1100" dirty="0">
                <a:effectLst/>
              </a:rPr>
              <a:t>from</a:t>
            </a:r>
            <a:r>
              <a:rPr lang="en-US" altLang="ko-KR" sz="1100" dirty="0"/>
              <a:t> </a:t>
            </a:r>
            <a:r>
              <a:rPr lang="en-US" altLang="ko-KR" sz="1100" dirty="0" err="1"/>
              <a:t>sentence_transformers</a:t>
            </a:r>
            <a:r>
              <a:rPr lang="en-US" altLang="ko-KR" sz="1100" dirty="0"/>
              <a:t> </a:t>
            </a:r>
            <a:r>
              <a:rPr lang="en-US" altLang="ko-KR" sz="1100" dirty="0">
                <a:effectLst/>
              </a:rPr>
              <a:t>import</a:t>
            </a:r>
            <a:r>
              <a:rPr lang="en-US" altLang="ko-KR" sz="1100" dirty="0"/>
              <a:t> </a:t>
            </a:r>
            <a:r>
              <a:rPr lang="en-US" altLang="ko-KR" sz="1100" dirty="0" err="1"/>
              <a:t>SentenceTransformer</a:t>
            </a:r>
            <a:r>
              <a:rPr lang="en-US" altLang="ko-KR" sz="1100" dirty="0">
                <a:effectLst/>
              </a:rPr>
              <a:t>,</a:t>
            </a:r>
            <a:r>
              <a:rPr lang="en-US" altLang="ko-KR" sz="1100" dirty="0"/>
              <a:t> util </a:t>
            </a:r>
          </a:p>
          <a:p>
            <a:pPr marL="0" indent="0">
              <a:buNone/>
            </a:pPr>
            <a:endParaRPr lang="en-US" altLang="ko-KR" sz="1100" dirty="0"/>
          </a:p>
          <a:p>
            <a:pPr marL="0" indent="0">
              <a:buNone/>
            </a:pPr>
            <a:r>
              <a:rPr lang="en-US" altLang="ko-KR" sz="1100" dirty="0"/>
              <a:t>model </a:t>
            </a:r>
            <a:r>
              <a:rPr lang="en-US" altLang="ko-KR" sz="1100" dirty="0">
                <a:effectLst/>
              </a:rPr>
              <a:t>=</a:t>
            </a:r>
            <a:r>
              <a:rPr lang="en-US" altLang="ko-KR" sz="1100" dirty="0"/>
              <a:t> </a:t>
            </a:r>
            <a:r>
              <a:rPr lang="en-US" altLang="ko-KR" sz="1100" dirty="0" err="1"/>
              <a:t>SentenceTransformer</a:t>
            </a:r>
            <a:r>
              <a:rPr lang="en-US" altLang="ko-KR" sz="1100" dirty="0">
                <a:effectLst/>
              </a:rPr>
              <a:t>("</a:t>
            </a:r>
            <a:r>
              <a:rPr lang="en-US" altLang="ko-KR" sz="1100" dirty="0" err="1">
                <a:effectLst/>
              </a:rPr>
              <a:t>jhgan</a:t>
            </a:r>
            <a:r>
              <a:rPr lang="en-US" altLang="ko-KR" sz="1100" dirty="0">
                <a:effectLst/>
              </a:rPr>
              <a:t>/ko-</a:t>
            </a:r>
            <a:r>
              <a:rPr lang="en-US" altLang="ko-KR" sz="1100" dirty="0" err="1">
                <a:effectLst/>
              </a:rPr>
              <a:t>sroberta</a:t>
            </a:r>
            <a:r>
              <a:rPr lang="en-US" altLang="ko-KR" sz="1100" dirty="0">
                <a:effectLst/>
              </a:rPr>
              <a:t>-multitask")</a:t>
            </a:r>
            <a:r>
              <a:rPr lang="en-US" altLang="ko-KR" sz="1100" dirty="0"/>
              <a:t> </a:t>
            </a:r>
          </a:p>
          <a:p>
            <a:pPr marL="0" indent="0">
              <a:buNone/>
            </a:pPr>
            <a:endParaRPr lang="en-US" altLang="ko-KR" sz="1100" dirty="0"/>
          </a:p>
          <a:p>
            <a:pPr marL="0" indent="0">
              <a:buNone/>
            </a:pPr>
            <a:r>
              <a:rPr lang="en-US" altLang="ko-KR" sz="1100" dirty="0" err="1"/>
              <a:t>emb</a:t>
            </a:r>
            <a:r>
              <a:rPr lang="en-US" altLang="ko-KR" sz="1100" dirty="0"/>
              <a:t> </a:t>
            </a:r>
            <a:r>
              <a:rPr lang="en-US" altLang="ko-KR" sz="1100" dirty="0">
                <a:effectLst/>
              </a:rPr>
              <a:t>=</a:t>
            </a:r>
            <a:r>
              <a:rPr lang="en-US" altLang="ko-KR" sz="1100" dirty="0"/>
              <a:t> </a:t>
            </a:r>
            <a:r>
              <a:rPr lang="en-US" altLang="ko-KR" sz="1100" dirty="0" err="1"/>
              <a:t>model</a:t>
            </a:r>
            <a:r>
              <a:rPr lang="en-US" altLang="ko-KR" sz="1100" dirty="0" err="1">
                <a:effectLst/>
              </a:rPr>
              <a:t>.</a:t>
            </a:r>
            <a:r>
              <a:rPr lang="en-US" altLang="ko-KR" sz="1100" dirty="0" err="1"/>
              <a:t>encode</a:t>
            </a:r>
            <a:r>
              <a:rPr lang="en-US" altLang="ko-KR" sz="1100" dirty="0">
                <a:effectLst/>
              </a:rPr>
              <a:t>([</a:t>
            </a:r>
            <a:r>
              <a:rPr lang="en-US" altLang="ko-KR" sz="1100" dirty="0"/>
              <a:t> </a:t>
            </a:r>
          </a:p>
          <a:p>
            <a:pPr marL="0" indent="0">
              <a:buNone/>
            </a:pPr>
            <a:r>
              <a:rPr lang="en-US" altLang="ko-KR" sz="1100" dirty="0">
                <a:effectLst/>
              </a:rPr>
              <a:t>    "</a:t>
            </a:r>
            <a:r>
              <a:rPr lang="ko-KR" altLang="en-US" sz="1100" dirty="0">
                <a:effectLst/>
              </a:rPr>
              <a:t>한국 경제가 </a:t>
            </a:r>
            <a:r>
              <a:rPr lang="en-US" altLang="ko-KR" sz="1100" dirty="0">
                <a:effectLst/>
              </a:rPr>
              <a:t>1</a:t>
            </a:r>
            <a:r>
              <a:rPr lang="ko-KR" altLang="en-US" sz="1100" dirty="0">
                <a:effectLst/>
              </a:rPr>
              <a:t>분기에 마이너스 성장을 기록했다</a:t>
            </a:r>
            <a:r>
              <a:rPr lang="en-US" altLang="ko-KR" sz="1100" dirty="0">
                <a:effectLst/>
              </a:rPr>
              <a:t>.",</a:t>
            </a:r>
            <a:r>
              <a:rPr lang="ko-KR" altLang="en-US" sz="1100" dirty="0"/>
              <a:t> </a:t>
            </a:r>
            <a:endParaRPr lang="en-US" altLang="ko-KR" sz="1100" dirty="0"/>
          </a:p>
          <a:p>
            <a:pPr marL="0" indent="0">
              <a:buNone/>
            </a:pPr>
            <a:r>
              <a:rPr lang="en-US" altLang="ko-KR" sz="1100" dirty="0">
                <a:effectLst/>
              </a:rPr>
              <a:t>    "GDP </a:t>
            </a:r>
            <a:r>
              <a:rPr lang="ko-KR" altLang="en-US" sz="1100" dirty="0">
                <a:effectLst/>
              </a:rPr>
              <a:t>성장률이 음수를 나타냈다</a:t>
            </a:r>
            <a:r>
              <a:rPr lang="en-US" altLang="ko-KR" sz="1100" dirty="0">
                <a:effectLst/>
              </a:rPr>
              <a:t>.",</a:t>
            </a:r>
            <a:r>
              <a:rPr lang="ko-KR" altLang="en-US" sz="1100" dirty="0"/>
              <a:t> </a:t>
            </a:r>
            <a:endParaRPr lang="en-US" altLang="ko-KR" sz="1100" dirty="0"/>
          </a:p>
          <a:p>
            <a:pPr marL="0" indent="0">
              <a:buNone/>
            </a:pPr>
            <a:r>
              <a:rPr lang="en-US" altLang="ko-KR" sz="1100" dirty="0">
                <a:effectLst/>
              </a:rPr>
              <a:t>    "</a:t>
            </a:r>
            <a:r>
              <a:rPr lang="ko-KR" altLang="en-US" sz="1100" dirty="0">
                <a:effectLst/>
              </a:rPr>
              <a:t>오늘 날씨가 매우 좋습니다</a:t>
            </a:r>
            <a:r>
              <a:rPr lang="en-US" altLang="ko-KR" sz="1100" dirty="0">
                <a:effectLst/>
              </a:rPr>
              <a:t>.",</a:t>
            </a:r>
            <a:r>
              <a:rPr lang="ko-KR" altLang="en-US" sz="1100" dirty="0"/>
              <a:t> </a:t>
            </a:r>
            <a:endParaRPr lang="en-US" altLang="ko-KR" sz="1100" dirty="0"/>
          </a:p>
          <a:p>
            <a:pPr marL="0" indent="0">
              <a:buNone/>
            </a:pPr>
            <a:r>
              <a:rPr lang="en-US" altLang="ko-KR" sz="1100" dirty="0">
                <a:effectLst/>
              </a:rPr>
              <a:t>])</a:t>
            </a:r>
            <a:r>
              <a:rPr lang="ko-KR" altLang="en-US" sz="1100" dirty="0"/>
              <a:t> </a:t>
            </a:r>
            <a:endParaRPr lang="en-US" altLang="ko-KR" sz="1100" dirty="0"/>
          </a:p>
          <a:p>
            <a:pPr marL="0" indent="0">
              <a:buNone/>
            </a:pPr>
            <a:endParaRPr lang="en-US" altLang="ko-KR" sz="1100" dirty="0">
              <a:effectLst/>
            </a:endParaRPr>
          </a:p>
          <a:p>
            <a:pPr marL="0" indent="0">
              <a:buNone/>
            </a:pPr>
            <a:r>
              <a:rPr lang="en-US" altLang="ko-KR" sz="1100" dirty="0">
                <a:effectLst/>
              </a:rPr>
              <a:t>print(</a:t>
            </a:r>
            <a:r>
              <a:rPr lang="en-US" altLang="ko-KR" sz="1100" dirty="0" err="1"/>
              <a:t>util</a:t>
            </a:r>
            <a:r>
              <a:rPr lang="en-US" altLang="ko-KR" sz="1100" dirty="0" err="1">
                <a:effectLst/>
              </a:rPr>
              <a:t>.</a:t>
            </a:r>
            <a:r>
              <a:rPr lang="en-US" altLang="ko-KR" sz="1100" dirty="0" err="1"/>
              <a:t>cos_sim</a:t>
            </a:r>
            <a:r>
              <a:rPr lang="en-US" altLang="ko-KR" sz="1100" dirty="0">
                <a:effectLst/>
              </a:rPr>
              <a:t>(</a:t>
            </a:r>
            <a:r>
              <a:rPr lang="en-US" altLang="ko-KR" sz="1100" dirty="0" err="1"/>
              <a:t>emb</a:t>
            </a:r>
            <a:r>
              <a:rPr lang="en-US" altLang="ko-KR" sz="1100" dirty="0">
                <a:effectLst/>
              </a:rPr>
              <a:t>[0],</a:t>
            </a:r>
            <a:r>
              <a:rPr lang="en-US" altLang="ko-KR" sz="1100" dirty="0"/>
              <a:t> </a:t>
            </a:r>
            <a:r>
              <a:rPr lang="en-US" altLang="ko-KR" sz="1100" dirty="0" err="1"/>
              <a:t>emb</a:t>
            </a:r>
            <a:r>
              <a:rPr lang="en-US" altLang="ko-KR" sz="1100" dirty="0">
                <a:effectLst/>
              </a:rPr>
              <a:t>[1]).</a:t>
            </a:r>
            <a:r>
              <a:rPr lang="en-US" altLang="ko-KR" sz="1100" dirty="0"/>
              <a:t>item</a:t>
            </a:r>
            <a:r>
              <a:rPr lang="en-US" altLang="ko-KR" sz="1100" dirty="0">
                <a:effectLst/>
              </a:rPr>
              <a:t>())</a:t>
            </a:r>
            <a:r>
              <a:rPr lang="en-US" altLang="ko-KR" sz="1100" dirty="0"/>
              <a:t> </a:t>
            </a:r>
            <a:r>
              <a:rPr lang="en-US" altLang="ko-KR" sz="1100" dirty="0">
                <a:effectLst/>
              </a:rPr>
              <a:t># 0.89 (</a:t>
            </a:r>
            <a:r>
              <a:rPr lang="ko-KR" altLang="en-US" sz="1100" dirty="0">
                <a:effectLst/>
              </a:rPr>
              <a:t>높음</a:t>
            </a:r>
            <a:r>
              <a:rPr lang="en-US" altLang="ko-KR" sz="1100" dirty="0">
                <a:effectLst/>
              </a:rPr>
              <a:t>)</a:t>
            </a:r>
            <a:r>
              <a:rPr lang="ko-KR" altLang="en-US" sz="1100" dirty="0"/>
              <a:t> </a:t>
            </a:r>
            <a:r>
              <a:rPr lang="en-US" altLang="ko-KR" sz="1100" dirty="0">
                <a:effectLst/>
              </a:rPr>
              <a:t>print(</a:t>
            </a:r>
            <a:r>
              <a:rPr lang="en-US" altLang="ko-KR" sz="1100" dirty="0" err="1"/>
              <a:t>util</a:t>
            </a:r>
            <a:r>
              <a:rPr lang="en-US" altLang="ko-KR" sz="1100" dirty="0" err="1">
                <a:effectLst/>
              </a:rPr>
              <a:t>.</a:t>
            </a:r>
            <a:r>
              <a:rPr lang="en-US" altLang="ko-KR" sz="1100" dirty="0" err="1"/>
              <a:t>cos_sim</a:t>
            </a:r>
            <a:r>
              <a:rPr lang="en-US" altLang="ko-KR" sz="1100" dirty="0">
                <a:effectLst/>
              </a:rPr>
              <a:t>(</a:t>
            </a:r>
            <a:r>
              <a:rPr lang="en-US" altLang="ko-KR" sz="1100" dirty="0" err="1"/>
              <a:t>emb</a:t>
            </a:r>
            <a:r>
              <a:rPr lang="en-US" altLang="ko-KR" sz="1100" dirty="0">
                <a:effectLst/>
              </a:rPr>
              <a:t>[0],</a:t>
            </a:r>
            <a:r>
              <a:rPr lang="en-US" altLang="ko-KR" sz="1100" dirty="0"/>
              <a:t> </a:t>
            </a:r>
            <a:r>
              <a:rPr lang="en-US" altLang="ko-KR" sz="1100" dirty="0" err="1"/>
              <a:t>emb</a:t>
            </a:r>
            <a:r>
              <a:rPr lang="en-US" altLang="ko-KR" sz="1100" dirty="0">
                <a:effectLst/>
              </a:rPr>
              <a:t>[2]).</a:t>
            </a:r>
            <a:r>
              <a:rPr lang="en-US" altLang="ko-KR" sz="1100" dirty="0"/>
              <a:t>item</a:t>
            </a:r>
            <a:r>
              <a:rPr lang="en-US" altLang="ko-KR" sz="1100" dirty="0">
                <a:effectLst/>
              </a:rPr>
              <a:t>())</a:t>
            </a:r>
            <a:r>
              <a:rPr lang="en-US" altLang="ko-KR" sz="1100" dirty="0"/>
              <a:t> </a:t>
            </a:r>
            <a:r>
              <a:rPr lang="en-US" altLang="ko-KR" sz="1100" dirty="0">
                <a:effectLst/>
              </a:rPr>
              <a:t># 0.12 (</a:t>
            </a:r>
            <a:r>
              <a:rPr lang="ko-KR" altLang="en-US" sz="1100" dirty="0">
                <a:effectLst/>
              </a:rPr>
              <a:t>낮음</a:t>
            </a:r>
            <a:r>
              <a:rPr lang="en-US" altLang="ko-KR" sz="1100" dirty="0">
                <a:effectLst/>
              </a:rPr>
              <a:t>)</a:t>
            </a:r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158023147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0F2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2B3A67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09728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Transformer 기반 모델의 활용 분야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57200" y="1005840"/>
            <a:ext cx="384048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6350">
            <a:solidFill>
              <a:srgbClr val="D8DCE3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94360" y="1143000"/>
            <a:ext cx="320040" cy="320040"/>
          </a:xfrm>
          <a:prstGeom prst="ellipse">
            <a:avLst/>
          </a:prstGeom>
          <a:solidFill>
            <a:srgbClr val="2B3A67"/>
          </a:solidFill>
          <a:ln/>
        </p:spPr>
      </p:sp>
      <p:sp>
        <p:nvSpPr>
          <p:cNvPr id="7" name="Text 5"/>
          <p:cNvSpPr/>
          <p:nvPr/>
        </p:nvSpPr>
        <p:spPr>
          <a:xfrm>
            <a:off x="594360" y="114300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005840" y="1115568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자연어 처리 (NLP)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40080" y="1481328"/>
            <a:ext cx="34747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기계 번역: 다국어 자동 번역</a:t>
            </a:r>
            <a:endParaRPr lang="en-US" sz="10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감정 분석: 텍스트 감성 판별</a:t>
            </a:r>
            <a:endParaRPr lang="en-US" sz="10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질의 응답: 문맥에서 답변 추출</a:t>
            </a:r>
            <a:endParaRPr lang="en-US" sz="10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텍스트 요약: 긴 문서 자동 요약</a:t>
            </a:r>
            <a:endParaRPr lang="en-US" sz="10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개체명 인식: 인물/장소/기관 추출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617720" y="1005840"/>
            <a:ext cx="384048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6350">
            <a:solidFill>
              <a:srgbClr val="D8DCE3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754880" y="1143000"/>
            <a:ext cx="320040" cy="320040"/>
          </a:xfrm>
          <a:prstGeom prst="ellipse">
            <a:avLst/>
          </a:prstGeom>
          <a:solidFill>
            <a:srgbClr val="2B3A67"/>
          </a:solidFill>
          <a:ln/>
        </p:spPr>
      </p:sp>
      <p:sp>
        <p:nvSpPr>
          <p:cNvPr id="12" name="Text 10"/>
          <p:cNvSpPr/>
          <p:nvPr/>
        </p:nvSpPr>
        <p:spPr>
          <a:xfrm>
            <a:off x="4754880" y="114300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166360" y="1115568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컴퓨터 비전 (Vision)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800600" y="1481328"/>
            <a:ext cx="34747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ViT: 이미지 분류 (Part 2 참조)</a:t>
            </a:r>
            <a:endParaRPr lang="en-US" sz="10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DETR: 객체 탐지</a:t>
            </a:r>
            <a:endParaRPr lang="en-US" sz="10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SegFormer: 이미지 세분화</a:t>
            </a:r>
            <a:endParaRPr lang="en-US" sz="10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Swin Transformer: 계층적 비전</a:t>
            </a:r>
            <a:endParaRPr lang="en-US" sz="10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CNN의 영역을 빠르게 침투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57200" y="3154680"/>
            <a:ext cx="384048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6350">
            <a:solidFill>
              <a:srgbClr val="D8DCE3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594360" y="3291840"/>
            <a:ext cx="320040" cy="320040"/>
          </a:xfrm>
          <a:prstGeom prst="ellipse">
            <a:avLst/>
          </a:prstGeom>
          <a:solidFill>
            <a:srgbClr val="2B3A67"/>
          </a:solidFill>
          <a:ln/>
        </p:spPr>
      </p:sp>
      <p:sp>
        <p:nvSpPr>
          <p:cNvPr id="17" name="Text 15"/>
          <p:cNvSpPr/>
          <p:nvPr/>
        </p:nvSpPr>
        <p:spPr>
          <a:xfrm>
            <a:off x="594360" y="329184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005840" y="3264408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미디어/저널리즘 연구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40080" y="3630168"/>
            <a:ext cx="34747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BERT로 뉴스 감정 분석</a:t>
            </a:r>
            <a:endParaRPr lang="en-US" sz="10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가짜 뉴스 탐지</a:t>
            </a:r>
            <a:endParaRPr lang="en-US" sz="10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뉴스 기사 자동 분류</a:t>
            </a:r>
            <a:endParaRPr lang="en-US" sz="10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정보원 추출 및 분석</a:t>
            </a:r>
            <a:endParaRPr lang="en-US" sz="10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프레이밍 분석 자동화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617720" y="3154680"/>
            <a:ext cx="384048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6350">
            <a:solidFill>
              <a:srgbClr val="D8DCE3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754880" y="3291840"/>
            <a:ext cx="320040" cy="320040"/>
          </a:xfrm>
          <a:prstGeom prst="ellipse">
            <a:avLst/>
          </a:prstGeom>
          <a:solidFill>
            <a:srgbClr val="2B3A67"/>
          </a:solidFill>
          <a:ln/>
        </p:spPr>
      </p:sp>
      <p:sp>
        <p:nvSpPr>
          <p:cNvPr id="22" name="Text 20"/>
          <p:cNvSpPr/>
          <p:nvPr/>
        </p:nvSpPr>
        <p:spPr>
          <a:xfrm>
            <a:off x="4754880" y="329184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166360" y="3264408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멀티모달 AI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800600" y="3630168"/>
            <a:ext cx="34747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텍스트 + 이미지 통합 처리</a:t>
            </a:r>
            <a:endParaRPr lang="en-US" sz="10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CLIP: 텍스트-이미지 연결</a:t>
            </a:r>
            <a:endParaRPr lang="en-US" sz="10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DALL-E: 텍스트에서 이미지 생성</a:t>
            </a:r>
            <a:endParaRPr lang="en-US" sz="10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Flamingo: 시각-언어 모델</a:t>
            </a:r>
            <a:endParaRPr lang="en-US" sz="10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Transformer가 핵심 구조</a:t>
            </a:r>
            <a:endParaRPr lang="en-US" sz="10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0F2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2B3A67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09728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핵심 </a:t>
            </a:r>
            <a:r>
              <a:rPr lang="en-US" sz="2400" b="1" dirty="0" err="1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용어</a:t>
            </a:r>
            <a:r>
              <a:rPr lang="en-US" sz="2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 </a:t>
            </a:r>
            <a:r>
              <a:rPr lang="en-US" sz="2400" b="1" dirty="0" err="1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정리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57200" y="1005840"/>
            <a:ext cx="8229600" cy="3749040"/>
          </a:xfrm>
          <a:prstGeom prst="roundRect">
            <a:avLst>
              <a:gd name="adj" fmla="val 1951"/>
            </a:avLst>
          </a:prstGeom>
          <a:solidFill>
            <a:srgbClr val="FFFFFF"/>
          </a:solidFill>
          <a:ln w="6350">
            <a:solidFill>
              <a:srgbClr val="D8DCE3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46599821"/>
              </p:ext>
            </p:extLst>
          </p:nvPr>
        </p:nvGraphicFramePr>
        <p:xfrm>
          <a:off x="640080" y="1188720"/>
          <a:ext cx="7778056" cy="3154680"/>
        </p:xfrm>
        <a:graphic>
          <a:graphicData uri="http://schemas.openxmlformats.org/drawingml/2006/table">
            <a:tbl>
              <a:tblPr/>
              <a:tblGrid>
                <a:gridCol w="1447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2715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038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용어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3A6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설명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3A6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비유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3A6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Self-Attention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한 문장 내 모든 단어 쌍의 관련성 계산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학생이 자기 노트의 모든 내용을 상호 참조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Multi-Head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여러 관점에서 동시에 어텐션 계산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8명이 같은 글을 각자 다른 관점에서 분석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Q, K, V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질문(Query), 열쇠(Key), 값(Value)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도서관에서 질문으로 책(Key)을 찾아 내용(V) 확인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Positional Encoding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단어의 순서 정보를 임베딩에 추가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책의 페이지 번호를 내용에 표시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Add &amp; Norm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잔차 연결 + 레이어 정규화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새 내용을 배울 때 기존 지식도 함께 유지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Masked Attention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미래 단어를 보지 못하게 마스킹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시험 중 다음 문제 미리보기 방지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MLM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빈칸 채우기 학습 (BERT)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빈칸 뚫린 문장 완성하기 시험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NSP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다음 문장 예측 학습 (BERT)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두 문장이 이어지는지 판단하는 독해 문제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Fine-tuning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사전학습 모델을 특정 과제에 맞게 조정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D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일반 교육 받은 학생이 전공 과목 심화 학습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844</TotalTime>
  <Words>3110</Words>
  <Application>Microsoft Office PowerPoint</Application>
  <PresentationFormat>화면 슬라이드 쇼(16:9)</PresentationFormat>
  <Paragraphs>490</Paragraphs>
  <Slides>23</Slides>
  <Notes>22</Notes>
  <HiddenSlides>0</HiddenSlides>
  <MMClips>0</MMClips>
  <ScaleCrop>false</ScaleCrop>
  <HeadingPairs>
    <vt:vector size="6" baseType="variant">
      <vt:variant>
        <vt:lpstr>사용한 글꼴</vt:lpstr>
      </vt:variant>
      <vt:variant>
        <vt:i4>8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23</vt:i4>
      </vt:variant>
    </vt:vector>
  </HeadingPairs>
  <TitlesOfParts>
    <vt:vector size="32" baseType="lpstr">
      <vt:lpstr>Söhne</vt:lpstr>
      <vt:lpstr>맑은 고딕</vt:lpstr>
      <vt:lpstr>Arial</vt:lpstr>
      <vt:lpstr>Arial Black</vt:lpstr>
      <vt:lpstr>Calibri</vt:lpstr>
      <vt:lpstr>Calibri Light</vt:lpstr>
      <vt:lpstr>Consolas</vt:lpstr>
      <vt:lpstr>Trebuchet MS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셀프어텐션(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Transformer와 BERT</dc:title>
  <dc:subject>PptxGenJS Presentation</dc:subject>
  <dc:creator>이종혁</dc:creator>
  <cp:lastModifiedBy>jh</cp:lastModifiedBy>
  <cp:revision>29</cp:revision>
  <dcterms:created xsi:type="dcterms:W3CDTF">2026-04-05T07:12:17Z</dcterms:created>
  <dcterms:modified xsi:type="dcterms:W3CDTF">2026-04-14T13:51:46Z</dcterms:modified>
</cp:coreProperties>
</file>