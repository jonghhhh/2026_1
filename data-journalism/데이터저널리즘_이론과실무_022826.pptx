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2586" autoAdjust="0"/>
  </p:normalViewPr>
  <p:slideViewPr>
    <p:cSldViewPr snapToGrid="0" snapToObjects="1">
      <p:cViewPr varScale="1">
        <p:scale>
          <a:sx n="134" d="100"/>
          <a:sy n="134" d="100"/>
        </p:scale>
        <p:origin x="1075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1210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b="1" dirty="0"/>
              <a:t>1. CBS, UNIVAC </a:t>
            </a:r>
            <a:r>
              <a:rPr lang="ko-KR" altLang="en-US" b="1" dirty="0"/>
              <a:t>컴퓨터로 미 대선 예측 </a:t>
            </a:r>
            <a:r>
              <a:rPr lang="en-US" altLang="ko-KR" b="1" dirty="0"/>
              <a:t>(1952)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en-US" altLang="ko-KR" dirty="0"/>
              <a:t>CBS</a:t>
            </a:r>
            <a:r>
              <a:rPr lang="ko-KR" altLang="en-US" dirty="0"/>
              <a:t>는 개표 초반 일부 지역 데이터만을 입력해</a:t>
            </a:r>
            <a:r>
              <a:rPr lang="en-US" altLang="ko-KR" dirty="0"/>
              <a:t>, </a:t>
            </a:r>
            <a:r>
              <a:rPr lang="ko-KR" altLang="en-US" dirty="0"/>
              <a:t>컴퓨터</a:t>
            </a:r>
            <a:r>
              <a:rPr lang="en-US" altLang="ko-KR" dirty="0"/>
              <a:t>(UNIVAC I)</a:t>
            </a:r>
            <a:r>
              <a:rPr lang="ko-KR" altLang="en-US" dirty="0"/>
              <a:t>가 전체 선거 결과를 확률적으로 예측하도록 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구체적 의미</a:t>
            </a:r>
            <a:br>
              <a:rPr lang="ko-KR" altLang="en-US" dirty="0"/>
            </a:br>
            <a:r>
              <a:rPr lang="ko-KR" altLang="en-US" dirty="0"/>
              <a:t>당시 다수 언론과 전문가들은 접전 또는 민주당 승리를 예상했지만</a:t>
            </a:r>
            <a:r>
              <a:rPr lang="en-US" altLang="ko-KR" dirty="0"/>
              <a:t>, </a:t>
            </a:r>
            <a:r>
              <a:rPr lang="ko-KR" altLang="en-US" dirty="0"/>
              <a:t>컴퓨터는 아이젠하워의 압승을 예측했다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중요한 전환점</a:t>
            </a:r>
            <a:br>
              <a:rPr lang="ko-KR" altLang="en-US" dirty="0"/>
            </a:br>
            <a:r>
              <a:rPr lang="ko-KR" altLang="en-US" dirty="0"/>
              <a:t>인간의 직관</a:t>
            </a:r>
            <a:r>
              <a:rPr lang="en-US" altLang="ko-KR" dirty="0"/>
              <a:t>·</a:t>
            </a:r>
            <a:r>
              <a:rPr lang="ko-KR" altLang="en-US" dirty="0"/>
              <a:t>현장 감각보다 </a:t>
            </a:r>
            <a:r>
              <a:rPr lang="ko-KR" altLang="en-US" b="1" dirty="0"/>
              <a:t>표본 데이터 기반 통계 모델이 더 정확할 수 있음</a:t>
            </a:r>
            <a:r>
              <a:rPr lang="ko-KR" altLang="en-US" dirty="0"/>
              <a:t>을 보여줌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저널리즘에서 “</a:t>
            </a:r>
            <a:r>
              <a:rPr lang="ko-KR" altLang="en-US" dirty="0" err="1"/>
              <a:t>계산”이</a:t>
            </a:r>
            <a:r>
              <a:rPr lang="ko-KR" altLang="en-US" dirty="0"/>
              <a:t> 판단을 바꾼 첫 사례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2. </a:t>
            </a:r>
            <a:r>
              <a:rPr lang="ko-KR" altLang="en-US" b="1" dirty="0"/>
              <a:t>필립 </a:t>
            </a:r>
            <a:r>
              <a:rPr lang="ko-KR" altLang="en-US" b="1" dirty="0" err="1"/>
              <a:t>마이어</a:t>
            </a:r>
            <a:r>
              <a:rPr lang="ko-KR" altLang="en-US" b="1" dirty="0"/>
              <a:t> </a:t>
            </a:r>
            <a:r>
              <a:rPr lang="en-US" altLang="ko-KR" b="1" dirty="0"/>
              <a:t>– </a:t>
            </a:r>
            <a:r>
              <a:rPr lang="ko-KR" altLang="en-US" b="1" dirty="0"/>
              <a:t>디트로이트 인종 폭동 보도 </a:t>
            </a:r>
            <a:r>
              <a:rPr lang="en-US" altLang="ko-KR" b="1" dirty="0"/>
              <a:t>(1967)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폭동 참여자들을 대상으로 </a:t>
            </a:r>
            <a:r>
              <a:rPr lang="ko-KR" altLang="en-US" b="1" dirty="0"/>
              <a:t>설문조사 표본을 설계</a:t>
            </a:r>
            <a:r>
              <a:rPr lang="ko-KR" altLang="en-US" dirty="0"/>
              <a:t>하고</a:t>
            </a:r>
            <a:r>
              <a:rPr lang="en-US" altLang="ko-KR" dirty="0"/>
              <a:t>, </a:t>
            </a:r>
            <a:r>
              <a:rPr lang="ko-KR" altLang="en-US" dirty="0"/>
              <a:t>통계 분석을 통해 폭동 원인을 분석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밝혀낸 것</a:t>
            </a:r>
            <a:br>
              <a:rPr lang="ko-KR" altLang="en-US" dirty="0"/>
            </a:br>
            <a:r>
              <a:rPr lang="ko-KR" altLang="en-US" dirty="0"/>
              <a:t>폭동 참가자들이 단순 범죄자가 아니라</a:t>
            </a:r>
            <a:r>
              <a:rPr lang="en-US" altLang="ko-KR" dirty="0"/>
              <a:t>, </a:t>
            </a:r>
            <a:r>
              <a:rPr lang="ko-KR" altLang="en-US" b="1" dirty="0"/>
              <a:t>상대적 박탈감과 제도적 차별을 경험한 집단</a:t>
            </a:r>
            <a:r>
              <a:rPr lang="ko-KR" altLang="en-US" dirty="0"/>
              <a:t>임을 데이터로 입증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기존 보도와 차이</a:t>
            </a:r>
            <a:br>
              <a:rPr lang="ko-KR" altLang="en-US" dirty="0"/>
            </a:br>
            <a:r>
              <a:rPr lang="ko-KR" altLang="en-US" dirty="0"/>
              <a:t>단순히 “</a:t>
            </a:r>
            <a:r>
              <a:rPr lang="ko-KR" altLang="en-US" dirty="0" err="1"/>
              <a:t>폭도”라는</a:t>
            </a:r>
            <a:r>
              <a:rPr lang="ko-KR" altLang="en-US" dirty="0"/>
              <a:t> 프레임이 아니라</a:t>
            </a:r>
            <a:r>
              <a:rPr lang="en-US" altLang="ko-KR" dirty="0"/>
              <a:t>, </a:t>
            </a:r>
            <a:r>
              <a:rPr lang="ko-KR" altLang="en-US" dirty="0"/>
              <a:t>사회구조적 요인을 계량적으로 설명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사회과학 방법론</a:t>
            </a:r>
            <a:r>
              <a:rPr lang="en-US" altLang="ko-KR" dirty="0"/>
              <a:t>(</a:t>
            </a:r>
            <a:r>
              <a:rPr lang="ko-KR" altLang="en-US" dirty="0"/>
              <a:t>표본</a:t>
            </a:r>
            <a:r>
              <a:rPr lang="en-US" altLang="ko-KR" dirty="0"/>
              <a:t>·</a:t>
            </a:r>
            <a:r>
              <a:rPr lang="ko-KR" altLang="en-US" dirty="0"/>
              <a:t>회귀</a:t>
            </a:r>
            <a:r>
              <a:rPr lang="en-US" altLang="ko-KR" dirty="0"/>
              <a:t>·</a:t>
            </a:r>
            <a:r>
              <a:rPr lang="ko-KR" altLang="en-US" dirty="0"/>
              <a:t>통계</a:t>
            </a:r>
            <a:r>
              <a:rPr lang="en-US" altLang="ko-KR" dirty="0"/>
              <a:t>)</a:t>
            </a:r>
            <a:r>
              <a:rPr lang="ko-KR" altLang="en-US" dirty="0"/>
              <a:t>이 저널리즘에 본격 도입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3. Philadelphia Inquirer </a:t>
            </a:r>
            <a:r>
              <a:rPr lang="ko-KR" altLang="en-US" b="1" dirty="0"/>
              <a:t>사법시스템 탐사보도 </a:t>
            </a:r>
            <a:r>
              <a:rPr lang="en-US" altLang="ko-KR" b="1" dirty="0"/>
              <a:t>(1972)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수천 건의 형사 판결 데이터를 수집</a:t>
            </a:r>
            <a:r>
              <a:rPr lang="en-US" altLang="ko-KR" dirty="0"/>
              <a:t>·</a:t>
            </a:r>
            <a:r>
              <a:rPr lang="ko-KR" altLang="en-US" dirty="0"/>
              <a:t>정리해 판결 패턴을 분석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밝혀낸 것</a:t>
            </a:r>
            <a:br>
              <a:rPr lang="ko-KR" altLang="en-US" dirty="0"/>
            </a:br>
            <a:r>
              <a:rPr lang="ko-KR" altLang="en-US" dirty="0"/>
              <a:t>동일 범죄라도 판사</a:t>
            </a:r>
            <a:r>
              <a:rPr lang="en-US" altLang="ko-KR" dirty="0"/>
              <a:t>·</a:t>
            </a:r>
            <a:r>
              <a:rPr lang="ko-KR" altLang="en-US" dirty="0"/>
              <a:t>지역</a:t>
            </a:r>
            <a:r>
              <a:rPr lang="en-US" altLang="ko-KR" dirty="0"/>
              <a:t>·</a:t>
            </a:r>
            <a:r>
              <a:rPr lang="ko-KR" altLang="en-US" dirty="0"/>
              <a:t>피고인 특성에 따라 형량이 체계적으로 달라지는 경향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개별 판결 사례가 아니라</a:t>
            </a:r>
            <a:r>
              <a:rPr lang="en-US" altLang="ko-KR" dirty="0"/>
              <a:t>, </a:t>
            </a:r>
            <a:r>
              <a:rPr lang="ko-KR" altLang="en-US" b="1" dirty="0"/>
              <a:t>구조적 불균형을 데이터로 가시화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데이터 분석은 ‘예외적 </a:t>
            </a:r>
            <a:r>
              <a:rPr lang="ko-KR" altLang="en-US" dirty="0" err="1"/>
              <a:t>사례’가</a:t>
            </a:r>
            <a:r>
              <a:rPr lang="ko-KR" altLang="en-US" dirty="0"/>
              <a:t> 아닌 ‘체계적 </a:t>
            </a:r>
            <a:r>
              <a:rPr lang="ko-KR" altLang="en-US" dirty="0" err="1"/>
              <a:t>경향’을</a:t>
            </a:r>
            <a:r>
              <a:rPr lang="ko-KR" altLang="en-US" dirty="0"/>
              <a:t> 드러낸다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4. Atlanta Journal-Constitution </a:t>
            </a:r>
            <a:r>
              <a:rPr lang="ko-KR" altLang="en-US" b="1" dirty="0"/>
              <a:t>은행 대출 인종차별 보도 </a:t>
            </a:r>
            <a:r>
              <a:rPr lang="en-US" altLang="ko-KR" b="1" dirty="0"/>
              <a:t>(1988)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은행 대출 승인</a:t>
            </a:r>
            <a:r>
              <a:rPr lang="en-US" altLang="ko-KR" dirty="0"/>
              <a:t>·</a:t>
            </a:r>
            <a:r>
              <a:rPr lang="ko-KR" altLang="en-US" dirty="0"/>
              <a:t>거절 데이터를 인종</a:t>
            </a:r>
            <a:r>
              <a:rPr lang="en-US" altLang="ko-KR" dirty="0"/>
              <a:t>·</a:t>
            </a:r>
            <a:r>
              <a:rPr lang="ko-KR" altLang="en-US" dirty="0"/>
              <a:t>지역별로 분석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밝혀낸 것</a:t>
            </a:r>
            <a:br>
              <a:rPr lang="ko-KR" altLang="en-US" dirty="0"/>
            </a:br>
            <a:r>
              <a:rPr lang="ko-KR" altLang="en-US" dirty="0"/>
              <a:t>소득 수준이 유사해도 흑인 거주 지역은 대출 승인율이 현저히 낮음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파급효과</a:t>
            </a:r>
            <a:br>
              <a:rPr lang="ko-KR" altLang="en-US" dirty="0"/>
            </a:br>
            <a:r>
              <a:rPr lang="ko-KR" altLang="en-US" dirty="0"/>
              <a:t>은행 정책 수정 및 제도 개선 논의 촉발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차별은 발언이 아니라 </a:t>
            </a:r>
            <a:r>
              <a:rPr lang="ko-KR" altLang="en-US" b="1" dirty="0"/>
              <a:t>통계적 패턴으로 증명될 수 있다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5. NICAR </a:t>
            </a:r>
            <a:r>
              <a:rPr lang="ko-KR" altLang="en-US" b="1" dirty="0"/>
              <a:t>설립 </a:t>
            </a:r>
            <a:r>
              <a:rPr lang="en-US" altLang="ko-KR" b="1" dirty="0"/>
              <a:t>(1989)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기자들에게 스프레드시트</a:t>
            </a:r>
            <a:r>
              <a:rPr lang="en-US" altLang="ko-KR" dirty="0"/>
              <a:t>, </a:t>
            </a:r>
            <a:r>
              <a:rPr lang="ko-KR" altLang="en-US" dirty="0"/>
              <a:t>데이터베이스</a:t>
            </a:r>
            <a:r>
              <a:rPr lang="en-US" altLang="ko-KR" dirty="0"/>
              <a:t>, </a:t>
            </a:r>
            <a:r>
              <a:rPr lang="ko-KR" altLang="en-US" dirty="0"/>
              <a:t>통계 분석 교육 제공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구체적 영향</a:t>
            </a:r>
            <a:br>
              <a:rPr lang="ko-KR" altLang="en-US" dirty="0"/>
            </a:br>
            <a:r>
              <a:rPr lang="ko-KR" altLang="en-US" dirty="0"/>
              <a:t>데이터 기반 탐사보도 사례를 체계적으로 공유하고 확산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데이터 활용이 “개별 기자의 </a:t>
            </a:r>
            <a:r>
              <a:rPr lang="ko-KR" altLang="en-US" dirty="0" err="1"/>
              <a:t>능력”이</a:t>
            </a:r>
            <a:r>
              <a:rPr lang="ko-KR" altLang="en-US" dirty="0"/>
              <a:t> 아니라 </a:t>
            </a:r>
            <a:r>
              <a:rPr lang="ko-KR" altLang="en-US" b="1" dirty="0"/>
              <a:t>직업적 표준 역량</a:t>
            </a:r>
            <a:r>
              <a:rPr lang="ko-KR" altLang="en-US" dirty="0"/>
              <a:t>으로 전환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데이터저널리즘의 제도화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6. </a:t>
            </a:r>
            <a:r>
              <a:rPr lang="ko-KR" altLang="en-US" b="1" dirty="0"/>
              <a:t>제민일보 </a:t>
            </a:r>
            <a:r>
              <a:rPr lang="en-US" altLang="ko-KR" b="1" dirty="0"/>
              <a:t>4.3 </a:t>
            </a:r>
            <a:r>
              <a:rPr lang="ko-KR" altLang="en-US" b="1" dirty="0"/>
              <a:t>사건 보도 </a:t>
            </a:r>
            <a:r>
              <a:rPr lang="en-US" altLang="ko-KR" b="1" dirty="0"/>
              <a:t>(1990</a:t>
            </a:r>
            <a:r>
              <a:rPr lang="ko-KR" altLang="en-US" b="1" dirty="0"/>
              <a:t>년대 초</a:t>
            </a:r>
            <a:r>
              <a:rPr lang="en-US" altLang="ko-KR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군</a:t>
            </a:r>
            <a:r>
              <a:rPr lang="en-US" altLang="ko-KR" dirty="0"/>
              <a:t>·</a:t>
            </a:r>
            <a:r>
              <a:rPr lang="ko-KR" altLang="en-US" dirty="0"/>
              <a:t>경 기록</a:t>
            </a:r>
            <a:r>
              <a:rPr lang="en-US" altLang="ko-KR" dirty="0"/>
              <a:t>, </a:t>
            </a:r>
            <a:r>
              <a:rPr lang="ko-KR" altLang="en-US" dirty="0"/>
              <a:t>증언 자료</a:t>
            </a:r>
            <a:r>
              <a:rPr lang="en-US" altLang="ko-KR" dirty="0"/>
              <a:t>, </a:t>
            </a:r>
            <a:r>
              <a:rPr lang="ko-KR" altLang="en-US" dirty="0"/>
              <a:t>사망자 명단 등을 교차 확인하며 사건의 실체를 재구성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밝혀낸 것</a:t>
            </a:r>
            <a:br>
              <a:rPr lang="ko-KR" altLang="en-US" dirty="0"/>
            </a:br>
            <a:r>
              <a:rPr lang="ko-KR" altLang="en-US" dirty="0"/>
              <a:t>단순 폭동이 아니라</a:t>
            </a:r>
            <a:r>
              <a:rPr lang="en-US" altLang="ko-KR" dirty="0"/>
              <a:t>, </a:t>
            </a:r>
            <a:r>
              <a:rPr lang="ko-KR" altLang="en-US" dirty="0"/>
              <a:t>국가권력에 의한 민간인 대규모 희생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기록과 자료 분석을 통해 왜곡된 역사 서사를 수정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데이터는 </a:t>
            </a:r>
            <a:r>
              <a:rPr lang="ko-KR" altLang="en-US" dirty="0" err="1"/>
              <a:t>숫자뿐</a:t>
            </a:r>
            <a:r>
              <a:rPr lang="ko-KR" altLang="en-US" dirty="0"/>
              <a:t> 아니라</a:t>
            </a:r>
            <a:r>
              <a:rPr lang="en-US" altLang="ko-KR" dirty="0"/>
              <a:t>, </a:t>
            </a:r>
            <a:r>
              <a:rPr lang="ko-KR" altLang="en-US" b="1" dirty="0"/>
              <a:t>문서</a:t>
            </a:r>
            <a:r>
              <a:rPr lang="en-US" altLang="ko-KR" b="1" dirty="0"/>
              <a:t>·</a:t>
            </a:r>
            <a:r>
              <a:rPr lang="ko-KR" altLang="en-US" b="1" dirty="0"/>
              <a:t>아카이브</a:t>
            </a:r>
            <a:r>
              <a:rPr lang="en-US" altLang="ko-KR" b="1" dirty="0"/>
              <a:t>·</a:t>
            </a:r>
            <a:r>
              <a:rPr lang="ko-KR" altLang="en-US" b="1" dirty="0"/>
              <a:t>기록의 체계적 분석</a:t>
            </a:r>
            <a:r>
              <a:rPr lang="ko-KR" altLang="en-US" dirty="0"/>
              <a:t>을 포함한다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7. </a:t>
            </a:r>
            <a:r>
              <a:rPr lang="ko-KR" altLang="en-US" b="1" dirty="0"/>
              <a:t>동아일보 </a:t>
            </a:r>
            <a:r>
              <a:rPr lang="en-US" altLang="ko-KR" b="1" dirty="0"/>
              <a:t>&lt;</a:t>
            </a:r>
            <a:r>
              <a:rPr lang="ko-KR" altLang="en-US" b="1" dirty="0"/>
              <a:t>정권 따라 검찰 요직 춤 췄다</a:t>
            </a:r>
            <a:r>
              <a:rPr lang="en-US" altLang="ko-KR" b="1" dirty="0"/>
              <a:t>&gt; (2000)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검찰 간부 인사 이동 데이터를 정권별로 정리</a:t>
            </a:r>
            <a:r>
              <a:rPr lang="en-US" altLang="ko-KR" dirty="0"/>
              <a:t>·</a:t>
            </a:r>
            <a:r>
              <a:rPr lang="ko-KR" altLang="en-US" dirty="0"/>
              <a:t>비교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밝혀낸 것</a:t>
            </a:r>
            <a:br>
              <a:rPr lang="ko-KR" altLang="en-US" dirty="0"/>
            </a:br>
            <a:r>
              <a:rPr lang="ko-KR" altLang="en-US" dirty="0"/>
              <a:t>정권 교체 시 특정 라인의 검사들이 주요 보직을 차지하는 패턴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인사 데이터를 통해 </a:t>
            </a:r>
            <a:r>
              <a:rPr lang="ko-KR" altLang="en-US" b="1" dirty="0"/>
              <a:t>정치권력과 사정기관의 구조적 연결성</a:t>
            </a:r>
            <a:r>
              <a:rPr lang="ko-KR" altLang="en-US" dirty="0"/>
              <a:t>을 시각화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권력의 흐름은 인사 데이터에 흔적으로 남는다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8. KBS </a:t>
            </a:r>
            <a:r>
              <a:rPr lang="ko-KR" altLang="en-US" b="1" dirty="0"/>
              <a:t>탐사보도팀 </a:t>
            </a:r>
            <a:r>
              <a:rPr lang="en-US" altLang="ko-KR" b="1" dirty="0"/>
              <a:t>&lt;</a:t>
            </a:r>
            <a:r>
              <a:rPr lang="ko-KR" altLang="en-US" b="1" dirty="0"/>
              <a:t>법은 평등한가</a:t>
            </a:r>
            <a:r>
              <a:rPr lang="en-US" altLang="ko-KR" b="1" dirty="0"/>
              <a:t>&gt; (2005~2006)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했는가</a:t>
            </a:r>
            <a:br>
              <a:rPr lang="ko-KR" altLang="en-US" dirty="0"/>
            </a:br>
            <a:r>
              <a:rPr lang="ko-KR" altLang="en-US" dirty="0"/>
              <a:t>특정 범죄 유형</a:t>
            </a:r>
            <a:r>
              <a:rPr lang="en-US" altLang="ko-KR" dirty="0"/>
              <a:t>(</a:t>
            </a:r>
            <a:r>
              <a:rPr lang="ko-KR" altLang="en-US" dirty="0"/>
              <a:t>예</a:t>
            </a:r>
            <a:r>
              <a:rPr lang="en-US" altLang="ko-KR" dirty="0"/>
              <a:t>: </a:t>
            </a:r>
            <a:r>
              <a:rPr lang="ko-KR" altLang="en-US" dirty="0"/>
              <a:t>음주운전</a:t>
            </a:r>
            <a:r>
              <a:rPr lang="en-US" altLang="ko-KR" dirty="0"/>
              <a:t>, </a:t>
            </a:r>
            <a:r>
              <a:rPr lang="ko-KR" altLang="en-US" dirty="0"/>
              <a:t>횡령</a:t>
            </a:r>
            <a:r>
              <a:rPr lang="en-US" altLang="ko-KR" dirty="0"/>
              <a:t>, </a:t>
            </a:r>
            <a:r>
              <a:rPr lang="ko-KR" altLang="en-US" dirty="0"/>
              <a:t>배임 등</a:t>
            </a:r>
            <a:r>
              <a:rPr lang="en-US" altLang="ko-KR" dirty="0"/>
              <a:t>)</a:t>
            </a:r>
            <a:r>
              <a:rPr lang="ko-KR" altLang="en-US" dirty="0"/>
              <a:t>에 대한 판결문 수천 건을 수집해</a:t>
            </a:r>
            <a:br>
              <a:rPr lang="ko-KR" altLang="en-US" dirty="0"/>
            </a:br>
            <a:r>
              <a:rPr lang="ko-KR" altLang="en-US" dirty="0"/>
              <a:t>▸ 피고인의 직업</a:t>
            </a:r>
            <a:r>
              <a:rPr lang="en-US" altLang="ko-KR" dirty="0"/>
              <a:t>·</a:t>
            </a:r>
            <a:r>
              <a:rPr lang="ko-KR" altLang="en-US" dirty="0"/>
              <a:t>사회적 지위</a:t>
            </a:r>
            <a:br>
              <a:rPr lang="ko-KR" altLang="en-US" dirty="0"/>
            </a:br>
            <a:r>
              <a:rPr lang="ko-KR" altLang="en-US" dirty="0"/>
              <a:t>▸ 변호인 선임 여부</a:t>
            </a:r>
            <a:br>
              <a:rPr lang="ko-KR" altLang="en-US" dirty="0"/>
            </a:br>
            <a:r>
              <a:rPr lang="ko-KR" altLang="en-US" dirty="0"/>
              <a:t>▸ 초범 여부</a:t>
            </a:r>
            <a:br>
              <a:rPr lang="ko-KR" altLang="en-US" dirty="0"/>
            </a:br>
            <a:r>
              <a:rPr lang="ko-KR" altLang="en-US" dirty="0"/>
              <a:t>▸ 피해 규모</a:t>
            </a:r>
            <a:br>
              <a:rPr lang="ko-KR" altLang="en-US" dirty="0"/>
            </a:br>
            <a:r>
              <a:rPr lang="ko-KR" altLang="en-US" dirty="0"/>
              <a:t>등을 변수로 정리하여 형량 차이를 비교 분석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밝혀낸 것</a:t>
            </a:r>
            <a:br>
              <a:rPr lang="ko-KR" altLang="en-US" dirty="0"/>
            </a:br>
            <a:r>
              <a:rPr lang="ko-KR" altLang="en-US" dirty="0"/>
              <a:t>동일</a:t>
            </a:r>
            <a:r>
              <a:rPr lang="en-US" altLang="ko-KR" dirty="0"/>
              <a:t>·</a:t>
            </a:r>
            <a:r>
              <a:rPr lang="ko-KR" altLang="en-US" dirty="0"/>
              <a:t>유사 범죄라도 피고인의 사회적 지위나 경제적 조건에 따라</a:t>
            </a:r>
            <a:br>
              <a:rPr lang="ko-KR" altLang="en-US" dirty="0"/>
            </a:br>
            <a:r>
              <a:rPr lang="ko-KR" altLang="en-US" dirty="0"/>
              <a:t>집행유예 비율</a:t>
            </a:r>
            <a:r>
              <a:rPr lang="en-US" altLang="ko-KR" dirty="0"/>
              <a:t>, </a:t>
            </a:r>
            <a:r>
              <a:rPr lang="ko-KR" altLang="en-US" dirty="0"/>
              <a:t>실형 선고 비율</a:t>
            </a:r>
            <a:r>
              <a:rPr lang="en-US" altLang="ko-KR" dirty="0"/>
              <a:t>, </a:t>
            </a:r>
            <a:r>
              <a:rPr lang="ko-KR" altLang="en-US" dirty="0"/>
              <a:t>벌금 수준에 유의미한 차이가 나타남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“법 앞의 </a:t>
            </a:r>
            <a:r>
              <a:rPr lang="ko-KR" altLang="en-US" dirty="0" err="1"/>
              <a:t>평등”이라는</a:t>
            </a:r>
            <a:r>
              <a:rPr lang="ko-KR" altLang="en-US" dirty="0"/>
              <a:t> 원칙을 구호 차원이 아니라</a:t>
            </a:r>
            <a:br>
              <a:rPr lang="ko-KR" altLang="en-US" dirty="0"/>
            </a:br>
            <a:r>
              <a:rPr lang="ko-KR" altLang="en-US" b="1" dirty="0"/>
              <a:t>판결 데이터의 계량적 비교를 통해 검증 시도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방송 저널리즘에서도 판결문 데이터베이스 구축과 통계 분석이 가능해짐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9. 2010</a:t>
            </a:r>
            <a:r>
              <a:rPr lang="ko-KR" altLang="en-US" b="1" dirty="0"/>
              <a:t>년대 </a:t>
            </a:r>
            <a:r>
              <a:rPr lang="en-US" altLang="ko-KR" b="1" dirty="0"/>
              <a:t>– </a:t>
            </a:r>
            <a:r>
              <a:rPr lang="ko-KR" altLang="en-US" b="1" dirty="0" err="1"/>
              <a:t>뉴스룸</a:t>
            </a:r>
            <a:r>
              <a:rPr lang="ko-KR" altLang="en-US" b="1" dirty="0"/>
              <a:t> 데이터팀 구축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무엇이 달라졌는가</a:t>
            </a: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Python, R, SQL </a:t>
            </a:r>
            <a:r>
              <a:rPr lang="ko-KR" altLang="en-US" dirty="0"/>
              <a:t>활용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크롤링</a:t>
            </a:r>
            <a:r>
              <a:rPr lang="en-US" altLang="ko-KR" dirty="0"/>
              <a:t>, </a:t>
            </a:r>
            <a:r>
              <a:rPr lang="ko-KR" altLang="en-US" dirty="0"/>
              <a:t>데이터 정제</a:t>
            </a:r>
            <a:r>
              <a:rPr lang="en-US" altLang="ko-KR" dirty="0"/>
              <a:t>, </a:t>
            </a:r>
            <a:r>
              <a:rPr lang="ko-KR" altLang="en-US" dirty="0"/>
              <a:t>시각화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인터랙티브 그래픽 제작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구체적 사례 유형</a:t>
            </a: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선거 득표율 실시간 분석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미세먼지</a:t>
            </a:r>
            <a:r>
              <a:rPr lang="en-US" altLang="ko-KR" dirty="0"/>
              <a:t>·</a:t>
            </a:r>
            <a:r>
              <a:rPr lang="ko-KR" altLang="en-US" dirty="0"/>
              <a:t>코로나 </a:t>
            </a:r>
            <a:r>
              <a:rPr lang="ko-KR" altLang="en-US" dirty="0" err="1"/>
              <a:t>확진자</a:t>
            </a:r>
            <a:r>
              <a:rPr lang="ko-KR" altLang="en-US" dirty="0"/>
              <a:t> 추이 대시보드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부동산 가격 지도 시각화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데이터 활용이 특집이 아니라 </a:t>
            </a:r>
            <a:r>
              <a:rPr lang="ko-KR" altLang="en-US" b="1" dirty="0"/>
              <a:t>상시적 뉴스 생산 체계</a:t>
            </a:r>
            <a:r>
              <a:rPr lang="ko-KR" altLang="en-US" dirty="0"/>
              <a:t>로 편입</a:t>
            </a:r>
            <a:r>
              <a:rPr lang="en-US" altLang="ko-KR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데이터저널리즘의 일상화</a:t>
            </a:r>
            <a:r>
              <a:rPr lang="en-US" altLang="ko-KR" dirty="0"/>
              <a:t>.</a:t>
            </a:r>
          </a:p>
          <a:p>
            <a:r>
              <a:rPr lang="en-US" altLang="ko-KR" b="1" dirty="0"/>
              <a:t>10. 2020</a:t>
            </a:r>
            <a:r>
              <a:rPr lang="ko-KR" altLang="en-US" b="1" dirty="0"/>
              <a:t>년대 </a:t>
            </a:r>
            <a:r>
              <a:rPr lang="en-US" altLang="ko-KR" b="1" dirty="0"/>
              <a:t>– AI·LLM </a:t>
            </a:r>
            <a:r>
              <a:rPr lang="ko-KR" altLang="en-US" b="1" dirty="0"/>
              <a:t>도입 → 에이전트 기반 저널리즘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무엇을 하고 있는가</a:t>
            </a:r>
            <a:endParaRPr lang="ko-KR" alt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판결문</a:t>
            </a:r>
            <a:r>
              <a:rPr lang="en-US" altLang="ko-KR" dirty="0"/>
              <a:t>·</a:t>
            </a:r>
            <a:r>
              <a:rPr lang="ko-KR" altLang="en-US" dirty="0"/>
              <a:t>보도자료 자동 요약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대규모 문서에서 쟁점 자동 추출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RAG </a:t>
            </a:r>
            <a:r>
              <a:rPr lang="ko-KR" altLang="en-US" dirty="0"/>
              <a:t>기반 팩트 체크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자동 기사 초안 생성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구조적 변화</a:t>
            </a:r>
            <a:br>
              <a:rPr lang="ko-KR" altLang="en-US" dirty="0"/>
            </a:br>
            <a:r>
              <a:rPr lang="ko-KR" altLang="en-US" dirty="0"/>
              <a:t>과거</a:t>
            </a:r>
            <a:r>
              <a:rPr lang="en-US" altLang="ko-KR" dirty="0"/>
              <a:t>: </a:t>
            </a:r>
            <a:r>
              <a:rPr lang="ko-KR" altLang="en-US" dirty="0"/>
              <a:t>기자가 데이터를 분석</a:t>
            </a:r>
            <a:br>
              <a:rPr lang="ko-KR" altLang="en-US" dirty="0"/>
            </a:br>
            <a:r>
              <a:rPr lang="ko-KR" altLang="en-US" dirty="0"/>
              <a:t>현재</a:t>
            </a:r>
            <a:r>
              <a:rPr lang="en-US" altLang="ko-KR" dirty="0"/>
              <a:t>: AI</a:t>
            </a:r>
            <a:r>
              <a:rPr lang="ko-KR" altLang="en-US" dirty="0"/>
              <a:t>가 </a:t>
            </a:r>
            <a:r>
              <a:rPr lang="en-US" altLang="ko-KR" dirty="0"/>
              <a:t>1</a:t>
            </a:r>
            <a:r>
              <a:rPr lang="ko-KR" altLang="en-US" dirty="0"/>
              <a:t>차 분석 → 기자가 검증</a:t>
            </a:r>
            <a:r>
              <a:rPr lang="en-US" altLang="ko-KR" dirty="0"/>
              <a:t>·</a:t>
            </a:r>
            <a:r>
              <a:rPr lang="ko-KR" altLang="en-US" dirty="0"/>
              <a:t>재구성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의미</a:t>
            </a:r>
            <a:br>
              <a:rPr lang="ko-KR" altLang="en-US" dirty="0"/>
            </a:br>
            <a:r>
              <a:rPr lang="ko-KR" altLang="en-US" dirty="0"/>
              <a:t>데이터 분석 단계를 넘어 </a:t>
            </a:r>
            <a:r>
              <a:rPr lang="ko-KR" altLang="en-US" b="1" dirty="0"/>
              <a:t>인지적 작업 일부 자동화</a:t>
            </a: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b="1" dirty="0"/>
              <a:t>강의 핵심</a:t>
            </a:r>
            <a:br>
              <a:rPr lang="ko-KR" altLang="en-US" dirty="0"/>
            </a:br>
            <a:r>
              <a:rPr lang="ko-KR" altLang="en-US" dirty="0"/>
              <a:t>→ 저널리즘은 “데이터 활용” 단계를 넘어</a:t>
            </a:r>
            <a:br>
              <a:rPr lang="ko-KR" altLang="en-US" dirty="0"/>
            </a:br>
            <a:r>
              <a:rPr lang="en-US" altLang="ko-KR" b="1" dirty="0"/>
              <a:t>AI </a:t>
            </a:r>
            <a:r>
              <a:rPr lang="ko-KR" altLang="en-US" b="1" dirty="0"/>
              <a:t>협업 구조로 진화 중</a:t>
            </a:r>
            <a:endParaRPr lang="ko-KR" altLang="en-US" dirty="0"/>
          </a:p>
          <a:p>
            <a:r>
              <a:rPr lang="ko-KR" altLang="en-US" b="1" dirty="0"/>
              <a:t>📌 전체를 관통하는 구조적 흐름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계산 도구 </a:t>
            </a:r>
            <a:r>
              <a:rPr lang="en-US" altLang="ko-KR" dirty="0"/>
              <a:t>(1950s)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통계 기반 분석 </a:t>
            </a:r>
            <a:r>
              <a:rPr lang="en-US" altLang="ko-KR" dirty="0"/>
              <a:t>(1960~80s)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구조적 불평등의 계량적 입증 </a:t>
            </a:r>
            <a:r>
              <a:rPr lang="en-US" altLang="ko-KR" dirty="0"/>
              <a:t>(1990~2000s)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뉴스 생산 체계에 데이터 통합 </a:t>
            </a:r>
            <a:r>
              <a:rPr lang="en-US" altLang="ko-KR" dirty="0"/>
              <a:t>(2010s)</a:t>
            </a:r>
          </a:p>
          <a:p>
            <a:pPr>
              <a:buFont typeface="+mj-lt"/>
              <a:buAutoNum type="arabicPeriod"/>
            </a:pPr>
            <a:r>
              <a:rPr lang="ko-KR" altLang="en-US" dirty="0"/>
              <a:t>인지적 작업 자동화 및 에이전트화 </a:t>
            </a:r>
            <a:r>
              <a:rPr lang="en-US" altLang="ko-KR" dirty="0"/>
              <a:t>(2020s)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http://datajournalismawards.kr/%ec%9e%90%eb%85%80-%ec%82%b4%ed%95%b4-%ed%9b%84-%ec%9e%90%ec%82%b4-%eb%b9%84%ea%b7%b9%ec%9d%84-%ea%b8%b0%eb%a1%9d%ed%95%98%eb%8b%a4/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jonghhhh.github.io/2026_1/datajour_source.html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satoday.com/in-depth/news/investigations/2019/04/24/usa-today-revealing-misconduct-records-police-cops/3223984002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buzzfeednews.com/article/peteraldhous/spies-in-the-skies" TargetMode="External"/><Relationship Id="rId4" Type="http://schemas.openxmlformats.org/officeDocument/2006/relationships/hyperlink" Target="https://www.propublica.org/series/prescriber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texty.org.ua/articles/112696/vovchansk-leveled-one-month-satellite-data/?utm_source=chatgpt.com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bloomberg.com/graphics/2025-ai-data-centers-electricity-prices/" TargetMode="External"/><Relationship Id="rId5" Type="http://schemas.openxmlformats.org/officeDocument/2006/relationships/hyperlink" Target="https://www.thefashionspot.com/runway-news/850787-diversity-report-fashion-magazine-covers-2019/" TargetMode="External"/><Relationship Id="rId4" Type="http://schemas.openxmlformats.org/officeDocument/2006/relationships/hyperlink" Target="https://amazonminingwatch.org/en?areaType=countries&amp;yearStart=201800&amp;yearEnd=202504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pen-contracting.org/2020/09/10/funes-the-corruption-detecting-algorithm-that-never-forgets/?utm_source=chatgpt.com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watch?v=bvnLoa9Q4hw" TargetMode="External"/><Relationship Id="rId5" Type="http://schemas.openxmlformats.org/officeDocument/2006/relationships/hyperlink" Target="https://www.washingtonpost.com/graphics/2020/world/corona-simulator/" TargetMode="External"/><Relationship Id="rId4" Type="http://schemas.openxmlformats.org/officeDocument/2006/relationships/hyperlink" Target="https://themarkup.org/citizen-browser/2021/09/21/facebook-rolls-out-news-feed-change-that-blocks-watchdogs-from-gathering-data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newstapa.org/article/-3Rm2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datajournalismawards.kr/award_list/" TargetMode="External"/><Relationship Id="rId4" Type="http://schemas.openxmlformats.org/officeDocument/2006/relationships/hyperlink" Target="https://www.joongang.co.kr/digitalspecial/298" TargetMode="Externa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jn.org/topic/data-journalism-top-10/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jonghhhh.github.io/test/journalism_ai.html" TargetMode="Externa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데이터저널리즘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이론과 실무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3108960"/>
            <a:ext cx="1828800" cy="36576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 교수)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749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Spring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저널리즘의 개념과 역사</a:t>
            </a:r>
            <a:endParaRPr lang="en-US" sz="3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1. 개념과 역사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저널리즘이란?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개념 정의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"데이터를 수집하고(collecting), 분석하고(analyzing), 시각화해서(visualizing) 새로운 사실과 숨겨진 진실을 밝혀내는 것"  — 김태형 (2015)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1400"/>
              </a:spcAft>
              <a:buNone/>
            </a:pPr>
            <a:r>
              <a:rPr lang="en-US" sz="12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"데이터에서 유용한 정보를 추출하고, 이를 기반으로 기사를 작성하며, 인터랙티브 시각화를 통해 독자의 이해를 돕는 과정" — Veglis &amp; Bratsas (2017)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CAR(Computer-Assisted Reporting)와 정밀저널리즘(Precision Journalism)에서 진화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빅데이터 축적과 공개 경향, 컴퓨터 기술의 향상이 배경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수집으로 근거 대기 → 데이터에서 새로운 의미 찾기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사회과학 방법론 → 컴퓨터공학 기술 적용으로 확장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1. 개념과 역사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데이터저널리즘으로의 진화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CBS, UNIVAC 컴퓨터로 미 대선 예측 (1952)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필립 마이어(Philip Meyer)의 디트로이트 인종 폭동 보도 → 정밀저널리즘 (1967)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Philadelphia Inquirer 사법시스템 탐사보도 (1972)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Atlanta Journal-Constitution 은행 대출 인종차별 관행 보도 (1988)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NICAR(National Institute for Computer-Assisted Reporting) 설립 (1989)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제민일보 4.3 사건 관련 보도 (1990년대 초)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동아일보 &lt;정권 따라 검찰 요직 춤 췄다&gt; (2000)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KBS 탐사보도팀 창설, &lt;법은 평등한가&gt; (2005~2006)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2010년대 뉴스룸에 데이터팀 구축 → 데이터저널리즘 본격화</a:t>
            </a:r>
            <a:endParaRPr lang="en-US" sz="12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2020년대 AI·LLM 도입 → 에이전트 기반 저널리즘으로 진화 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F46F11-3EB1-4962-BC1B-20C008D762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6841" y="0"/>
            <a:ext cx="222831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1. 개념과 역사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컴퓨테이셔널 저널리즘(Computational Journalism)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20116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수집→분석→시각화를 거쳐 사회적 의미 도출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554480"/>
            <a:ext cx="246888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554480"/>
            <a:ext cx="54864" cy="2011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로봇 저널리즘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965960"/>
            <a:ext cx="2194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데이터를 바탕으로 소프트웨어가 뉴스를 자동 작성 (예: 지진봇, 스포츠 리캡)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554480"/>
            <a:ext cx="274320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554480"/>
            <a:ext cx="54864" cy="2011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저널리즘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26480" y="1965960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수용자와 커뮤니케이션하며 원하는 뉴스와 답을 제공. LLM 기반 에이전트 활용 확대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Stanford Computational Journalism Lab: 컴퓨테이셔널 방법을 활용해 책임 있는 보도를 가능하게 하는 연구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저널리즘의 방법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수집 · 분석 · 시각화</a:t>
            </a:r>
            <a:endParaRPr lang="en-US" sz="3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2. 수집 · 분석 · 시각화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데이터 발굴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아카이브 활용 (공공데이터포털, 국가통계포털)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정보공개청구 (open.go.kr)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기관에 직접 요구·입수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554480"/>
            <a:ext cx="411480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1554480"/>
            <a:ext cx="54864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6459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 등에서 데이터 추출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scraping / crawling (Python, R)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활용 (공공 API, SNS API 등)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기반 자동 수집 (LLM + MCP 등)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84048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1097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현장 관찰·인터뷰·설문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데이터 구성 (설문조사, 현장 관찰)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녹취·번역 도구 활용 (클로바노트, Otter 등)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3063240"/>
            <a:ext cx="411480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0" y="3063240"/>
            <a:ext cx="54864" cy="10972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754880" y="31546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데이터 소스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5488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data.go.kr / kosis.kr / 통계청 / DART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빅카인즈 / 정보공개포털 / 환경통계포털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2. 수집 · 분석 · 시각화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데이터·통계 사이트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6680611"/>
              </p:ext>
            </p:extLst>
          </p:nvPr>
        </p:nvGraphicFramePr>
        <p:xfrm>
          <a:off x="457200" y="1463040"/>
          <a:ext cx="8229600" cy="2721147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2747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분야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URL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공공데이터포털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data.go.kr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국가통계포털 (KOSIS)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kosis.kr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종합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정보공개포털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open.go.kr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뉴스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빅카인즈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bigkinds.or.kr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한국은행 경제통계시스템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ecos.bok.or.kr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전자공시시스템 (DART)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dart.fss.or.kr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환경통계포털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stat.me.go.kr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교통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국토교통통계누리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stat.molit.go.kr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노동통계정보시스템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laborstat.moel.go.kr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2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방송통계포털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mediastat.or.kr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4C9568-FDEA-4167-8149-8658FCD7C7F4}"/>
              </a:ext>
            </a:extLst>
          </p:cNvPr>
          <p:cNvSpPr txBox="1"/>
          <p:nvPr/>
        </p:nvSpPr>
        <p:spPr>
          <a:xfrm>
            <a:off x="530352" y="4295163"/>
            <a:ext cx="66338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* 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사이트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ko-KR" altLang="en-US" sz="1200" dirty="0">
                <a:latin typeface="Arial" panose="020B0604020202020204" pitchFamily="34" charset="0"/>
                <a:cs typeface="Arial" panose="020B0604020202020204" pitchFamily="34" charset="0"/>
              </a:rPr>
              <a:t>모음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https://jonghhhh.github.io/2026_1/datajour_source.html</a:t>
            </a:r>
            <a:r>
              <a:rPr lang="en-US" altLang="ko-KR" sz="1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2. 수집 · 분석 · 시각화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분석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통계 분석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기술통계, 회귀분석, 상관분석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(Pandas, SciPy)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(tidyverse, ggplot2)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 피벗테이블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5544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554480"/>
            <a:ext cx="54864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텍스트·NLP 분석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형태소 분석, 감성 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토픽 모델링 (LDA)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BERT, LLM 기반 분류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요약·구조화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25603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554480"/>
            <a:ext cx="54864" cy="2286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머신러닝·AI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09360" y="1965960"/>
            <a:ext cx="22860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분류(Classification)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이미지·영상 분석 (Vision AI)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패턴 탐지 (Change Detection)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b="1" dirty="0">
                <a:solidFill>
                  <a:srgbClr val="FF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API 대규모 분석</a:t>
            </a:r>
            <a:endParaRPr lang="en-US" sz="1100" b="1" dirty="0">
              <a:solidFill>
                <a:srgbClr val="FF0000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2. 수집 · 분석 · 시각화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시각화 유형 (Stalph, 2018 기반)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37360"/>
          <a:ext cx="822960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시각화 유형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대표 도구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Chart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32.7%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D3.js, Datawrapper, Flourish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16.3%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QGIS, Mapbox, Leaflet, Kepler.gl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 Chart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Datawrapper, Flourish, Chart.js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Pie/Donut Chart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Datawrapper, Google Charts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DataTables, AG Grid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Dashboard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Tableau, Flourish, Streamlit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Infographic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Canva, Napkin AI, Figma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기타 (네트워크, 워드클라우드 등)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Gephi, Observable, D3.js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시대의 데이터 저널리즘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→ 2.0 → 3.0</a:t>
            </a:r>
            <a:endParaRPr lang="en-US" sz="3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 AI 시대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기자의 "두 번째 뇌(Second Brain)"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54864" cy="2743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멀티플랫폼+AI 시대의 도전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74520"/>
            <a:ext cx="36576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웹·유튜브·SNS 동시 대응 필수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소수 인력으로 더 깊이 있는 데이터 생산 요구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심층기획 + 데이터 + 시각화로 경쟁력 강화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지속 가능한 뉴스 프로젝트 필요: 실시간 대시보드, 챗봇, RAG DB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463040"/>
            <a:ext cx="402336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463040"/>
            <a:ext cx="54864" cy="2743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취재 워크플로우 9단계와 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874520"/>
            <a:ext cx="37490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1) 아이디어 발굴 및 가치 평가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2) 정보수집·리서치·모니터링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3) 데이터 수집·분석·시각화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4) 인터뷰·현장취재 (녹취·번역)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5) 기사 작성·요약·검토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6) 사실검증 (Fact Check)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7) 여론 반응 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8) 숏폼/SNS 제작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9) 지식 관리 (Knowledge DB)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 AI 시대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개념: SaaS → PaaS → IaaS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245364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(Software as a 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(Platform as a 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IaaS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(Infrastructure as a Service)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완성된 음식 배달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밀키트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(재료+주방)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전문 주방 구축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 시장보기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역할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사용자 (User)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사용만 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활용자 (Utilizer)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조합 및 개발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설계자 (Architect)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인프라 구성·운영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예시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Gmail, Tableau, Excel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OpenAI API, Vercel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System, 챗봇, 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저널리즘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전통적 도구 활용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활용 저널리즘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 설계 저널리즘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 AI 시대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 1.0: 전통적 도구 활용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2560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정보수집: 포털 검색, 정보공개청구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데이터: 통계청 다운로드 → CSV 변환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인터뷰: 녹음기 + 수동 전사(타이핑)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분석: 엑셀 피벗 테이블, R 통계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2560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한계점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74904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수집/입력이 대부분 수작업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속도와 규모의 제약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정적(Static) 그래픽 중심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인터랙티브 구현 어려움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대표 도구: Excel, Google Sheets, Tableau, Datawrapper, 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 AI 시대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 2.0: AI 활용 저널리즘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워크플로우 위에 LLM과 AI 도구를 얹어 생산성 극대화. 반복 업무는 AI에게, 해석·판단은 기자에게.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23774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분야별 도구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리서치: Perplexity, Genspark, NotebookLM, Deep Research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녹취/요약: 클로바노트, Otter, 다글로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시각화: Napkin AI, Flourish, Datawrapper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코딩: Claude, Cursor, GitHub Copilot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 생성: DALL-E, Midjourney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54864" cy="23774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기술 적용 영역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7490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NLP: 문서 구조화, 요약, 텍스트 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AI: 이미지·영상, 항공사진, CCTV 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Audio AI: 음성 기록 텍스트화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API: 대규모 데이터 분석에 LLM 적용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프롬프트 엔지니어링이 핵심 기술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 AI 시대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저널리즘 3.0: 에이전트 설계 저널리즘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코드 리터러시를 바탕으로 취재·분석·검증 시스템을 직접 구축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9319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54864" cy="22860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 구성요소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레이어: 기사 아카이브, 팩트체크 DB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레이어: 자체 미세조정 모델, RAG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오케스트레이션: 에이전트 (LangGraph, CrewAI)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MCP(Model Context Protocol)로 도구 연결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920240"/>
            <a:ext cx="402336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920240"/>
            <a:ext cx="54864" cy="22860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011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기자의 새로운 역할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46320" y="233172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Agent: 취재 보도 등 특수 역할 수행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Architect: 워크플로우 설계 및 모니터링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Engineer: RAG DB 구축 관리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'journalist-programmer' 하이브리드 역할 부상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3. AI 시대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비교: 1.0 vs 2.0 vs 3.0</a:t>
            </a:r>
            <a:endParaRPr lang="en-US" sz="28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2606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 (SaaS)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2.0 (PaaS)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 (IaaS)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핵심 가치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정확한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(Analyst)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효율적 생성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(Generator)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 설계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(Architect)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개발 필요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없음 (Tool 사용)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중간 (Prompting)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필수 (Coding/System)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코딩 방식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Vibe Coding (위험)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Augmented Coding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결과물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정적 기사/그래픽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텍스트·이미지·음성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대규모 분석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지속 가능한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시스템/DB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지속성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일회성 보도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프로젝트 단위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항시적 모니터링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사례 모음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국내외 데이터 저널리즘</a:t>
            </a:r>
            <a:endParaRPr lang="en-US" sz="3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6. 사례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 사례: 대규모 DB 구축의 끈기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2743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경찰 비위 기록 통합 DB</a:t>
            </a:r>
            <a:endParaRPr lang="en-US" sz="1300" dirty="0">
              <a:hlinkClick r:id="rId3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(USA Today, 2019)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 전역의 경찰 비위 기록 추적·공개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흩어진 문서를 스크래핑, PDF를 일일이 확인하여 데이터 입력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기술적 난이도보다 '데이터 수집의 끈기'가 돋보인 사례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유형: 대규모 DB 구축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ProPublica: The Prescribers (2013)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미국 정부의 처방 데이터를 분석해 의사별 처방 패턴 공개. 의사 개인 조회 가능.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29260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92608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Buzzfeed: Spies in the Skies (2016)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3375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비행 데이터를 분석해 미 정부 감시 비행기의 경로 추적·시각화.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6. 사례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 사례: AI로 '없던 데이터' 만들기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우크라이나 전쟁 피해 지도</a:t>
            </a:r>
            <a:endParaRPr lang="en-US" sz="1300" dirty="0">
              <a:hlinkClick r:id="rId3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(Texty.org.ua, 2024)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위성 사진을 ML 모델에 학습, 파괴 건물 자동 식별·매핑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인간이 불가능한 규모의 반복 노동을 AI가 대체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아마존 불법 채굴 자동 탐지</a:t>
            </a:r>
            <a:endParaRPr lang="en-US" sz="1300" dirty="0">
              <a:hlinkClick r:id="rId4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(Amazon Mining Watch, 2025)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위성 사진 Change Detection으로 숲→채굴장 변화 감지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모니터링 플랫폼으로 감시 영역 확장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패션 잡지 피부색 분석</a:t>
            </a:r>
            <a:endParaRPr lang="en-US" sz="1300" dirty="0">
              <a:hlinkClick r:id="rId5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(The Pudding, 2019)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얼굴 인식 AI로 Vogue 표지 모델 피부색 추출·데이터화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이미지를 사회학적 증거로 변환하는 '문화적 데이터 저널리즘'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AI 데이터센터 전기료 분석</a:t>
            </a:r>
            <a:endParaRPr lang="en-US" sz="1300" dirty="0">
              <a:hlinkClick r:id="rId6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(Bloomberg, 2025)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25,000개 그리드 노드를 분석, 데이터센터 인근 전기 요금 최대 267% 급등 확인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산업의 사회적 비용을 데이터로 검증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6. 사례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 사례: 시스템을 구축하는 저널리즘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2801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부패 감지 AI 'Funés'</a:t>
            </a:r>
            <a:endParaRPr lang="en-US" sz="1300" dirty="0">
              <a:hlinkClick r:id="rId3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(Ojo Público, 2020)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공공 계약 데이터에서 업체 간 관계·정치 후원금 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회사명 입력 → '부패 위험 점수' 계산, 취재 타겟 추천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2801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2801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페이스북 알고리즘 감시</a:t>
            </a:r>
            <a:endParaRPr lang="en-US" sz="1300" dirty="0">
              <a:hlinkClick r:id="rId4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(The Markup, 2021)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성별·인종·지역·정치성향별 패널의 뉴스피드 자동 수집·분석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기자가 직접 갈 수 없는 곳에 '디지털 대리인' 파견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1188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코로나 전파 시뮬레이터</a:t>
            </a:r>
            <a:endParaRPr lang="en-US" sz="1300" dirty="0">
              <a:hlinkClick r:id="rId5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(Washington Post, 2020)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4747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사회적 거리두기 효과를 인터랙티브 시뮬레이션으로 설명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독자 참여형 시뮬레이션의 대표 사례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306324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063240"/>
            <a:ext cx="54864" cy="1188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31546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AI로</a:t>
            </a: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 수백 시간 인터뷰 분석</a:t>
            </a:r>
            <a:endParaRPr lang="en-US" sz="1300" dirty="0">
              <a:hlinkClick r:id="rId6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/>
              </a:rPr>
              <a:t>(New York Times, 2025)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46320" y="347472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상원 인사청문 영상과 줌 미팅 수백 건을 LLM으로 분석</a:t>
            </a:r>
            <a:endParaRPr lang="en-US" sz="11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"물리적으로 불가능한 청취"를 AI가 해결 — </a:t>
            </a:r>
            <a:r>
              <a:rPr lang="ko-KR" altLang="en-US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 </a:t>
            </a:r>
            <a:r>
              <a:rPr lang="en-US" altLang="ko-KR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'Cheat Sheet'</a:t>
            </a:r>
            <a:r>
              <a:rPr lang="ko-KR" altLang="en-US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라는 내부 </a:t>
            </a:r>
            <a:r>
              <a:rPr lang="en-US" altLang="ko-KR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AI </a:t>
            </a:r>
            <a:r>
              <a:rPr lang="ko-KR" altLang="en-US" sz="1000" b="0" i="0" dirty="0">
                <a:solidFill>
                  <a:srgbClr val="0A0A0A"/>
                </a:solidFill>
                <a:effectLst/>
                <a:latin typeface="Arial" panose="020B0604020202020204" pitchFamily="34" charset="0"/>
              </a:rPr>
              <a:t>도구 개발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6. 사례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데이터 저널리즘 사례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1188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459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뉴스타파: 가짜 학회 참여 학자 공개</a:t>
            </a:r>
            <a:endParaRPr lang="en-US" sz="1300" dirty="0">
              <a:hlinkClick r:id="rId3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(2018-2019)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OMICS Group, WASET 등 가짜 학회 참여 학자 데이터 분석·공개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554480"/>
            <a:ext cx="4023360" cy="11887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554480"/>
            <a:ext cx="54864" cy="1188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16459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중앙일보: 우리 동네 의회 살림</a:t>
            </a:r>
            <a:endParaRPr lang="en-US" sz="1300" dirty="0">
              <a:hlinkClick r:id="rId4"/>
            </a:endParaRPr>
          </a:p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/>
              </a:rPr>
              <a:t>(2018)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65960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2014~2018 기초의회 가계부 검사, 인터랙티브 조회 시스템 제공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971799"/>
            <a:ext cx="8183880" cy="1616825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971800"/>
            <a:ext cx="54864" cy="13716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063240"/>
            <a:ext cx="7909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2024 한국 데이터 저널리즘 어워드 수상작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383280"/>
            <a:ext cx="7909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자녀 살해 후 자살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비극을 기록하다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기반 탐사보도 상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당신이 버린 옷의 최후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시각화 상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ko-KR" altLang="en-US" sz="10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명태균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게이트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판도라의 상자를 열다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데이터 상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이태원 </a:t>
            </a:r>
            <a:r>
              <a:rPr lang="ko-KR" altLang="en-US" sz="10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기억담기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캠페인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오픈 데이터 특별상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ko-KR" altLang="en-US" sz="1000" dirty="0" err="1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매니페스토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내일을 바꾸는 약속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데이터저널리즘 혁신 상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더위는 없다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폭염 불평등 실태 보고서 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</a:t>
            </a:r>
            <a:r>
              <a:rPr lang="ko-KR" alt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기후위기 특별상</a:t>
            </a:r>
            <a:r>
              <a:rPr lang="en-US" altLang="ko-KR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14152" y="4561607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/>
              </a:rPr>
              <a:t>http://datajournalismawards.kr/award_list/</a:t>
            </a: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898271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관련 단체 · 리소스 · 데이터 소스</a:t>
            </a:r>
            <a:endParaRPr lang="en-US" sz="3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7. 단체·리소스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단체와 협업 네트워크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IRE (Investigative Reporters &amp; Editors)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1975년 설립. 5,000여명 회원. 27,000여건 탐사보도 사례. NICAR(1989) 산하 운영. ire.org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GIJN (Global Investigative Journalism Network)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2003년 설립. 72개국 163개 회원사. 데이터저널리즘 지원. SIGMA Awards 시상.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Data</a:t>
            </a:r>
            <a:r>
              <a:rPr lang="ko-KR" alt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/>
              </a:rPr>
              <a:t>Journalism Top 10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gijn.org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ICIJ (International Consortium of Investigative Journalists)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1997년 설립. 60개국 160여명. 파나마 페이퍼스(2016) 등 세계적 협업 탐사보도. </a:t>
            </a:r>
            <a:r>
              <a:rPr lang="en-US" altLang="ko-KR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icij.org </a:t>
            </a:r>
            <a:endParaRPr lang="en-US" sz="1100" dirty="0">
              <a:solidFill>
                <a:srgbClr val="000000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한국탐사저널리즘센터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(뉴스타파)</a:t>
            </a:r>
            <a:endParaRPr lang="en-US" sz="1200" dirty="0"/>
          </a:p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비영리 독립언론. 심층 탐사보도와 데이터저널리즘 특화. newstapa.org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DataJournalism.com</a:t>
            </a:r>
            <a:endParaRPr lang="en-US" sz="1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European Journalism Centre에서 2018년 설립. 데이터 자료·교육·커뮤니티 제공.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73152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7. 단체·리소스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취재보도용 AI 도구 가이드 (2025)</a:t>
            </a:r>
            <a:endParaRPr lang="en-US" sz="28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71600"/>
          <a:ext cx="8595360" cy="21259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용도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리서치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Perplexity, Genspark, NotebookLM, Deep Research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검색·요약·배경조사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수집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(BeautifulSoup, Selenium), LLM API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웹스크래핑·API·자동수집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데이터 분석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Python (Pandas), R, Claude/ChatGPT Code Interpreter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통계·NLP·ML 분석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녹취·번역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클로바노트, Otter, 다글로, Whisper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음성→텍스트 자동전환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시각화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Datawrapper, Flourish, Napkin AI, D3.js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차트·맵·인터랙티브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기사 작성·검토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Claude, ChatGPT, Gemini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초고 작성·교정·요약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사실검증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ClaimBuster, Google Fact Check Tools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주장 검증·교차확인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에이전트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LangGraph, CrewAI, Claude Code, Gemini CLI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93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자동화 파이프라인 구축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30352" y="364097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 AI </a:t>
            </a:r>
            <a:r>
              <a:rPr lang="ko-KR" alt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모음 </a:t>
            </a:r>
            <a:r>
              <a:rPr lang="en-US" altLang="ko-KR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</a:t>
            </a:r>
            <a:r>
              <a:rPr lang="ko-KR" alt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action="ppaction://hlinkfile"/>
              </a:rPr>
              <a:t>jonghhhh.github.io/2026_1/datajour_ai.html</a:t>
            </a: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제언</a:t>
            </a:r>
            <a:endParaRPr lang="en-US" sz="4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0"/>
            <a:ext cx="822960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"AI를 사용했느냐?"가 아니라,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554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 덕분에 더 깊이 취재했는가?"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5603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"AI는 기자를 대체하지 않습니다.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하지만 </a:t>
            </a:r>
            <a:r>
              <a:rPr lang="en-US" sz="15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시스템을 구축하는(3.0) 기자</a:t>
            </a: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도구만 쓰는(1.0) 기자와 AI를 활용하는(2.0) 기자를</a:t>
            </a:r>
            <a:endParaRPr lang="en-US" sz="15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5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대체할 수 있습니다."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 (경희대 미디어학과)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3230</Words>
  <Application>Microsoft Office PowerPoint</Application>
  <PresentationFormat>화면 슬라이드 쇼(16:9)</PresentationFormat>
  <Paragraphs>518</Paragraphs>
  <Slides>27</Slides>
  <Notes>27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데이터저널리즘: 이론과 실무</dc:title>
  <dc:subject>PptxGenJS Presentation</dc:subject>
  <dc:creator>이종혁</dc:creator>
  <cp:lastModifiedBy>HP OMEN 45L GT22</cp:lastModifiedBy>
  <cp:revision>20</cp:revision>
  <dcterms:created xsi:type="dcterms:W3CDTF">2026-03-01T06:48:07Z</dcterms:created>
  <dcterms:modified xsi:type="dcterms:W3CDTF">2026-03-03T05:02:41Z</dcterms:modified>
</cp:coreProperties>
</file>