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3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2" r:id="rId10"/>
    <p:sldId id="262" r:id="rId11"/>
    <p:sldId id="263" r:id="rId12"/>
    <p:sldId id="268" r:id="rId13"/>
    <p:sldId id="274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222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08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28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2D368E6B-F369-45BA-855B-EAA45EC00C47}"/>
              </a:ext>
            </a:extLst>
          </p:cNvPr>
          <p:cNvSpPr/>
          <p:nvPr/>
        </p:nvSpPr>
        <p:spPr>
          <a:xfrm>
            <a:off x="0" y="1181100"/>
            <a:ext cx="9144000" cy="165735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EFF64-F2CA-478B-A08E-79010367FE44}"/>
              </a:ext>
            </a:extLst>
          </p:cNvPr>
          <p:cNvSpPr txBox="1"/>
          <p:nvPr/>
        </p:nvSpPr>
        <p:spPr>
          <a:xfrm>
            <a:off x="1304925" y="1594276"/>
            <a:ext cx="69532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48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</a:t>
            </a:r>
            <a:r>
              <a:rPr lang="en-US" altLang="ko-KR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altLang="ko-KR" sz="48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벡터와</a:t>
            </a:r>
            <a:r>
              <a:rPr lang="en-US" altLang="ko-KR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48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유사도</a:t>
            </a:r>
            <a:endParaRPr lang="en-US" altLang="ko-KR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0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텍스트를 숫자로 바꿔야 하는가?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컴퓨터가 다룰 수 있는 것은 오직 숫자뿐!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사람:  "경제 성장 정책 발표"  →  곧바로 이해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컴퓨터:  "경제 성장 정책 발표"  →  ???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텍스트 → 숫자 리스트(벡터)로 변환!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EAF2F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66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5204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15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질문: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문장 3개를 세 </a:t>
            </a:r>
            <a:r>
              <a:rPr lang="en-US" sz="15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가지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방법으로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벡터화하면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차이가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생길까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One-hot  →  TF-IDF  →  임베딩(밀집 </a:t>
            </a:r>
            <a:r>
              <a:rPr lang="en-US" sz="1400" b="1" dirty="0" err="1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 </a:t>
            </a:r>
            <a:r>
              <a:rPr lang="en-US" sz="1400" b="1" dirty="0" err="1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순서로</a:t>
            </a: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</a:t>
            </a: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문장 3개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8595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8346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3개 문장을 One-hot → TF-IDF → 임베딩 세 가지 </a:t>
            </a:r>
            <a:r>
              <a:rPr lang="en-US" sz="1600" b="1" dirty="0" err="1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방법으로</a:t>
            </a: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벡터화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A와 B는 주제가 비슷하고, C는 완전히 </a:t>
            </a:r>
            <a:r>
              <a:rPr lang="en-US" sz="16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주제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방법이 이 차이를 얼마나 잘 </a:t>
            </a:r>
            <a:r>
              <a:rPr lang="en-US" sz="1600" b="1" dirty="0" err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포착할까</a:t>
            </a: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206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어휘 (11개):  경제  성장  정책  발표  침체  대책  논의  야구  선수  홈런  기록</a:t>
            </a:r>
            <a:endParaRPr 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5BCEEC-18FB-47D3-9EC3-490966C582F4}"/>
              </a:ext>
            </a:extLst>
          </p:cNvPr>
          <p:cNvSpPr txBox="1"/>
          <p:nvPr/>
        </p:nvSpPr>
        <p:spPr>
          <a:xfrm>
            <a:off x="6682047" y="4249727"/>
            <a:ext cx="200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altLang="ko-KR" sz="2400" dirty="0">
                <a:solidFill>
                  <a:srgbClr val="FF0000"/>
                </a:solidFill>
              </a:rPr>
              <a:t>Vocabulary 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①  One-hot 인코딩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859536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EF9E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원리: 해당 단어가 있으면 1, 없으면 0  (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차원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어휘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수, 11)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7B3DB-9569-4DCA-841C-1B73CAE89C86}"/>
              </a:ext>
            </a:extLst>
          </p:cNvPr>
          <p:cNvSpPr txBox="1"/>
          <p:nvPr/>
        </p:nvSpPr>
        <p:spPr>
          <a:xfrm>
            <a:off x="7096125" y="4846320"/>
            <a:ext cx="2047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https://wikidocs.net/192729</a:t>
            </a:r>
            <a:endParaRPr lang="ko-KR" altLang="en-US" sz="12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 ②  TF-IDF 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859536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EF9E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원리: TF(빈도) × IDF(희소성) = 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중요도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ko-KR" alt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그러나 </a:t>
            </a:r>
            <a:r>
              <a:rPr lang="en-US" sz="14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여전히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희소 벡터 (11차원)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C1F7D-8B62-4ABE-A01F-6824438476C5}"/>
              </a:ext>
            </a:extLst>
          </p:cNvPr>
          <p:cNvSpPr txBox="1"/>
          <p:nvPr/>
        </p:nvSpPr>
        <p:spPr>
          <a:xfrm>
            <a:off x="7058025" y="4892040"/>
            <a:ext cx="2085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https://wikidocs.net/31698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③ 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(밀집 벡터)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859536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EAF2F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404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37947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분포</a:t>
            </a: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가설</a:t>
            </a: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"비슷한 맥락에서 쓰이는 단어는 비슷한 의미를 가진다"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대량 텍스트에서 패턴 학습 → 768차원 밀집 벡터 → 단어가 달라도 의미가 비슷하면 가까운 벡터!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10,000차원 → 768차원: 임베딩 행렬이란?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685800"/>
            <a:ext cx="88696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768개 숫자는 어떻게 정해지는가? — 임베딩 학습 과정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685800"/>
            <a:ext cx="88696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ko-KR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r>
              <a:rPr lang="en-US" altLang="ko-KR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r>
              <a:rPr lang="ko-KR" altLang="en-US" sz="20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워드투벡터</a:t>
            </a:r>
            <a:r>
              <a:rPr lang="en-US" altLang="ko-KR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(Word2Vec)</a:t>
            </a:r>
            <a:endParaRPr lang="en-US" sz="20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76A9C5D-395A-4A97-A6DE-97A389E94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956" y="1066800"/>
            <a:ext cx="5430498" cy="365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E9C05931-02F2-48AD-86D4-3B2AA4934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46" y="838200"/>
            <a:ext cx="3417179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BFBE7F-601B-4766-AC21-88104CD24EA9}"/>
              </a:ext>
            </a:extLst>
          </p:cNvPr>
          <p:cNvSpPr txBox="1"/>
          <p:nvPr/>
        </p:nvSpPr>
        <p:spPr>
          <a:xfrm>
            <a:off x="7086600" y="4848225"/>
            <a:ext cx="2171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Arial" pitchFamily="34" charset="0"/>
                <a:cs typeface="Arial" pitchFamily="34" charset="-120"/>
              </a:rPr>
              <a:t>https://wikidocs.net/22660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52080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비교: 같은 문장인데 유사도가 이렇게 달라진다!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2103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017520"/>
            <a:ext cx="6065520" cy="1828800"/>
          </a:xfrm>
          <a:prstGeom prst="rect">
            <a:avLst/>
          </a:prstGeom>
          <a:solidFill>
            <a:srgbClr val="FEF9E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Word2Vec의 유명한 </a:t>
            </a:r>
            <a:r>
              <a:rPr lang="en-US" sz="1300" b="1" dirty="0" err="1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606742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king  −  man  +  woman  =  queen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0" y="4023360"/>
            <a:ext cx="652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벡터 공간에서 '성별'이라는 의미적 관계가 방향으로 인코딩됨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"성장"과 "침체"는 다른 단어지만, "경제 맥락"이라는 의미가 벡터에 이미 반영!</a:t>
            </a:r>
            <a:endParaRPr 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8CF78AF-87EF-4EB1-B077-9788FBD07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2916555"/>
            <a:ext cx="2346960" cy="18335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이미지도 벡터로: 멀티모달 임베딩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텍스트뿐 아니라 이미지, 음성, 영상도 모두 벡터로 변환 가능!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3931920" cy="2103120"/>
          </a:xfrm>
          <a:prstGeom prst="rect">
            <a:avLst/>
          </a:prstGeom>
          <a:solidFill>
            <a:srgbClr val="EAF2F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임베딩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→ 딥러닝 모델 → 벡터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비슷한 이미지 → 비슷한 벡터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이미지 → 먼 벡터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931920" cy="2103120"/>
          </a:xfrm>
          <a:prstGeom prst="rect">
            <a:avLst/>
          </a:prstGeom>
          <a:solidFill>
            <a:srgbClr val="D5F5E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(OpenAI, 2021)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3776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텍스트와 이미지를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벡터 공간에 배치!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텍스트로 이미지 검색 가능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3794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 연구 활용: 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 사진 </a:t>
            </a:r>
            <a:r>
              <a:rPr lang="en-US" sz="13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프레이밍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텍스트-사진 </a:t>
            </a:r>
            <a:r>
              <a:rPr lang="en-US" sz="13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일치도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이미지 검색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공간과 코사인 </a:t>
            </a:r>
            <a:r>
              <a:rPr lang="en-US" sz="2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유사도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31" y="685800"/>
            <a:ext cx="3872488" cy="33375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385" y="685800"/>
            <a:ext cx="3865416" cy="4089261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0569C2B7-921D-4495-B516-13D6EC462405}"/>
              </a:ext>
            </a:extLst>
          </p:cNvPr>
          <p:cNvSpPr/>
          <p:nvPr/>
        </p:nvSpPr>
        <p:spPr>
          <a:xfrm>
            <a:off x="450131" y="4069080"/>
            <a:ext cx="3872488" cy="1097280"/>
          </a:xfrm>
          <a:prstGeom prst="rect">
            <a:avLst/>
          </a:prstGeom>
          <a:solidFill>
            <a:srgbClr val="2C3E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71C7E37-035F-4613-B1BA-1FC60D4ACAB0}"/>
              </a:ext>
            </a:extLst>
          </p:cNvPr>
          <p:cNvSpPr/>
          <p:nvPr/>
        </p:nvSpPr>
        <p:spPr>
          <a:xfrm>
            <a:off x="633012" y="4114800"/>
            <a:ext cx="357703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cosine_sim(x, 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np.dot(x,y) /                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(np.linalg.norm(x) * np.linalg.norm(y))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a=[1,2,3], b=[2,4,6] → 1.0 (같은 방향)      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a, c=[3,-1,0] → 0.08 (무관)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A662C-1E9B-4074-9148-CCFB05EB85EE}"/>
              </a:ext>
            </a:extLst>
          </p:cNvPr>
          <p:cNvSpPr txBox="1"/>
          <p:nvPr/>
        </p:nvSpPr>
        <p:spPr>
          <a:xfrm>
            <a:off x="7174959" y="4889361"/>
            <a:ext cx="2219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https://wikidocs.net/24603</a:t>
            </a:r>
            <a:endParaRPr lang="ko-KR" altLang="en-US" sz="12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ko-KR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코사인 유사도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85800" y="1087755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numpy</a:t>
            </a:r>
            <a:r>
              <a:rPr lang="en-US" altLang="ko-KR" sz="1400" dirty="0"/>
              <a:t> as np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def </a:t>
            </a:r>
            <a:r>
              <a:rPr lang="en-US" altLang="ko-KR" sz="1400" dirty="0" err="1"/>
              <a:t>cosine_sim</a:t>
            </a:r>
            <a:r>
              <a:rPr lang="en-US" altLang="ko-KR" sz="1400" dirty="0"/>
              <a:t>(x, y):</a:t>
            </a:r>
            <a:br>
              <a:rPr lang="en-US" altLang="ko-KR" sz="1400"/>
            </a:br>
            <a:r>
              <a:rPr lang="en-US" altLang="ko-KR" sz="1400"/>
              <a:t>    return </a:t>
            </a:r>
            <a:r>
              <a:rPr lang="en-US" altLang="ko-KR" sz="1400" dirty="0"/>
              <a:t>np.dot(x, y) / (</a:t>
            </a:r>
            <a:r>
              <a:rPr lang="en-US" altLang="ko-KR" sz="1400" dirty="0" err="1"/>
              <a:t>np.linalg.norm</a:t>
            </a:r>
            <a:r>
              <a:rPr lang="en-US" altLang="ko-KR" sz="1400" dirty="0"/>
              <a:t>(x) * </a:t>
            </a:r>
            <a:r>
              <a:rPr lang="en-US" altLang="ko-KR" sz="1400" dirty="0" err="1"/>
              <a:t>np.linalg.norm</a:t>
            </a:r>
            <a:r>
              <a:rPr lang="en-US" altLang="ko-KR" sz="1400" dirty="0"/>
              <a:t>(y))</a:t>
            </a: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# </a:t>
            </a:r>
            <a:r>
              <a:rPr lang="ko-KR" altLang="en-US" sz="1400" dirty="0"/>
              <a:t>벡터 정의</a:t>
            </a:r>
            <a:br>
              <a:rPr lang="ko-KR" altLang="en-US" sz="1400" dirty="0"/>
            </a:br>
            <a:r>
              <a:rPr lang="en-US" altLang="ko-KR" sz="1400" dirty="0"/>
              <a:t>a = </a:t>
            </a:r>
            <a:r>
              <a:rPr lang="en-US" altLang="ko-KR" sz="1400" dirty="0" err="1"/>
              <a:t>np.array</a:t>
            </a:r>
            <a:r>
              <a:rPr lang="en-US" altLang="ko-KR" sz="1400" dirty="0"/>
              <a:t>([1, 2, 3])</a:t>
            </a:r>
            <a:br>
              <a:rPr lang="en-US" altLang="ko-KR" sz="1400" dirty="0"/>
            </a:br>
            <a:r>
              <a:rPr lang="en-US" altLang="ko-KR" sz="1400" dirty="0"/>
              <a:t>b = </a:t>
            </a:r>
            <a:r>
              <a:rPr lang="en-US" altLang="ko-KR" sz="1400" dirty="0" err="1"/>
              <a:t>np.array</a:t>
            </a:r>
            <a:r>
              <a:rPr lang="en-US" altLang="ko-KR" sz="1400" dirty="0"/>
              <a:t>([2, 4, 6]) # </a:t>
            </a:r>
            <a:r>
              <a:rPr lang="ko-KR" altLang="en-US" sz="1400" dirty="0"/>
              <a:t>같은 방향</a:t>
            </a:r>
            <a:br>
              <a:rPr lang="ko-KR" altLang="en-US" sz="1400" dirty="0"/>
            </a:br>
            <a:r>
              <a:rPr lang="en-US" altLang="ko-KR" sz="1400" dirty="0"/>
              <a:t>c = </a:t>
            </a:r>
            <a:r>
              <a:rPr lang="en-US" altLang="ko-KR" sz="1400" dirty="0" err="1"/>
              <a:t>np.array</a:t>
            </a:r>
            <a:r>
              <a:rPr lang="en-US" altLang="ko-KR" sz="1400" dirty="0"/>
              <a:t>([3, -1, 0]) # </a:t>
            </a:r>
            <a:r>
              <a:rPr lang="ko-KR" altLang="en-US" sz="1400" dirty="0"/>
              <a:t>거의 무관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en-US" altLang="ko-KR" sz="1400" dirty="0"/>
              <a:t># </a:t>
            </a:r>
            <a:r>
              <a:rPr lang="ko-KR" altLang="en-US" sz="1400" dirty="0"/>
              <a:t>결과 출력</a:t>
            </a:r>
            <a:br>
              <a:rPr lang="ko-KR" altLang="en-US" sz="1400" dirty="0"/>
            </a:br>
            <a:r>
              <a:rPr lang="en-US" altLang="ko-KR" sz="1400" dirty="0"/>
              <a:t>print("a vs b:", </a:t>
            </a:r>
            <a:r>
              <a:rPr lang="en-US" altLang="ko-KR" sz="1400" dirty="0" err="1"/>
              <a:t>cosine_sim</a:t>
            </a:r>
            <a:r>
              <a:rPr lang="en-US" altLang="ko-KR" sz="1400" dirty="0"/>
              <a:t>(a, b)) # ≈ 1.0</a:t>
            </a:r>
            <a:br>
              <a:rPr lang="en-US" altLang="ko-KR" sz="1400" dirty="0"/>
            </a:br>
            <a:r>
              <a:rPr lang="en-US" altLang="ko-KR" sz="1400" dirty="0"/>
              <a:t>print("a vs c:", </a:t>
            </a:r>
            <a:r>
              <a:rPr lang="en-US" altLang="ko-KR" sz="1400" dirty="0" err="1"/>
              <a:t>cosine_sim</a:t>
            </a:r>
            <a:r>
              <a:rPr lang="en-US" altLang="ko-KR" sz="1400" dirty="0"/>
              <a:t>(a, c)) # ≈ 0.08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390120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실습: Sentence-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BERT로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테스트!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6292" y="1897797"/>
            <a:ext cx="7511415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b="0" dirty="0">
                <a:effectLst/>
                <a:latin typeface="Courier New" panose="02070309020205020404" pitchFamily="49" charset="0"/>
              </a:rPr>
              <a:t>#</a:t>
            </a:r>
            <a:r>
              <a:rPr lang="en-US" altLang="ko-KR" sz="1000" dirty="0">
                <a:latin typeface="Courier New" panose="02070309020205020404" pitchFamily="49" charset="0"/>
              </a:rPr>
              <a:t>python</a:t>
            </a:r>
            <a:r>
              <a:rPr lang="ko-KR" altLang="en-US" sz="1000" dirty="0">
                <a:latin typeface="Courier New" panose="02070309020205020404" pitchFamily="49" charset="0"/>
              </a:rPr>
              <a:t> </a:t>
            </a:r>
            <a:endParaRPr lang="en-US" altLang="ko-KR" sz="1000" dirty="0"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r>
              <a:rPr lang="en-US" altLang="ko-KR" sz="1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sentence_transformers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SentenceTransformer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util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1. 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모델 로드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(CPU 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명시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ko-KR" altLang="en-US" sz="1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SentenceTransformer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'sentence-transformers/all-MiniLM-L6-v2’)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빠르고 가벼운 모델</a:t>
            </a:r>
            <a:b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2. 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문장</a:t>
            </a:r>
            <a:endParaRPr lang="ko-KR" altLang="en-US" sz="1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titles = [</a:t>
            </a:r>
          </a:p>
          <a:p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경제 성장 정책 발표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A</a:t>
            </a:r>
            <a:endParaRPr lang="en-US" altLang="ko-KR" sz="1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경제 침체 대책 논의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B</a:t>
            </a:r>
            <a:endParaRPr lang="en-US" altLang="ko-KR" sz="1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야구 선수 홈런 기록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</a:t>
            </a:r>
            <a:endParaRPr lang="en-US" altLang="ko-KR" sz="1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3. </a:t>
            </a:r>
            <a:r>
              <a:rPr lang="ko-KR" altLang="en-US" sz="10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임베딩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생성</a:t>
            </a:r>
            <a:endParaRPr lang="ko-KR" altLang="en-US" sz="1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vectors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model.encode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(titles)</a:t>
            </a:r>
          </a:p>
          <a:p>
            <a:r>
              <a:rPr lang="en-US" altLang="ko-KR" sz="1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벡터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shape:"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vectors.shape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 </a:t>
            </a:r>
            <a:r>
              <a:rPr lang="en-US" altLang="ko-KR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(3, 768)</a:t>
            </a:r>
            <a:endParaRPr lang="en-US" altLang="ko-KR" sz="1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4. </a:t>
            </a:r>
            <a:r>
              <a:rPr lang="ko-KR" altLang="en-US" sz="1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코사인 유사도</a:t>
            </a:r>
            <a:endParaRPr lang="ko-KR" altLang="en-US" sz="1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cos_sim_matrix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util.cos_sim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(vectors, vectors)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</a:t>
            </a:r>
            <a:r>
              <a:rPr lang="ko-KR" altLang="en-US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코사인 유사도 행렬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cos_sim_matrix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C6532-D636-4A9A-9D99-C2F5D3A660B0}"/>
              </a:ext>
            </a:extLst>
          </p:cNvPr>
          <p:cNvSpPr txBox="1"/>
          <p:nvPr/>
        </p:nvSpPr>
        <p:spPr>
          <a:xfrm>
            <a:off x="816292" y="731520"/>
            <a:ext cx="70199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#bash (</a:t>
            </a:r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패키지 설치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pip install -U sentence-transformers</a:t>
            </a:r>
          </a:p>
          <a:p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pip install torch --index-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url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https://download.pytorch.org/whl/cpu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810</Words>
  <Application>Microsoft Office PowerPoint</Application>
  <PresentationFormat>화면 슬라이드 쇼(16:9)</PresentationFormat>
  <Paragraphs>93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Calibri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임베딩 ① — 벡터와 유사도</dc:title>
  <dc:subject>PptxGenJS Presentation</dc:subject>
  <dc:creator>이종혁</dc:creator>
  <cp:lastModifiedBy>jh</cp:lastModifiedBy>
  <cp:revision>13</cp:revision>
  <dcterms:created xsi:type="dcterms:W3CDTF">2026-03-24T12:39:00Z</dcterms:created>
  <dcterms:modified xsi:type="dcterms:W3CDTF">2026-03-24T14:29:16Z</dcterms:modified>
</cp:coreProperties>
</file>