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1" r:id="rId7"/>
    <p:sldId id="262" r:id="rId8"/>
    <p:sldId id="263" r:id="rId9"/>
    <p:sldId id="264" r:id="rId10"/>
    <p:sldId id="265" r:id="rId11"/>
    <p:sldId id="266" r:id="rId12"/>
    <p:sldId id="272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90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4699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8046720" cy="1645920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임베딩 ② : 토크나이징과 클러스터링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지난 시간: 벡터와 유사도  →  이번 시간: 토크나이징 + 클러스터링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강의</a:t>
            </a: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구성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840480" cy="548640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A: 토크나이징 (Tokenization)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토큰화란 무엇인가?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전통 NLP vs LLM 파이프라인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Subword 토크나이징 방법론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(BPE, WordPiece, SentencePiece)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LLM별 Vocabulary 비교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왜 Vocabulary가 중요한가?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05840"/>
            <a:ext cx="3840480" cy="54864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05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B: 클러스터링 (Clustering)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173736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SBERT 임베딩 복습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K-means 클러스터링 원리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⑧ K 값 선택 (Elbow, Silhouette)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⑨ 의미 기반 군집 결과 해석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⑩ 실습 코드 &amp; 실무 포인트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참고: wikidocs.net/21698, medium.com/@hugmanskj, wikidocs.net/120154, wikidocs.net/156176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토큰화(Tokenization)란 무엇인가?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058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텍스트를 모델이 처리할 수 있는 작은 단위(토큰)로 쪼개는 과정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82296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4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예시: 토큰화 방식에 따른 결과 차이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"나는 학교에 갔다"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9184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4C7E"/>
                </a:solidFill>
              </a:rPr>
              <a:t>→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26080"/>
          <a:ext cx="7863840" cy="13716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방식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단어 기반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나는 / 학교에 / 갔다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</a:rPr>
                        <a:t>공백 기준 분리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형태소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나 / 는 / 학교 / 에 / 갔 / 다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</a:rPr>
                        <a:t>의미 최소 단위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Subword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나는 / 학교 / 에 / 갔다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</a:rPr>
                        <a:t>LLM이 사용하는 방식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나 / 는 / 학 / 교 / 에 / 갔 / 다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</a:rPr>
                        <a:t>글자 단위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wikidocs.net/21698, medium.com/@hugmanskj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전통 NLP 전처리 파이프라인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68680" cy="640080"/>
          </a:xfrm>
          <a:prstGeom prst="rect">
            <a:avLst/>
          </a:prstGeom>
          <a:solidFill>
            <a:srgbClr val="2B4C7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25880" y="1097280"/>
            <a:ext cx="137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4C7E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63040" y="1097280"/>
            <a:ext cx="868680" cy="640080"/>
          </a:xfrm>
          <a:prstGeom prst="rect">
            <a:avLst/>
          </a:prstGeom>
          <a:solidFill>
            <a:srgbClr val="3A5A8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63040" y="1097280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1097280"/>
            <a:ext cx="137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4C7E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68880" y="1097280"/>
            <a:ext cx="868680" cy="640080"/>
          </a:xfrm>
          <a:prstGeom prst="rect">
            <a:avLst/>
          </a:prstGeom>
          <a:solidFill>
            <a:srgbClr val="3A5A8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097280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37560" y="1097280"/>
            <a:ext cx="137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4C7E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74720" y="1097280"/>
            <a:ext cx="868680" cy="640080"/>
          </a:xfrm>
          <a:prstGeom prst="rect">
            <a:avLst/>
          </a:prstGeom>
          <a:solidFill>
            <a:srgbClr val="3A5A8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0" y="1097280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형태소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43400" y="1097280"/>
            <a:ext cx="137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4C7E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80560" y="1097280"/>
            <a:ext cx="868680" cy="640080"/>
          </a:xfrm>
          <a:prstGeom prst="rect">
            <a:avLst/>
          </a:prstGeom>
          <a:solidFill>
            <a:srgbClr val="3A5A8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80560" y="1097280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불용어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9240" y="1097280"/>
            <a:ext cx="137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4C7E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0" y="1097280"/>
            <a:ext cx="868680" cy="640080"/>
          </a:xfrm>
          <a:prstGeom prst="rect">
            <a:avLst/>
          </a:prstGeom>
          <a:solidFill>
            <a:srgbClr val="3A5A8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0" y="1097280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표현식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1097280"/>
            <a:ext cx="137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4C7E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92240" y="1097280"/>
            <a:ext cx="868680" cy="640080"/>
          </a:xfrm>
          <a:prstGeom prst="rect">
            <a:avLst/>
          </a:prstGeom>
          <a:solidFill>
            <a:srgbClr val="3A5A8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92240" y="1097280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인코딩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60920" y="1097280"/>
            <a:ext cx="137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4C7E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98080" y="1097280"/>
            <a:ext cx="868680" cy="640080"/>
          </a:xfrm>
          <a:prstGeom prst="rect">
            <a:avLst/>
          </a:prstGeom>
          <a:solidFill>
            <a:srgbClr val="00796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8080" y="1097280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2103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4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토큰화: </a:t>
            </a: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텍스트를 단위로 쪼갬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2103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4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정제: </a:t>
            </a: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특수문자 등 노이즈 제거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2743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4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형태소/표제어: </a:t>
            </a: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의미 단위로 정리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2743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4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불용어 제거: </a:t>
            </a: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의미 없는 단어 삭제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3383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4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정규표현식: </a:t>
            </a: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 기반 필터링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3383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4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정수 인코딩: </a:t>
            </a: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단어 → 숫자 변환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023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4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패딩: </a:t>
            </a: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시퀀스 길이 맞추기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06240"/>
            <a:ext cx="365760" cy="36576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09728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</a:t>
            </a: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"좋은 전처리 = 좋은 성능" — Feature Engineering 중심의 NLP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시대의 파이프라인 — 극적 단순화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645920" cy="731520"/>
          </a:xfrm>
          <a:prstGeom prst="rect">
            <a:avLst/>
          </a:prstGeom>
          <a:solidFill>
            <a:srgbClr val="2B4C7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77440" y="118872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B4C7E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651760" y="1188720"/>
            <a:ext cx="1645920" cy="731520"/>
          </a:xfrm>
          <a:prstGeom prst="rect">
            <a:avLst/>
          </a:prstGeom>
          <a:solidFill>
            <a:srgbClr val="EF6C0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1887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97680" y="118872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B4C7E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0" y="1188720"/>
            <a:ext cx="1645920" cy="731520"/>
          </a:xfrm>
          <a:prstGeom prst="rect">
            <a:avLst/>
          </a:prstGeom>
          <a:solidFill>
            <a:srgbClr val="2B4C7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1887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IDs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118872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B4C7E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92240" y="1188720"/>
            <a:ext cx="1645920" cy="731520"/>
          </a:xfrm>
          <a:prstGeom prst="rect">
            <a:avLst/>
          </a:prstGeom>
          <a:solidFill>
            <a:srgbClr val="00796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11887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입력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286000"/>
          <a:ext cx="7680960" cy="2286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전통 NLP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LLM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토큰 단위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단어 / 형태소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976D2"/>
                          </a:solidFill>
                        </a:rPr>
                        <a:t>Subword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전처리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많이 필요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거의 없음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불용어 제거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</a:rPr>
                        <a:t>안 함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Vocabulary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직접 만듦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976D2"/>
                          </a:solidFill>
                        </a:rPr>
                        <a:t>모델에 내장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인코딩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따로 수행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</a:rPr>
                        <a:t>Tokenizer가 자동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LLM: "좋은 Tokenizer + Vocabulary = 좋은 성능"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Subword</a:t>
            </a:r>
            <a:r>
              <a:rPr lang="en-US" altLang="ko-KR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altLang="ko-KR" sz="2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토크나이징</a:t>
            </a:r>
            <a:r>
              <a:rPr lang="en-US" altLang="ko-KR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altLang="ko-KR" sz="2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방법론</a:t>
            </a:r>
            <a:r>
              <a:rPr lang="en-US" altLang="ko-KR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 BPE </a:t>
            </a:r>
            <a:r>
              <a:rPr lang="ko-KR" alt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원리와 대체로 유사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606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2606040" cy="50292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77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BPE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2331720" cy="320040"/>
          </a:xfrm>
          <a:prstGeom prst="rect">
            <a:avLst/>
          </a:prstGeom>
          <a:solidFill>
            <a:srgbClr val="1976D2">
              <a:alpha val="15000"/>
            </a:srgbClr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173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빈도 기반 병합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자주 같이 나오는 글자를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계속 합친다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2423160" cy="9144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5146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작동 방식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모든 글자를 개별 토큰으로 시작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가장 빈번한 쌍을 찾음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그 쌍을 하나로 병합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원하는 vocab 크기까지 반복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2423160" cy="9144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72160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931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"lowest"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l,o,w,e,s,t → low,est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2423160" cy="32004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114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GPT-2/3/4, LLaMA, Mistral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777240"/>
            <a:ext cx="2606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777240"/>
            <a:ext cx="2606040" cy="50292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777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WordPiece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337560" y="1417320"/>
            <a:ext cx="2331720" cy="320040"/>
          </a:xfrm>
          <a:prstGeom prst="rect">
            <a:avLst/>
          </a:prstGeom>
          <a:solidFill>
            <a:srgbClr val="00796B">
              <a:alpha val="15000"/>
            </a:srgbClr>
          </a:solidFill>
          <a:ln w="6350">
            <a:solidFill>
              <a:srgbClr val="0079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4173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확률(Likelihood) 기반 선택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18288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확률적으로 가장 좋은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조각을 선택한다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468880"/>
            <a:ext cx="2423160" cy="9144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25146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작동 방식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37560" y="26974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모든 글자를 개별 토큰으로 시작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병합 시 전체 likelihood 계산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likelihood가 가장 높아지는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쌍을 선택하여 병합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vocab 크기까지 반복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91840" y="3703320"/>
            <a:ext cx="2423160" cy="9144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372160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37560" y="3931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"playing"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play + ##ing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(## = 하위 토큰 표시)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91840" y="4114800"/>
            <a:ext cx="2423160" cy="32004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1" name="Text 29"/>
          <p:cNvSpPr/>
          <p:nvPr/>
        </p:nvSpPr>
        <p:spPr>
          <a:xfrm>
            <a:off x="3337560" y="4114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BERT, DistilBERT, ELECTRA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0" y="777240"/>
            <a:ext cx="2606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43600" y="777240"/>
            <a:ext cx="260604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0" y="777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SentencePiece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080760" y="1417320"/>
            <a:ext cx="2331720" cy="320040"/>
          </a:xfrm>
          <a:prstGeom prst="rect">
            <a:avLst/>
          </a:prstGeom>
          <a:solidFill>
            <a:srgbClr val="2E7D32">
              <a:alpha val="15000"/>
            </a:srgbClr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14173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공백 포함 전체 학습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80760" y="18288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공백까지 포함해서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문장을 학습한다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35040" y="2468880"/>
            <a:ext cx="2423160" cy="9144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9" name="Text 37"/>
          <p:cNvSpPr/>
          <p:nvPr/>
        </p:nvSpPr>
        <p:spPr>
          <a:xfrm>
            <a:off x="6080760" y="25146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작동 방식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80760" y="26974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공백을 특수문자(▁)로 치환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전체 원문을 하나의 시퀀스로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BPE 또는 Unigram 알고리즘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적용하여 토큰 학습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언어 무관하게 동일 처리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35040" y="3703320"/>
            <a:ext cx="2423160" cy="9144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42" name="Text 40"/>
          <p:cNvSpPr/>
          <p:nvPr/>
        </p:nvSpPr>
        <p:spPr>
          <a:xfrm>
            <a:off x="6080760" y="372160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80760" y="3931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"나는 학교에"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▁나는 ▁학교에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(공백이 토큰 안에 포함)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35040" y="4114800"/>
            <a:ext cx="2423160" cy="32004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45" name="Text 43"/>
          <p:cNvSpPr/>
          <p:nvPr/>
        </p:nvSpPr>
        <p:spPr>
          <a:xfrm>
            <a:off x="6080760" y="4114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LLaMA, Gemma, Qwen, T5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4544568"/>
            <a:ext cx="8229600" cy="393192"/>
          </a:xfrm>
          <a:prstGeom prst="rect">
            <a:avLst/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63440"/>
            <a:ext cx="228600" cy="22860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868680" y="4617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100" b="1" dirty="0" err="1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</a:t>
            </a:r>
            <a:r>
              <a:rPr lang="en-US" altLang="ko-KR" sz="11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100" b="1" dirty="0" err="1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원리</a:t>
            </a:r>
            <a:r>
              <a:rPr lang="en-US" altLang="ko-KR" sz="11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altLang="ko-KR" sz="11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단어가</a:t>
            </a:r>
            <a:r>
              <a:rPr lang="en-US" altLang="ko-KR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1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아니라</a:t>
            </a:r>
            <a:r>
              <a:rPr lang="en-US" altLang="ko-KR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1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subword</a:t>
            </a:r>
            <a:r>
              <a:rPr lang="en-US" altLang="ko-KR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altLang="ko-KR" sz="11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조각</a:t>
            </a:r>
            <a:r>
              <a:rPr lang="en-US" altLang="ko-KR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r>
              <a:rPr lang="en-US" altLang="ko-KR" sz="11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단위로</a:t>
            </a:r>
            <a:r>
              <a:rPr lang="en-US" altLang="ko-KR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1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쪼개어</a:t>
            </a:r>
            <a:r>
              <a:rPr lang="en-US" altLang="ko-KR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1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희귀</a:t>
            </a:r>
            <a:r>
              <a:rPr lang="en-US" altLang="ko-KR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1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단어</a:t>
            </a:r>
            <a:r>
              <a:rPr lang="en-US" altLang="ko-KR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1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문제를</a:t>
            </a:r>
            <a:r>
              <a:rPr lang="en-US" altLang="ko-KR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1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해결하고</a:t>
            </a:r>
            <a:r>
              <a:rPr lang="en-US" altLang="ko-KR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vocab </a:t>
            </a:r>
            <a:r>
              <a:rPr lang="en-US" altLang="ko-KR" sz="11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크기를</a:t>
            </a:r>
            <a:r>
              <a:rPr lang="en-US" altLang="ko-KR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1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제한</a:t>
            </a:r>
            <a:endParaRPr lang="en-US" altLang="ko-KR" sz="1100" dirty="0"/>
          </a:p>
          <a:p>
            <a:pPr marL="0" indent="0">
              <a:buNone/>
            </a:pPr>
            <a:r>
              <a:rPr lang="en-US" sz="1100" b="1" dirty="0" err="1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본질은</a:t>
            </a:r>
            <a:r>
              <a:rPr lang="en-US" sz="11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dirty="0" err="1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</a:t>
            </a:r>
            <a:r>
              <a:rPr lang="en-US" sz="11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11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텍스트를</a:t>
            </a: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쪼개는</a:t>
            </a: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</a:t>
            </a: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r>
              <a:rPr lang="en-US" sz="11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</a:t>
            </a: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</a:t>
            </a: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  — </a:t>
            </a:r>
            <a:r>
              <a:rPr lang="en-US" sz="11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방식만</a:t>
            </a: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다를</a:t>
            </a: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뿐 </a:t>
            </a:r>
            <a:r>
              <a:rPr lang="en-US" sz="11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모두</a:t>
            </a: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subword</a:t>
            </a: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tokenizer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457200" y="4956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medium.com/@hugmanskj — Tokenization 방법론들에 대한 쉽고 직관적인 이해 (Jung, 2024)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BPE 작동 원리 — Step by Step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051560"/>
            <a:ext cx="457200" cy="457200"/>
          </a:xfrm>
          <a:prstGeom prst="ellipse">
            <a:avLst/>
          </a:prstGeom>
          <a:solidFill>
            <a:srgbClr val="2B4C7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005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4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문자 단위로 분해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4630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→ l, o, 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newest → n, e, w, e, s, 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모든 단어를 글자로 쪼갬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051560"/>
            <a:ext cx="457200" cy="457200"/>
          </a:xfrm>
          <a:prstGeom prst="ellipse">
            <a:avLst/>
          </a:prstGeom>
          <a:solidFill>
            <a:srgbClr val="2B4C7E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1005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4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빈도 높은 쌍 병합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14630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"e+s" 가 9번으로 최다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"es"를 새 어휘로 등록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반복 수행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971800"/>
            <a:ext cx="457200" cy="457200"/>
          </a:xfrm>
          <a:prstGeom prst="ellipse">
            <a:avLst/>
          </a:prstGeom>
          <a:solidFill>
            <a:srgbClr val="2B4C7E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926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4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어휘 사전 구축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3832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l, o, w, es, est, lo, low,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new, newest, wid, widest …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최종 vocabulary 완성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2971800"/>
            <a:ext cx="457200" cy="457200"/>
          </a:xfrm>
          <a:prstGeom prst="ellipse">
            <a:avLst/>
          </a:prstGeom>
          <a:solidFill>
            <a:srgbClr val="2B4C7E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2926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4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단어 처리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33832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"lowest" (처음 보는 단어)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low + est 로 분해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OOV 문제 해결!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medium.com/@hugmanskj — BPE Step-by-Step 예제 (Jung, 2024)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LLM별 Tokenizer &amp; Vocabulary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144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LLM은 '자기만의 토큰 사전(Vocabulary)'을 가진다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7040880" cy="2286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모델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Tokenizer 방식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Vocab 크기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한국어 강점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GPT-4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Byte-level BPE (tiktoken)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~100K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보통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BERT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WordPiece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~30K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약함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LLaMA 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SentencePiece (BPE)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~128K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보통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Gemma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SentencePiece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~256K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</a:rPr>
                        <a:t>강함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Qwen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SentencePiece 변형 (tiktoken)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~150K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</a:rPr>
                        <a:t>강함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4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문장도 모델마다 다르게 쪼갬 → 성능 차이의 핵심 원인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잘하는 모델 = Vocab에 한국어 토큰이 충분히 포함된 모델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Vocabulary가 가장 중요한가?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051560"/>
            <a:ext cx="640080" cy="640080"/>
          </a:xfrm>
          <a:prstGeom prst="ellipse">
            <a:avLst/>
          </a:prstGeom>
          <a:solidFill>
            <a:srgbClr val="2B4C7E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4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모델은 숫자만 본다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"나는 학교에 갔다"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[10231, 345, 9981, 77]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모델에게 텍스트란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 ID의 시퀀스일 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91440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051560"/>
            <a:ext cx="640080" cy="640080"/>
          </a:xfrm>
          <a:prstGeom prst="ellipse">
            <a:avLst/>
          </a:prstGeom>
          <a:solidFill>
            <a:srgbClr val="2B4C7E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74720" y="18288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4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문장, 다른 분할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28600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모델 A: 나/는/학교/에/갔다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모델 B: 나는/학교/에/갔/다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모델 C: 나/는/학/교/에/갔다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tokenizer+vocab 차이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91440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23760" y="1051560"/>
            <a:ext cx="640080" cy="640080"/>
          </a:xfrm>
          <a:prstGeom prst="ellipse">
            <a:avLst/>
          </a:prstGeom>
          <a:solidFill>
            <a:srgbClr val="2B4C7E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18288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4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 차이의 핵심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28600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한국어↑ = 한국어 vocab↑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코드↑ = 코드 토큰↑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토큰 분할 방식 자체가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모델 성능에 직결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결론: LLM은 전처리를 줄이고, Tokenizer와 Vocabulary에 모든 걸 맡긴다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SBERT 임베딩 — 문장을 좌표로 바꾸기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640080"/>
          </a:xfrm>
          <a:prstGeom prst="rect">
            <a:avLst/>
          </a:prstGeom>
          <a:solidFill>
            <a:srgbClr val="00796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문장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10058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796B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651760" y="1005840"/>
            <a:ext cx="1828800" cy="640080"/>
          </a:xfrm>
          <a:prstGeom prst="rect">
            <a:avLst/>
          </a:prstGeom>
          <a:solidFill>
            <a:srgbClr val="EF6C0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005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SBERT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10058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796B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1828800" cy="640080"/>
          </a:xfrm>
          <a:prstGeom prst="rect">
            <a:avLst/>
          </a:prstGeom>
          <a:solidFill>
            <a:srgbClr val="00796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005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(768차원)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10058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796B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040880" y="1005840"/>
            <a:ext cx="1828800" cy="640080"/>
          </a:xfrm>
          <a:prstGeom prst="rect">
            <a:avLst/>
          </a:prstGeom>
          <a:solidFill>
            <a:srgbClr val="00796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1005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의미 공간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1920240"/>
            <a:ext cx="82296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예시: 문장별 임베딩 벡터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46888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"경제 성장 정책 발표"  → [0.21, -0.33, ..., 0.98]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"경제 침체 대응 논의"  → [0.25, -0.30, ..., 0.95]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"야구 선수 홈런 기록"  → [0.01,  0.72, ..., -0.12]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07408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97280" y="42976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의미가 비슷한 문장 → 벡터도 가까움  |  </a:t>
            </a: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'보이지 않는 의미 공간'에서 군집이 형성됨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wikidocs.net/156176 — 센텐스버트(SBERT)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K-means 클러스터링 — 알고리즘 흐름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89611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아이디어: </a:t>
            </a: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"가까운 것끼리 자동으로 묶는다"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6459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645920"/>
            <a:ext cx="1920240" cy="548640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Step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중심점 초기화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233172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K개의 랜덤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중심(centroid)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377440" y="21031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796B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606040" y="16459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06040" y="1645920"/>
            <a:ext cx="1920240" cy="548640"/>
          </a:xfrm>
          <a:prstGeom prst="rect">
            <a:avLst/>
          </a:prstGeom>
          <a:solidFill>
            <a:srgbClr val="3A5A8C"/>
          </a:solidFill>
          <a:ln/>
        </p:spPr>
      </p:sp>
      <p:sp>
        <p:nvSpPr>
          <p:cNvPr id="15" name="Text 12"/>
          <p:cNvSpPr/>
          <p:nvPr/>
        </p:nvSpPr>
        <p:spPr>
          <a:xfrm>
            <a:off x="260604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Step 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0604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최근접 할당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743200" y="233172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데이터를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가까운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중심에 배정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21031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796B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754880" y="16459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1645920"/>
            <a:ext cx="1920240" cy="54864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Step 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75488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중심 재계산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892040" y="233172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클러스터의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벡터로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centroid 갱신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675120" y="21031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796B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903720" y="16459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903720" y="1645920"/>
            <a:ext cx="1920240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Text 24"/>
          <p:cNvSpPr/>
          <p:nvPr/>
        </p:nvSpPr>
        <p:spPr>
          <a:xfrm>
            <a:off x="690372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Step 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90372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수렴까지 반복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040880" y="233172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할당 → 재계산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변화 없을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때까지 반복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함수:  </a:t>
            </a: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Σ Σ ||x - μᵢ||²   (클러스터 내 거리 최소화)   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거리: cosine 또는 euclidean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wikidocs.net/120154 — K-means Clustering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2A938B3-E966-425D-80D9-3C04E27F8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49" y="800101"/>
            <a:ext cx="4924425" cy="40971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F3325F-7002-412C-9340-E67D70EA5136}"/>
              </a:ext>
            </a:extLst>
          </p:cNvPr>
          <p:cNvSpPr txBox="1"/>
          <p:nvPr/>
        </p:nvSpPr>
        <p:spPr>
          <a:xfrm>
            <a:off x="6724651" y="4897279"/>
            <a:ext cx="24193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https://velog.io/@seungwoong12/kmeans</a:t>
            </a:r>
            <a:endParaRPr lang="ko-KR" altLang="en-US" sz="1000" dirty="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14B642D6-86F1-4181-B6BF-9995BA63CDE3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F25AECD0-C5FF-4B56-8F63-CB0A5FFD1289}"/>
              </a:ext>
            </a:extLst>
          </p:cNvPr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K-means 클러스터링 — 알고리즘 흐름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372754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 값 선택 — Elbow Method &amp; Silhouette Score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3931920" cy="548640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Elbow Method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K를 1부터 늘려가며 SSE(Sum of
Squared Errors) 계산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SSE가 급격히 감소하다 완만해지는
'팔꿈치' 지점이 적정 K
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직관적이지만 팔꿈치가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명확하지 않을 수 있음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22960"/>
            <a:ext cx="3931920" cy="54864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8229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Silhouette Score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데이터 포인트의 '소속 적합도'
측정 (-1 ~ +1)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+1에 가까울수록 = 군집이 잘 분리됨
0에 가까우면 = 경계에 위치
-1이면 = 잘못된 군집
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K별 평균 silhouette score가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높은 값 선택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07408"/>
            <a:ext cx="320040" cy="320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7280" y="42976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실무 팁: </a:t>
            </a: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뉴스 분석에서는 보통 K = 5~20 사용  |  연구 목적에 따라 설정하는 것이 일반적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참고: medium.com/@codeswithpankaj — K-Means Clustering: Choosing K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의미 기반 군집 — 결과 해석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문장 → SBERT → 벡터(의미 좌표) → K-means → 군집(주제/프레임)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45920"/>
          <a:ext cx="7315200" cy="16459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Cluster 1 (경제)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Cluster 2 (스포츠)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경제 성장 정책 발표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야구 선수 홈런 기록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금리 인상 전망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축구 경기 승리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물가 상승 압력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올림픽 금메달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566160"/>
            <a:ext cx="8229600" cy="15011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해석 가이드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9776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B4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K-means는 라벨을 자동으로 부여하지 않음 → 사람이 해석해야 함
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→ 주제(Topic)  |  cluster → 이슈(Issue)  |  cluster → 담론(Discourse)
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 코드 — SBERT + K-means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3820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from sentence_transformers import SentenceTransformer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sklearn.cluster import KMeans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normalize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# 1. 모델 로드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</a:t>
            </a:r>
            <a:r>
              <a:rPr lang="en-US" sz="10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SentenceTransformer</a:t>
            </a: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('sentence-transformers/all-MiniLM-L6-v2’) #</a:t>
            </a:r>
            <a:r>
              <a:rPr lang="ko-KR" alt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빠르고 가벼운 모델</a:t>
            </a:r>
            <a:endParaRPr lang="en-US" altLang="ko-KR" sz="10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# '</a:t>
            </a:r>
            <a:r>
              <a:rPr lang="en-US" sz="10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snunlp</a:t>
            </a: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/KR-SBERT-V40K-klueNLI-augSTS’ =</a:t>
            </a:r>
            <a:r>
              <a:rPr lang="ko-KR" alt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무겁지만 한글 성능 좋음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# 2. 데이터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sentences =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"경제 성장 정책 발표", "금리 인상 전망",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"야구 선수 홈런 기록", "축구 경기 승리"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# 3. 임베딩 + 정규화 (cosine 호환)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 = normalize(model.encode(sentences))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# 4. 클러스터링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kmeans = KMeans(n_clusters=2, random_state=42,</a:t>
            </a:r>
            <a:r>
              <a:rPr lang="en-US" altLang="ko-KR" sz="1000" dirty="0"/>
              <a:t> </a:t>
            </a:r>
            <a:r>
              <a:rPr lang="en-US" altLang="ko-KR" sz="1000" dirty="0" err="1"/>
              <a:t>n_init</a:t>
            </a:r>
            <a:r>
              <a:rPr lang="en-US" altLang="ko-KR" sz="1000" dirty="0">
                <a:solidFill>
                  <a:srgbClr val="14181F"/>
                </a:solidFill>
                <a:effectLst/>
              </a:rPr>
              <a:t>=</a:t>
            </a:r>
            <a:r>
              <a:rPr lang="en-US" altLang="ko-KR" sz="1000" dirty="0">
                <a:solidFill>
                  <a:srgbClr val="008080"/>
                </a:solidFill>
                <a:effectLst/>
              </a:rPr>
              <a:t>10</a:t>
            </a:r>
            <a:r>
              <a:rPr lang="en-US" altLang="ko-KR" sz="1000" dirty="0">
                <a:solidFill>
                  <a:srgbClr val="2B303B"/>
                </a:solidFill>
                <a:effectLst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kmeans.fit_predict(embeddings)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# 5. 결과 출력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for s, l in zip(sentences, labels):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print(f"Cluster {l}: {s}")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SBERT 임베딩은 cosine 기반 → K-means 사용 시 normalize </a:t>
            </a:r>
            <a:r>
              <a:rPr lang="en-US" sz="1100" b="1" dirty="0" err="1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r>
              <a:rPr lang="en-US" sz="11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r>
              <a:rPr lang="en-US" altLang="ko-KR" sz="1000" dirty="0"/>
              <a:t>(</a:t>
            </a:r>
            <a:r>
              <a:rPr lang="ko-KR" altLang="en-US" sz="1000" dirty="0"/>
              <a:t>모든 벡터 길이 </a:t>
            </a:r>
            <a:r>
              <a:rPr lang="en-US" altLang="ko-KR" sz="1000" dirty="0"/>
              <a:t>= 1, </a:t>
            </a:r>
            <a:r>
              <a:rPr lang="ko-KR" altLang="en-US" sz="1000" dirty="0"/>
              <a:t>단위벡터에서는 유클리드 거리 </a:t>
            </a:r>
            <a:r>
              <a:rPr lang="en-US" altLang="ko-KR" sz="1000" dirty="0"/>
              <a:t>= cosine</a:t>
            </a:r>
            <a:r>
              <a:rPr lang="ko-KR" altLang="en-US" sz="1000" dirty="0"/>
              <a:t>과 거의 동일</a:t>
            </a:r>
            <a:r>
              <a:rPr lang="en-US" altLang="ko-KR" sz="1000" dirty="0"/>
              <a:t>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정리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3931920" cy="457200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토크나이징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Tokenizer는 단순 전처리가 아니라
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B4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"언어를 어떻게 분해해서
인식할 것인가"라는 철학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시대의 핵심:
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좋은 Tokenizer + Vocabulary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좋은 성능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22960"/>
            <a:ext cx="3931920" cy="45720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822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클러스터링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SBERT + K-means =
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"의미 공간에서 자연스럽게
형성된 구조를 발견하는 것"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실무 핵심:
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→ K-means → 사람이 해석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(주제/프레임/담론)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흐름: 텍스트 → Tokenizer → Token IDs → 모델(SBERT) → 벡터 → K-means → 군집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B4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 자료
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wikidocs.net/21698 — 토큰화(Tokenization), 딥 러닝을 이용한 자연어 처리 입문
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medium.com/@hugmanskj — Tokenization 방법론들에 대한 쉽고 직관적인 이해 (Jung, 2024)
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wikidocs.net/120154 — K-means Clustering  |  wikidocs.net/156176 — Sentence BERT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1726</Words>
  <Application>Microsoft Office PowerPoint</Application>
  <PresentationFormat>화면 슬라이드 쇼(16:9)</PresentationFormat>
  <Paragraphs>343</Paragraphs>
  <Slides>16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맑은 고딕</vt:lpstr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임베딩 ② — 토크나이징과 클러스터링</dc:title>
  <dc:subject>PptxGenJS Presentation</dc:subject>
  <dc:creator>이종혁</dc:creator>
  <cp:lastModifiedBy>jh</cp:lastModifiedBy>
  <cp:revision>8</cp:revision>
  <dcterms:created xsi:type="dcterms:W3CDTF">2026-03-29T02:41:00Z</dcterms:created>
  <dcterms:modified xsi:type="dcterms:W3CDTF">2026-03-29T11:23:18Z</dcterms:modified>
</cp:coreProperties>
</file>